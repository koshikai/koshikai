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景と目的です。近年、脱炭素社会の実現やESG投資の拡大に伴い、ビル設備の省エネは企業価値に直結する重要課題となっています。当社ではシミュレーション技術を通じた脱炭素化と企業価値向上に取り組んでおり、その具体策の一つとしてオフィスビルの熱源起動時刻の最適化に着目しました。目指すのは、早朝予冷の無駄を削りつつ、始業時の快適性を確実に守ることです。ビルメンテナンス担当者が根拠を持って安全に起動時刻を判断できるよう、予冷時間予測から削減効果の可視化、意思決定までを支援するシステムを構築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そこで、過去データから予冷時間を推計するモデルを構築しました。式の基本構造は、外気温と設定温度から求めるベース予冷時間に、安全マージンを加える形です。外気温には前日夕方に取得できる天気予報を用い、設定温度は任意に変更可能としています。また、朝は起動をやり直せ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起動時刻を決定し直したところ、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現場のビルメンテナンス担当者が実際に使用する可視化アプリです。担当者が夕方に翌日の日付を選ぶだけで、天気予報を自動取得し、推奨起動時刻（例えば07:10など）を算出して提示します。単に推奨時刻を出すだけで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今回明らかになった課題と今後の展望です。本実習を通じ、過去データから予冷時間を推計し、起動時刻決定と削減電力量の推定を行う仕組みを確立し、BM向けの可視化アプリを完成させることができました。一方で、休み明けの標本数が少ない点や、室温データの分解能に伴うモデル精度の向上、そして暖房期への対応が今後の課題です。今後は、日々の実運用データを自動で取り込んでモデルを再学習するサイクルの構築や、冬季データを用いた暖房予測モデルの構築へと展開し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今回、現場の担当者がどう判断するかという「お客様目線」での開発に取り組み、単にアルゴリズムを作るだけでなく、相手のニーズを汲み取って安全側マージンや可視化画面を設計することの難しさと重要性を深く学びました。また、実際の設備現場や実験住宅の見学など、机上のプログラミングにとどまらない貴重な体験をさせていただき、自分の技術が脱炭素や社会貢献につながるという強い実感を得ることができました。ご指導いただいたメンターの皆様、関係者の皆様に心より感謝申し上げま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889000"/>
            <a:ext cx="11048723" cy="5334000"/>
          </a:xfrm>
          <a:prstGeom prst="rect">
            <a:avLst/>
          </a:prstGeom>
          <a:noFill/>
        </p:spPr>
        <p:txBody>
          <a:bodyPr wrap="square">
            <a:spAutoFit/>
          </a:bodyPr>
          <a:lstStyle/>
          <a:p>
            <a:pPr>
              <a:spcAft>
                <a:spcPts val="600"/>
              </a:spcAft>
              <a:defRPr sz="1600" b="1">
                <a:solidFill>
                  <a:srgbClr val="0B3968"/>
                </a:solidFill>
                <a:latin typeface="BIZ UDPGothic"/>
              </a:defRPr>
            </a:pPr>
            <a:r>
              <a:t>■ 背景</a:t>
            </a:r>
          </a:p>
          <a:p>
            <a:pPr>
              <a:spcAft>
                <a:spcPts val="400"/>
              </a:spcAft>
              <a:defRPr sz="1300">
                <a:solidFill>
                  <a:srgbClr val="222222"/>
                </a:solidFill>
                <a:latin typeface="BIZ UDPGothic"/>
              </a:defRPr>
            </a:pPr>
            <a:r>
              <a:t>  ・近年、気候変動への対応やカーボンニュートラルの実現に向け、ESG※1投資が世界的に拡大している</a:t>
            </a:r>
          </a:p>
          <a:p>
            <a:pPr>
              <a:spcAft>
                <a:spcPts val="400"/>
              </a:spcAft>
              <a:defRPr sz="1300">
                <a:solidFill>
                  <a:srgbClr val="222222"/>
                </a:solidFill>
                <a:latin typeface="BIZ UDPGothic"/>
              </a:defRPr>
            </a:pPr>
            <a:r>
              <a:t>  ・快適性とエネルギーに関してシミュレーション技術で脱炭素化と企業価値向上に貢献する</a:t>
            </a:r>
          </a:p>
          <a:p>
            <a:pPr>
              <a:spcAft>
                <a:spcPts val="400"/>
              </a:spcAft>
              <a:defRPr sz="1300">
                <a:solidFill>
                  <a:srgbClr val="222222"/>
                </a:solidFill>
                <a:latin typeface="BIZ UDPGothic"/>
              </a:defRPr>
            </a:pPr>
            <a:r>
              <a:t>  ・その中の一つとして、オフィスビルの熱源起動時刻の最適化を考える。</a:t>
            </a:r>
          </a:p>
          <a:p>
            <a:pPr>
              <a:spcBef>
                <a:spcPts val="1600"/>
              </a:spcBef>
              <a:spcAft>
                <a:spcPts val="600"/>
              </a:spcAft>
              <a:defRPr sz="1600" b="1">
                <a:solidFill>
                  <a:srgbClr val="0B3968"/>
                </a:solidFill>
                <a:latin typeface="BIZ UDPGothic"/>
              </a:defRPr>
            </a:pPr>
            <a:r>
              <a:t>■ 目的</a:t>
            </a:r>
          </a:p>
          <a:p>
            <a:pPr>
              <a:spcAft>
                <a:spcPts val="400"/>
              </a:spcAft>
              <a:defRPr sz="1300">
                <a:solidFill>
                  <a:srgbClr val="222222"/>
                </a:solidFill>
                <a:latin typeface="BIZ UDPGothic"/>
              </a:defRPr>
            </a:pPr>
            <a:r>
              <a:t>  ・空調熱源起動時刻をデータに基づいて最適化し、早朝予冷の無駄削減を目指す</a:t>
            </a:r>
          </a:p>
          <a:p>
            <a:pPr>
              <a:spcAft>
                <a:spcPts val="400"/>
              </a:spcAft>
              <a:defRPr sz="1300">
                <a:solidFill>
                  <a:srgbClr val="222222"/>
                </a:solidFill>
                <a:latin typeface="BIZ UDPGothic"/>
              </a:defRPr>
            </a:pPr>
            <a:r>
              <a:t>  ・それらの情報をわかりやすく可視化することで、ビルメンテナンス(BM)が根拠を持って</a:t>
            </a:r>
          </a:p>
          <a:p>
            <a:pPr>
              <a:spcAft>
                <a:spcPts val="400"/>
              </a:spcAft>
              <a:defRPr sz="1300">
                <a:solidFill>
                  <a:srgbClr val="222222"/>
                </a:solidFill>
                <a:latin typeface="BIZ UDPGothic"/>
              </a:defRPr>
            </a:pPr>
            <a:r>
              <a:t>     安全に起動時刻を判断できる意思決定支援システムを構築する</a:t>
            </a:r>
          </a:p>
        </p:txBody>
      </p:sp>
      <p:sp>
        <p:nvSpPr>
          <p:cNvPr id="8" name="Rounded Rectangle 7"/>
          <p:cNvSpPr/>
          <p:nvPr/>
        </p:nvSpPr>
        <p:spPr>
          <a:xfrm>
            <a:off x="2031949"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必要な</a:t>
            </a:r>
          </a:p>
          <a:p>
            <a:r>
              <a:t>予冷時間の予測</a:t>
            </a:r>
          </a:p>
        </p:txBody>
      </p:sp>
      <p:sp>
        <p:nvSpPr>
          <p:cNvPr id="9" name="Rounded Rectangle 8"/>
          <p:cNvSpPr/>
          <p:nvPr/>
        </p:nvSpPr>
        <p:spPr>
          <a:xfrm>
            <a:off x="5206869"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削減効果の</a:t>
            </a:r>
          </a:p>
          <a:p>
            <a:r>
              <a:t>可視化</a:t>
            </a:r>
          </a:p>
        </p:txBody>
      </p:sp>
      <p:sp>
        <p:nvSpPr>
          <p:cNvPr id="10" name="Rounded Rectangle 9"/>
          <p:cNvSpPr/>
          <p:nvPr/>
        </p:nvSpPr>
        <p:spPr>
          <a:xfrm>
            <a:off x="8381790" y="4826000"/>
            <a:ext cx="2158945" cy="762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B3968"/>
                </a:solidFill>
                <a:latin typeface="BIZ UDPGothic"/>
              </a:defRPr>
            </a:pPr>
            <a:r>
              <a:t>BM</a:t>
            </a:r>
          </a:p>
          <a:p>
            <a:r>
              <a:t>意思決定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8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762000"/>
            <a:ext cx="11302717" cy="762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300">
                <a:solidFill>
                  <a:srgbClr val="222222"/>
                </a:solidFill>
                <a:latin typeface="BIZ UDPGothic"/>
              </a:defRPr>
            </a:pPr>
            <a:r>
              <a:t>  ・作成した予測モデルを用い、実際の過去データの気温推移から必要な予冷時間を推測、起動時間を決定した</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89000"/>
            <a:ext cx="11175720" cy="5334000"/>
          </a:xfrm>
          <a:prstGeom prst="rect">
            <a:avLst/>
          </a:prstGeom>
          <a:noFill/>
        </p:spPr>
        <p:txBody>
          <a:bodyPr wrap="square">
            <a:spAutoFit/>
          </a:bodyPr>
          <a:lstStyle/>
          <a:p>
            <a:pPr>
              <a:defRPr sz="1600" b="1">
                <a:solidFill>
                  <a:srgbClr val="0B3968"/>
                </a:solidFill>
                <a:latin typeface="BIZ UDPGothic"/>
              </a:defRPr>
            </a:pPr>
            <a:r>
              <a:t>■ まとめ</a:t>
            </a:r>
          </a:p>
          <a:p>
            <a:pPr>
              <a:spcAft>
                <a:spcPts val="400"/>
              </a:spcAft>
              <a:defRPr sz="1300">
                <a:solidFill>
                  <a:srgbClr val="222222"/>
                </a:solidFill>
                <a:latin typeface="BIZ UDPGothic"/>
              </a:defRPr>
            </a:pPr>
            <a:r>
              <a:t>  ・過去のデータから外気温と室温を下げるのに必要な時間の関係を推測するモデルを作成し、それを用いて起動時間の決定、削減される電力量の推定までを行うことが可能になった</a:t>
            </a:r>
          </a:p>
          <a:p>
            <a:pPr>
              <a:spcAft>
                <a:spcPts val="400"/>
              </a:spcAft>
              <a:defRPr sz="1300">
                <a:solidFill>
                  <a:srgbClr val="222222"/>
                </a:solidFill>
                <a:latin typeface="BIZ UDPGothic"/>
              </a:defRPr>
            </a:pPr>
            <a:r>
              <a:t>  ・BM向けに明日の熱源起動時刻を決定する際の、判断材料となるような可視化アプリの作成を行った</a:t>
            </a:r>
          </a:p>
          <a:p>
            <a:pPr>
              <a:spcBef>
                <a:spcPts val="1400"/>
              </a:spcBef>
              <a:defRPr sz="1600" b="1">
                <a:solidFill>
                  <a:srgbClr val="0B3968"/>
                </a:solidFill>
                <a:latin typeface="BIZ UDPGothic"/>
              </a:defRPr>
            </a:pPr>
            <a:r>
              <a:t>■ 課題</a:t>
            </a:r>
          </a:p>
          <a:p>
            <a:pPr>
              <a:spcAft>
                <a:spcPts val="400"/>
              </a:spcAft>
              <a:defRPr sz="1300">
                <a:solidFill>
                  <a:srgbClr val="222222"/>
                </a:solidFill>
                <a:latin typeface="BIZ UDPGothic"/>
              </a:defRPr>
            </a:pPr>
            <a:r>
              <a:t>    1.  モデルの精度向上</a:t>
            </a:r>
          </a:p>
          <a:p>
            <a:pPr>
              <a:spcAft>
                <a:spcPts val="400"/>
              </a:spcAft>
              <a:defRPr sz="1300">
                <a:solidFill>
                  <a:srgbClr val="222222"/>
                </a:solidFill>
                <a:latin typeface="BIZ UDPGothic"/>
              </a:defRPr>
            </a:pPr>
            <a:r>
              <a:t>    2.  暖房期への対応</a:t>
            </a:r>
          </a:p>
          <a:p>
            <a:pPr>
              <a:spcBef>
                <a:spcPts val="1400"/>
              </a:spcBef>
              <a:defRPr sz="1600" b="1">
                <a:solidFill>
                  <a:srgbClr val="0B3968"/>
                </a:solidFill>
                <a:latin typeface="BIZ UDPGothic"/>
              </a:defRPr>
            </a:pPr>
            <a:r>
              <a:t>■ 今後の展望</a:t>
            </a:r>
          </a:p>
          <a:p>
            <a:pPr>
              <a:spcAft>
                <a:spcPts val="400"/>
              </a:spcAft>
              <a:defRPr sz="1300">
                <a:solidFill>
                  <a:srgbClr val="222222"/>
                </a:solidFill>
                <a:latin typeface="BIZ UDPGothic"/>
              </a:defRPr>
            </a:pPr>
            <a:r>
              <a:t>    1.  データ読み取り→モデル再学習のサイクルの実装</a:t>
            </a:r>
          </a:p>
          <a:p>
            <a:pPr>
              <a:spcAft>
                <a:spcPts val="400"/>
              </a:spcAft>
              <a:defRPr sz="1300">
                <a:solidFill>
                  <a:srgbClr val="222222"/>
                </a:solidFill>
                <a:latin typeface="BIZ UDPGothic"/>
              </a:defRPr>
            </a:pPr>
            <a:r>
              <a:t>    2.  冬季のデータをもとに暖房運転時の予測モデルの作成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89000"/>
            <a:ext cx="5333866" cy="5334000"/>
          </a:xfrm>
          <a:prstGeom prst="rect">
            <a:avLst/>
          </a:prstGeom>
          <a:noFill/>
        </p:spPr>
        <p:txBody>
          <a:bodyPr wrap="square">
            <a:spAutoFit/>
          </a:bodyPr>
          <a:lstStyle/>
          <a:p>
            <a:pPr>
              <a:defRPr sz="1600" b="1">
                <a:solidFill>
                  <a:srgbClr val="0B3968"/>
                </a:solidFill>
                <a:latin typeface="BIZ UDPGothic"/>
              </a:defRPr>
            </a:pPr>
            <a:r>
              <a:t>■ 実習を通して</a:t>
            </a:r>
          </a:p>
          <a:p>
            <a:pPr>
              <a:spcAft>
                <a:spcPts val="400"/>
              </a:spcAft>
              <a:defRPr sz="1200">
                <a:solidFill>
                  <a:srgbClr val="222222"/>
                </a:solidFill>
                <a:latin typeface="BIZ UDPGothic"/>
              </a:defRPr>
            </a:pPr>
            <a:r>
              <a:t>  ・お客様目線でのアプリケーション開発では、相手のニーズを想定しながら進める必要があり、難しさを感じた</a:t>
            </a:r>
          </a:p>
          <a:p>
            <a:pPr>
              <a:spcAft>
                <a:spcPts val="400"/>
              </a:spcAft>
              <a:defRPr sz="1200">
                <a:solidFill>
                  <a:srgbClr val="222222"/>
                </a:solidFill>
                <a:latin typeface="BIZ UDPGothic"/>
              </a:defRPr>
            </a:pPr>
            <a:r>
              <a:t>  ・実際のデータやその現場を見に行くことで、社会貢献ができるという意識を感じることができた</a:t>
            </a:r>
          </a:p>
          <a:p>
            <a:pPr>
              <a:spcBef>
                <a:spcPts val="1400"/>
              </a:spcBef>
              <a:defRPr sz="1600" b="1">
                <a:solidFill>
                  <a:srgbClr val="0B3968"/>
                </a:solidFill>
                <a:latin typeface="BIZ UDPGothic"/>
              </a:defRPr>
            </a:pPr>
            <a:r>
              <a:t>■ インターンシップを通して</a:t>
            </a:r>
          </a:p>
          <a:p>
            <a:pPr>
              <a:spcAft>
                <a:spcPts val="400"/>
              </a:spcAft>
              <a:defRPr sz="1200">
                <a:solidFill>
                  <a:srgbClr val="222222"/>
                </a:solidFill>
                <a:latin typeface="BIZ UDPGothic"/>
              </a:defRPr>
            </a:pPr>
            <a:r>
              <a:t>  ・実際の会社の肌で感じることができた。</a:t>
            </a:r>
          </a:p>
          <a:p>
            <a:pPr>
              <a:spcAft>
                <a:spcPts val="400"/>
              </a:spcAft>
              <a:defRPr sz="1200">
                <a:solidFill>
                  <a:srgbClr val="222222"/>
                </a:solidFill>
                <a:latin typeface="BIZ UDPGothic"/>
              </a:defRPr>
            </a:pPr>
            <a:r>
              <a:t>  ・デスクワークにとどまらず、実験住宅の見学やセキュリティ関連のご紹介など、幅広い体験ができ、大変充実した2週間を過ごすことができました</a:t>
            </a:r>
          </a:p>
        </p:txBody>
      </p:sp>
      <p:pic>
        <p:nvPicPr>
          <p:cNvPr id="8" name="Picture 7" descr="onsite_photo_panasonic.png"/>
          <p:cNvPicPr>
            <a:picLocks noChangeAspect="1"/>
          </p:cNvPicPr>
          <p:nvPr/>
        </p:nvPicPr>
        <p:blipFill>
          <a:blip r:embed="rId3"/>
          <a:stretch>
            <a:fillRect/>
          </a:stretch>
        </p:blipFill>
        <p:spPr>
          <a:xfrm>
            <a:off x="6730831" y="889000"/>
            <a:ext cx="2730431" cy="2540000"/>
          </a:xfrm>
          <a:prstGeom prst="rect">
            <a:avLst/>
          </a:prstGeom>
        </p:spPr>
      </p:pic>
      <p:pic>
        <p:nvPicPr>
          <p:cNvPr id="9" name="Picture 8" descr="onsite_photo_building.png"/>
          <p:cNvPicPr>
            <a:picLocks noChangeAspect="1"/>
          </p:cNvPicPr>
          <p:nvPr/>
        </p:nvPicPr>
        <p:blipFill>
          <a:blip r:embed="rId4"/>
          <a:stretch>
            <a:fillRect/>
          </a:stretch>
        </p:blipFill>
        <p:spPr>
          <a:xfrm>
            <a:off x="5460863" y="3048000"/>
            <a:ext cx="2285942" cy="2730500"/>
          </a:xfrm>
          <a:prstGeom prst="rect">
            <a:avLst/>
          </a:prstGeom>
        </p:spPr>
      </p:pic>
      <p:pic>
        <p:nvPicPr>
          <p:cNvPr id="10" name="Picture 9" descr="onsite_photo_living.png"/>
          <p:cNvPicPr>
            <a:picLocks noChangeAspect="1"/>
          </p:cNvPicPr>
          <p:nvPr/>
        </p:nvPicPr>
        <p:blipFill>
          <a:blip r:embed="rId5"/>
          <a:stretch>
            <a:fillRect/>
          </a:stretch>
        </p:blipFill>
        <p:spPr>
          <a:xfrm>
            <a:off x="7429314" y="3746500"/>
            <a:ext cx="2984425" cy="2095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