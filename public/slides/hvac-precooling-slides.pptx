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設備や現場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的と背景です。まず本実習の目的として、空調熱源の起動時刻をデータに基づいて最適化し、早朝予冷の無駄削減を目指しました。具体的には、ビルメンテナンス担当者が納得と安心感を持って安全に起動時刻を判断できるよう、スライドのフロー図に示す「必要な予冷時間の予測」「削減効果の可視化」「BMの意思決定支援」という3ステップのシステムを構築いたしました。この取り組みの背景には、2つの大きな要因があります。1つ目は社会的要請です。近年、気候変動対応や脱炭素化に伴いESG投資が世界的に拡大しており、当社でもシミュレーション技術を通じた脱炭素化と企業価値向上に注力しています。そして2つ目が現場の実態です。実際のビル運用現場では、始業時の室温未達クレームを恐れるあまり、早朝一律の過剰な予冷運転が行われ、電力が浪費されている現状がありました。そこで、この現場の課題を解決し、脱炭素へ貢献するために本システムの開発に取り組み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予冷時間は本来、冷やす直前の「室温」に大きく左右されますが、起動時刻を決める前日夕方の時点では翌朝の室温は分かりません。そこで、前日に確実に取得できる天気予報の外気温情報から、直接予冷時間を推計するモデル構造といたしました。式の基本構造は、外気温と設定温度から求めるベース予冷時間に、安全マージンを加える形です。また、朝は起動のやり直しがきか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過去の運用実績データに適用した、バックテスト検証結果です。過去データの実測気温推移からモデルで予冷時間を推計し、始業8:00から逆算して、確実に間に合う範囲で最も遅い起動時刻を決定し直しました。その結果、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スライド5で実証された高い削減効果を、現場のBM担当者が毎日根拠を持って再現できるように開発した「可視化アプリ」です。担当者が夕方に翌日の日付を選ぶだけで、天気予報を自動取得し、推奨起動時刻（例えば07:10など）を算出して提示します。単に推奨時刻を押し付けるのでは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として、本実習のまとめと、今回明らかになった課題および今後の展望です。まずまとめとして、翌朝の気象予報から予冷時間を推計し、推奨起動時刻と削減電力量を提示するBM向けの運用支援アプリを構築いたしました。単に推奨時刻を押し付けるのではなく、安全余裕の内訳やトレードオフ曲線を透明に提示することで、現場の担当者が納得と安心感を持って起動を遅らせられるUI設計を確立できました。一方で、本アプリを現場で本格運用していく上での課題と、それに対応する今後の展望が3点あります。1点目は、実績振り返り機能の不足です。前日に決めた後、翌朝実際に何時に到達しどれだけ電力を削減できたかを検証する画面がありません。今後は省エネ実績ダッシュボードを実装し、翌朝の実績を自動可視化することで、運用の安心感と信頼性を高めていきます。2点目は、モデルの陳腐化リスクです。運用データが溜まっても自動再学習する仕組みがなく、季節の推移や設備変化に追従できません。今後は日々のBEMSデータを取り込んで定期的に自動再学習するサイクルを組み込み、アプリが自律的に精度を維持できるようにします。3点目は、対象系統の限定です。現在は7階冷房のみに特化しており、ビル全体を管理できません。今後は他フロアや暖房期を含めたマルチ系統の統合UIへと拡張し、ビル全体の省エネを一括管理できる基盤へと発展させ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初日の自己紹介で挙げた「3つの参加理由」に対し、期待を大きく超える充実した学びを得ることができました。まず開発面では、単に予測モデルを作るだけでなく、現場のBM担当者がどうすれば安心して起動を遅らせられるかという「お客様目線」でのUI・安全マージン設計の難しさと重要性を深く学びました。また、大学では扱えない実機設備や現場データに触れる中で、シミュレーション技術が脱炭素や社会貢献に直結しているという強い手応えを得ることができました。そしてインターンシップ全体を通じ、デスクワークにとどまらず実験住宅やセキュリティ現場の見学など幅広い体験をさせていただき、当社の高い技術力と現場主義の社風を肌で体感いたしました。親身にご指導いただいたメンターの皆様、関係者の皆様に心より感謝申し上げます。2週間、本当に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大学では扱えない実機設備・データに触れる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762000"/>
            <a:ext cx="11048723" cy="1016000"/>
          </a:xfrm>
          <a:prstGeom prst="rect">
            <a:avLst/>
          </a:prstGeom>
          <a:noFill/>
        </p:spPr>
        <p:txBody>
          <a:bodyPr wrap="square">
            <a:spAutoFit/>
          </a:bodyPr>
          <a:lstStyle/>
          <a:p>
            <a:pPr>
              <a:spcAft>
                <a:spcPts val="200"/>
              </a:spcAft>
              <a:defRPr sz="1500" b="1">
                <a:solidFill>
                  <a:srgbClr val="0B3968"/>
                </a:solidFill>
                <a:latin typeface="BIZ UDPGothic"/>
              </a:defRPr>
            </a:pPr>
            <a:r>
              <a:t>■ 目的（本実習で目指したこと）</a:t>
            </a:r>
          </a:p>
          <a:p>
            <a:pPr>
              <a:spcAft>
                <a:spcPts val="200"/>
              </a:spcAft>
              <a:defRPr sz="1200">
                <a:solidFill>
                  <a:srgbClr val="222222"/>
                </a:solidFill>
                <a:latin typeface="BIZ UDPGothic"/>
              </a:defRPr>
            </a:pPr>
            <a:r>
              <a:t>  ・空調熱源起動時刻をデータに基づいて最適化し、早朝予冷の無駄削減を目指す</a:t>
            </a:r>
          </a:p>
          <a:p>
            <a:pPr>
              <a:spcAft>
                <a:spcPts val="200"/>
              </a:spcAft>
              <a:defRPr sz="1200">
                <a:solidFill>
                  <a:srgbClr val="222222"/>
                </a:solidFill>
                <a:latin typeface="BIZ UDPGothic"/>
              </a:defRPr>
            </a:pPr>
            <a:r>
              <a:t>  ・ビルメンテナンス(BM)が根拠を持って安全に起動時刻を判断できる意思決定支援システムを構築する</a:t>
            </a:r>
          </a:p>
        </p:txBody>
      </p:sp>
      <p:sp>
        <p:nvSpPr>
          <p:cNvPr id="8" name="Rounded Rectangle 7"/>
          <p:cNvSpPr/>
          <p:nvPr/>
        </p:nvSpPr>
        <p:spPr>
          <a:xfrm>
            <a:off x="1206469" y="1841500"/>
            <a:ext cx="2857428" cy="8382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必要な予冷時間の予測</a:t>
            </a:r>
          </a:p>
          <a:p>
            <a:pPr algn="ctr">
              <a:defRPr sz="1000">
                <a:solidFill>
                  <a:srgbClr val="555555"/>
                </a:solidFill>
                <a:latin typeface="BIZ UDPGothic"/>
              </a:defRPr>
            </a:pPr>
            <a:r>
              <a:t>気象予報 × 回帰モデル</a:t>
            </a:r>
          </a:p>
        </p:txBody>
      </p:sp>
      <p:sp>
        <p:nvSpPr>
          <p:cNvPr id="9" name="Rounded Rectangle 8"/>
          <p:cNvSpPr/>
          <p:nvPr/>
        </p:nvSpPr>
        <p:spPr>
          <a:xfrm>
            <a:off x="4889377" y="1841500"/>
            <a:ext cx="2857428" cy="8382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削減効果の可視化</a:t>
            </a:r>
          </a:p>
          <a:p>
            <a:pPr algn="ctr">
              <a:defRPr sz="1000">
                <a:solidFill>
                  <a:srgbClr val="555555"/>
                </a:solidFill>
                <a:latin typeface="BIZ UDPGothic"/>
              </a:defRPr>
            </a:pPr>
            <a:r>
              <a:t>トレードオフ曲線・UI</a:t>
            </a:r>
          </a:p>
        </p:txBody>
      </p:sp>
      <p:sp>
        <p:nvSpPr>
          <p:cNvPr id="10" name="Rounded Rectangle 9"/>
          <p:cNvSpPr/>
          <p:nvPr/>
        </p:nvSpPr>
        <p:spPr>
          <a:xfrm>
            <a:off x="8572285" y="1841500"/>
            <a:ext cx="2857428" cy="8382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BM 意思決定</a:t>
            </a:r>
          </a:p>
          <a:p>
            <a:pPr algn="ctr">
              <a:defRPr sz="1000">
                <a:solidFill>
                  <a:srgbClr val="555555"/>
                </a:solidFill>
                <a:latin typeface="BIZ UDPGothic"/>
              </a:defRPr>
            </a:pPr>
            <a:r>
              <a:t>安心・納得の起動判断</a:t>
            </a:r>
          </a:p>
        </p:txBody>
      </p:sp>
      <p:sp>
        <p:nvSpPr>
          <p:cNvPr id="11" name="TextBox 10"/>
          <p:cNvSpPr txBox="1"/>
          <p:nvPr/>
        </p:nvSpPr>
        <p:spPr>
          <a:xfrm>
            <a:off x="571485" y="3175000"/>
            <a:ext cx="7619809" cy="2794000"/>
          </a:xfrm>
          <a:prstGeom prst="rect">
            <a:avLst/>
          </a:prstGeom>
          <a:noFill/>
        </p:spPr>
        <p:txBody>
          <a:bodyPr wrap="square">
            <a:spAutoFit/>
          </a:bodyPr>
          <a:lstStyle/>
          <a:p>
            <a:pPr>
              <a:spcAft>
                <a:spcPts val="400"/>
              </a:spcAft>
              <a:defRPr sz="1500" b="1">
                <a:solidFill>
                  <a:srgbClr val="0B3968"/>
                </a:solidFill>
                <a:latin typeface="BIZ UDPGothic"/>
              </a:defRPr>
            </a:pPr>
            <a:r>
              <a:t>■ 背景（なぜ今、熱源起動の最適化なのか）</a:t>
            </a:r>
          </a:p>
          <a:p>
            <a:pPr>
              <a:spcAft>
                <a:spcPts val="300"/>
              </a:spcAft>
              <a:defRPr sz="1150">
                <a:solidFill>
                  <a:srgbClr val="222222"/>
                </a:solidFill>
                <a:latin typeface="BIZ UDPGothic"/>
              </a:defRPr>
            </a:pPr>
            <a:r>
              <a:t>  ・【社会的要請】気候変動対応や脱炭素化に向け、ESG※1投資が世界的に拡大</a:t>
            </a:r>
          </a:p>
          <a:p>
            <a:pPr>
              <a:spcAft>
                <a:spcPts val="300"/>
              </a:spcAft>
              <a:defRPr sz="1150">
                <a:solidFill>
                  <a:srgbClr val="222222"/>
                </a:solidFill>
                <a:latin typeface="BIZ UDPGothic"/>
              </a:defRPr>
            </a:pPr>
            <a:r>
              <a:t>  ・快適性とエネルギーに関してシミュレーション技術で脱炭素化と企業価値向上へ貢献</a:t>
            </a:r>
          </a:p>
          <a:p>
            <a:pPr>
              <a:spcAft>
                <a:spcPts val="300"/>
              </a:spcAft>
              <a:defRPr sz="1150">
                <a:solidFill>
                  <a:srgbClr val="222222"/>
                </a:solidFill>
                <a:latin typeface="BIZ UDPGothic"/>
              </a:defRPr>
            </a:pPr>
            <a:r>
              <a:t>  ・【現場の実態】始業時の室温未達を恐れ、早朝一律の過剰予冷が発生し電力が浪費されている</a:t>
            </a:r>
          </a:p>
        </p:txBody>
      </p:sp>
      <p:sp>
        <p:nvSpPr>
          <p:cNvPr id="12" name="Rounded Rectangle 11"/>
          <p:cNvSpPr/>
          <p:nvPr/>
        </p:nvSpPr>
        <p:spPr>
          <a:xfrm>
            <a:off x="8508787" y="3365500"/>
            <a:ext cx="3174920" cy="12065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475569"/>
                </a:solidFill>
                <a:latin typeface="BIZ UDPGothic"/>
              </a:defRPr>
            </a:pPr>
            <a:r>
              <a:t>※1 ESG投資とは</a:t>
            </a:r>
          </a:p>
          <a:p>
            <a:pPr>
              <a:defRPr sz="900">
                <a:solidFill>
                  <a:srgbClr val="64748B"/>
                </a:solidFill>
                <a:latin typeface="BIZ UDPGothic"/>
              </a:defRPr>
            </a:pPr>
            <a:r>
              <a:t>E(環境)：気候変動・省エネなど</a:t>
            </a:r>
          </a:p>
          <a:p>
            <a:pPr>
              <a:defRPr sz="900">
                <a:solidFill>
                  <a:srgbClr val="64748B"/>
                </a:solidFill>
                <a:latin typeface="BIZ UDPGothic"/>
              </a:defRPr>
            </a:pPr>
            <a:r>
              <a:t>S(社会)：快適性・働き方改善など</a:t>
            </a:r>
          </a:p>
          <a:p>
            <a:pPr>
              <a:defRPr sz="900">
                <a:solidFill>
                  <a:srgbClr val="64748B"/>
                </a:solidFill>
                <a:latin typeface="BIZ UDPGothic"/>
              </a:defRPr>
            </a:pPr>
            <a:r>
              <a:t>G(ガバナンス)：法令遵守・管理規則など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950">
                <a:solidFill>
                  <a:srgbClr val="555555"/>
                </a:solidFill>
                <a:latin typeface="BIZ UDPGothic"/>
              </a:defRPr>
            </a:pPr>
            <a:r>
              <a:t>       （※決定時点では翌朝の室温が不明なため、予報外気温から直接推計）</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6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698500"/>
            <a:ext cx="11302717" cy="889000"/>
          </a:xfrm>
          <a:prstGeom prst="rect">
            <a:avLst/>
          </a:prstGeom>
          <a:noFill/>
        </p:spPr>
        <p:txBody>
          <a:bodyPr wrap="none">
            <a:spAutoFit/>
          </a:bodyPr>
          <a:lstStyle/>
          <a:p>
            <a:pPr>
              <a:defRPr sz="1500" b="1">
                <a:solidFill>
                  <a:srgbClr val="0B3968"/>
                </a:solidFill>
                <a:latin typeface="BIZ UDPGothic"/>
              </a:defRPr>
            </a:pPr>
            <a:r>
              <a:t>■ 運用実績データでの検証</a:t>
            </a:r>
          </a:p>
          <a:p>
            <a:pPr>
              <a:defRPr sz="1200">
                <a:solidFill>
                  <a:srgbClr val="222222"/>
                </a:solidFill>
                <a:latin typeface="BIZ UDPGothic"/>
              </a:defRPr>
            </a:pPr>
            <a:r>
              <a:t>  ・作成した予測モデルを用い、過去の気温推移から必要な予冷時間を予測、起動時間を決定した</a:t>
            </a:r>
          </a:p>
          <a:p>
            <a:pPr>
              <a:defRPr sz="1000">
                <a:solidFill>
                  <a:srgbClr val="555555"/>
                </a:solidFill>
                <a:latin typeface="BIZ UDPGothic"/>
              </a:defRPr>
            </a:pPr>
            <a:r>
              <a:t>     （※始業8:00から予冷時間を逆算し、確実に到達できる最も遅い起動時刻を算出）</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25500"/>
            <a:ext cx="11175720" cy="5461000"/>
          </a:xfrm>
          <a:prstGeom prst="rect">
            <a:avLst/>
          </a:prstGeom>
          <a:noFill/>
        </p:spPr>
        <p:txBody>
          <a:bodyPr wrap="square">
            <a:spAutoFit/>
          </a:bodyPr>
          <a:lstStyle/>
          <a:p>
            <a:pPr>
              <a:defRPr sz="1500" b="1">
                <a:solidFill>
                  <a:srgbClr val="0B3968"/>
                </a:solidFill>
                <a:latin typeface="BIZ UDPGothic"/>
              </a:defRPr>
            </a:pPr>
            <a:r>
              <a:t>■ まとめ（本実習での成果）</a:t>
            </a:r>
          </a:p>
          <a:p>
            <a:pPr>
              <a:spcAft>
                <a:spcPts val="300"/>
              </a:spcAft>
              <a:defRPr sz="1200">
                <a:solidFill>
                  <a:srgbClr val="222222"/>
                </a:solidFill>
                <a:latin typeface="BIZ UDPGothic"/>
              </a:defRPr>
            </a:pPr>
            <a:r>
              <a:t>  ・気象予報から予冷時間を推計し、推奨起動時刻と削減電力量を提示するBM向け運用支援アプリを構築</a:t>
            </a:r>
          </a:p>
          <a:p>
            <a:pPr>
              <a:spcAft>
                <a:spcPts val="300"/>
              </a:spcAft>
              <a:defRPr sz="1200">
                <a:solidFill>
                  <a:srgbClr val="222222"/>
                </a:solidFill>
                <a:latin typeface="BIZ UDPGothic"/>
              </a:defRPr>
            </a:pPr>
            <a:r>
              <a:t>  ・単に推奨値を出すだけでなく、安全マージン内訳やトレードオフ曲線を可視化し、BMが納得と安心感を持って判断できるUIを実現</a:t>
            </a:r>
          </a:p>
          <a:p>
            <a:pPr>
              <a:spcBef>
                <a:spcPts val="1000"/>
              </a:spcBef>
              <a:defRPr sz="1500" b="1">
                <a:solidFill>
                  <a:srgbClr val="0B3968"/>
                </a:solidFill>
                <a:latin typeface="BIZ UDPGothic"/>
              </a:defRPr>
            </a:pPr>
            <a:r>
              <a:t>■ 課題（実運用に向けたアプリ側の課題）</a:t>
            </a:r>
          </a:p>
          <a:p>
            <a:pPr>
              <a:spcAft>
                <a:spcPts val="300"/>
              </a:spcAft>
              <a:defRPr sz="1200">
                <a:solidFill>
                  <a:srgbClr val="222222"/>
                </a:solidFill>
                <a:latin typeface="BIZ UDPGothic"/>
              </a:defRPr>
            </a:pPr>
            <a:r>
              <a:t>    1. 実績振り返り機能の不足：翌朝「実際に何時に到達し、何kWh削減できたか」を画面上で確認・検証できない</a:t>
            </a:r>
          </a:p>
          <a:p>
            <a:pPr>
              <a:spcAft>
                <a:spcPts val="300"/>
              </a:spcAft>
              <a:defRPr sz="1200">
                <a:solidFill>
                  <a:srgbClr val="222222"/>
                </a:solidFill>
                <a:latin typeface="BIZ UDPGothic"/>
              </a:defRPr>
            </a:pPr>
            <a:r>
              <a:t>    2. モデルの陳腐化リスク：運用データが蓄積されてもモデルが自動更新されず、季節遷移や経年変化に追従できない</a:t>
            </a:r>
          </a:p>
          <a:p>
            <a:pPr>
              <a:spcAft>
                <a:spcPts val="300"/>
              </a:spcAft>
              <a:defRPr sz="1200">
                <a:solidFill>
                  <a:srgbClr val="222222"/>
                </a:solidFill>
                <a:latin typeface="BIZ UDPGothic"/>
              </a:defRPr>
            </a:pPr>
            <a:r>
              <a:t>    3. 対象系統の限定（7階冷房のみ）：ビル全体の複数系統や他フロア、暖房期をまとめて1画面で俯瞰・操作できない</a:t>
            </a:r>
          </a:p>
          <a:p>
            <a:pPr>
              <a:spcBef>
                <a:spcPts val="1000"/>
              </a:spcBef>
              <a:defRPr sz="1500" b="1">
                <a:solidFill>
                  <a:srgbClr val="0B3968"/>
                </a:solidFill>
                <a:latin typeface="BIZ UDPGothic"/>
              </a:defRPr>
            </a:pPr>
            <a:r>
              <a:t>■ 今後の展望（課題1〜3に対応）</a:t>
            </a:r>
          </a:p>
          <a:p>
            <a:pPr>
              <a:spcAft>
                <a:spcPts val="300"/>
              </a:spcAft>
              <a:defRPr sz="1200">
                <a:solidFill>
                  <a:srgbClr val="222222"/>
                </a:solidFill>
                <a:latin typeface="BIZ UDPGothic"/>
              </a:defRPr>
            </a:pPr>
            <a:r>
              <a:t>    1. 省エネ実績ダッシュボードの実装：翌朝の実績を取り込んで予報とのズレや削減成果を自動表示し、運用の安心感を向上</a:t>
            </a:r>
          </a:p>
          <a:p>
            <a:pPr>
              <a:spcAft>
                <a:spcPts val="300"/>
              </a:spcAft>
              <a:defRPr sz="1200">
                <a:solidFill>
                  <a:srgbClr val="222222"/>
                </a:solidFill>
                <a:latin typeface="BIZ UDPGothic"/>
              </a:defRPr>
            </a:pPr>
            <a:r>
              <a:t>    2. 自動データ蓄積・定期再学習サイクルの構築：日々のBEMSデータから定期的にモデルを自動再学習し、精度を自律維持</a:t>
            </a:r>
          </a:p>
          <a:p>
            <a:pPr>
              <a:spcAft>
                <a:spcPts val="300"/>
              </a:spcAft>
              <a:defRPr sz="1200">
                <a:solidFill>
                  <a:srgbClr val="222222"/>
                </a:solidFill>
                <a:latin typeface="BIZ UDPGothic"/>
              </a:defRPr>
            </a:pPr>
            <a:r>
              <a:t>    3. ビル全体のマルチ系統統合UIへの拡張：フロア切替や暖房期対応など、ビル全体の空調を一括管理できる統合基盤へ発展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25500"/>
            <a:ext cx="5079872" cy="5461000"/>
          </a:xfrm>
          <a:prstGeom prst="rect">
            <a:avLst/>
          </a:prstGeom>
          <a:noFill/>
        </p:spPr>
        <p:txBody>
          <a:bodyPr wrap="square">
            <a:spAutoFit/>
          </a:bodyPr>
          <a:lstStyle/>
          <a:p>
            <a:pPr>
              <a:defRPr sz="1500" b="1">
                <a:solidFill>
                  <a:srgbClr val="0B3968"/>
                </a:solidFill>
                <a:latin typeface="BIZ UDPGothic"/>
              </a:defRPr>
            </a:pPr>
            <a:r>
              <a:t>■ 実習を通して（技術・開発の学び）</a:t>
            </a:r>
          </a:p>
          <a:p>
            <a:pPr>
              <a:defRPr sz="1200" b="1">
                <a:solidFill>
                  <a:srgbClr val="00509E"/>
                </a:solidFill>
                <a:latin typeface="BIZ UDPGothic"/>
              </a:defRPr>
            </a:pPr>
            <a:r>
              <a:t>  ・お客様目線での開発</a:t>
            </a:r>
          </a:p>
          <a:p>
            <a:pPr>
              <a:spcAft>
                <a:spcPts val="200"/>
              </a:spcAft>
              <a:defRPr sz="1100">
                <a:solidFill>
                  <a:srgbClr val="222222"/>
                </a:solidFill>
                <a:latin typeface="BIZ UDPGothic"/>
              </a:defRPr>
            </a:pPr>
            <a:r>
              <a:t>    現場のBM担当者が安心できるマージンやUIを追求する難しさと重要性を学んだ</a:t>
            </a:r>
          </a:p>
          <a:p>
            <a:pPr>
              <a:defRPr sz="1200" b="1">
                <a:solidFill>
                  <a:srgbClr val="00509E"/>
                </a:solidFill>
                <a:latin typeface="BIZ UDPGothic"/>
              </a:defRPr>
            </a:pPr>
            <a:r>
              <a:t>  ・社会貢献の実感</a:t>
            </a:r>
          </a:p>
          <a:p>
            <a:pPr>
              <a:spcAft>
                <a:spcPts val="200"/>
              </a:spcAft>
              <a:defRPr sz="1100">
                <a:solidFill>
                  <a:srgbClr val="222222"/>
                </a:solidFill>
                <a:latin typeface="BIZ UDPGothic"/>
              </a:defRPr>
            </a:pPr>
            <a:r>
              <a:t>    実機・現場データに触れ、技術が脱炭素という社会貢献に直結する手応えを得た</a:t>
            </a:r>
          </a:p>
          <a:p>
            <a:pPr>
              <a:spcBef>
                <a:spcPts val="800"/>
              </a:spcBef>
              <a:defRPr sz="1500" b="1">
                <a:solidFill>
                  <a:srgbClr val="0B3968"/>
                </a:solidFill>
                <a:latin typeface="BIZ UDPGothic"/>
              </a:defRPr>
            </a:pPr>
            <a:r>
              <a:t>■ インターンシップを通して（社風・現場体験）</a:t>
            </a:r>
          </a:p>
          <a:p>
            <a:pPr>
              <a:defRPr sz="1200" b="1">
                <a:solidFill>
                  <a:srgbClr val="00509E"/>
                </a:solidFill>
                <a:latin typeface="BIZ UDPGothic"/>
              </a:defRPr>
            </a:pPr>
            <a:r>
              <a:t>  ・現場主義の社風を実感</a:t>
            </a:r>
          </a:p>
          <a:p>
            <a:pPr>
              <a:spcAft>
                <a:spcPts val="200"/>
              </a:spcAft>
              <a:defRPr sz="1100">
                <a:solidFill>
                  <a:srgbClr val="222222"/>
                </a:solidFill>
                <a:latin typeface="BIZ UDPGothic"/>
              </a:defRPr>
            </a:pPr>
            <a:r>
              <a:t>    実験住宅やセキュリティ見学など生活を支える高い技術力を肌で体感できた</a:t>
            </a:r>
          </a:p>
          <a:p>
            <a:pPr>
              <a:defRPr sz="1200" b="1">
                <a:solidFill>
                  <a:srgbClr val="00509E"/>
                </a:solidFill>
                <a:latin typeface="BIZ UDPGothic"/>
              </a:defRPr>
            </a:pPr>
            <a:r>
              <a:t>  ・感謝</a:t>
            </a:r>
          </a:p>
          <a:p>
            <a:pPr>
              <a:spcAft>
                <a:spcPts val="200"/>
              </a:spcAft>
              <a:defRPr sz="1100">
                <a:solidFill>
                  <a:srgbClr val="222222"/>
                </a:solidFill>
                <a:latin typeface="BIZ UDPGothic"/>
              </a:defRPr>
            </a:pPr>
            <a:r>
              <a:t>    親身にご指導くださったメンターの皆様に感謝申し上げます。大変充実した2週間となりました</a:t>
            </a:r>
          </a:p>
        </p:txBody>
      </p:sp>
      <p:pic>
        <p:nvPicPr>
          <p:cNvPr id="8" name="Picture 7" descr="onsite_photo_panasonic.png"/>
          <p:cNvPicPr>
            <a:picLocks noChangeAspect="1"/>
          </p:cNvPicPr>
          <p:nvPr/>
        </p:nvPicPr>
        <p:blipFill>
          <a:blip r:embed="rId3"/>
          <a:stretch>
            <a:fillRect/>
          </a:stretch>
        </p:blipFill>
        <p:spPr>
          <a:xfrm>
            <a:off x="6730831" y="825500"/>
            <a:ext cx="2793930" cy="2413000"/>
          </a:xfrm>
          <a:prstGeom prst="rect">
            <a:avLst/>
          </a:prstGeom>
        </p:spPr>
      </p:pic>
      <p:sp>
        <p:nvSpPr>
          <p:cNvPr id="9" name="TextBox 8"/>
          <p:cNvSpPr txBox="1"/>
          <p:nvPr/>
        </p:nvSpPr>
        <p:spPr>
          <a:xfrm>
            <a:off x="6730831" y="3238500"/>
            <a:ext cx="2793930" cy="317500"/>
          </a:xfrm>
          <a:prstGeom prst="rect">
            <a:avLst/>
          </a:prstGeom>
          <a:noFill/>
        </p:spPr>
        <p:txBody>
          <a:bodyPr wrap="none">
            <a:spAutoFit/>
          </a:bodyPr>
          <a:lstStyle/>
          <a:p>
            <a:pPr algn="ctr">
              <a:defRPr sz="900" b="1">
                <a:solidFill>
                  <a:srgbClr val="555555"/>
                </a:solidFill>
                <a:latin typeface="BIZ UDPGothic"/>
              </a:defRPr>
            </a:pPr>
            <a:r>
              <a:t>【パナソニック受付にて】</a:t>
            </a:r>
          </a:p>
        </p:txBody>
      </p:sp>
      <p:pic>
        <p:nvPicPr>
          <p:cNvPr id="10" name="Picture 9" descr="onsite_photo_building.png"/>
          <p:cNvPicPr>
            <a:picLocks noChangeAspect="1"/>
          </p:cNvPicPr>
          <p:nvPr/>
        </p:nvPicPr>
        <p:blipFill>
          <a:blip r:embed="rId4"/>
          <a:stretch>
            <a:fillRect/>
          </a:stretch>
        </p:blipFill>
        <p:spPr>
          <a:xfrm>
            <a:off x="5333866" y="3556000"/>
            <a:ext cx="2285942" cy="2413000"/>
          </a:xfrm>
          <a:prstGeom prst="rect">
            <a:avLst/>
          </a:prstGeom>
        </p:spPr>
      </p:pic>
      <p:sp>
        <p:nvSpPr>
          <p:cNvPr id="11" name="TextBox 10"/>
          <p:cNvSpPr txBox="1"/>
          <p:nvPr/>
        </p:nvSpPr>
        <p:spPr>
          <a:xfrm>
            <a:off x="5333866" y="5994400"/>
            <a:ext cx="2285942" cy="317500"/>
          </a:xfrm>
          <a:prstGeom prst="rect">
            <a:avLst/>
          </a:prstGeom>
          <a:noFill/>
        </p:spPr>
        <p:txBody>
          <a:bodyPr wrap="none">
            <a:spAutoFit/>
          </a:bodyPr>
          <a:lstStyle/>
          <a:p>
            <a:pPr algn="ctr">
              <a:defRPr sz="900" b="1">
                <a:solidFill>
                  <a:srgbClr val="555555"/>
                </a:solidFill>
                <a:latin typeface="BIZ UDPGothic"/>
              </a:defRPr>
            </a:pPr>
            <a:r>
              <a:t>【実験住宅・設備見学】</a:t>
            </a:r>
          </a:p>
        </p:txBody>
      </p:sp>
      <p:pic>
        <p:nvPicPr>
          <p:cNvPr id="12" name="Picture 11" descr="onsite_photo_living.png"/>
          <p:cNvPicPr>
            <a:picLocks noChangeAspect="1"/>
          </p:cNvPicPr>
          <p:nvPr/>
        </p:nvPicPr>
        <p:blipFill>
          <a:blip r:embed="rId5"/>
          <a:stretch>
            <a:fillRect/>
          </a:stretch>
        </p:blipFill>
        <p:spPr>
          <a:xfrm>
            <a:off x="7810304" y="3810000"/>
            <a:ext cx="2857428" cy="2159000"/>
          </a:xfrm>
          <a:prstGeom prst="rect">
            <a:avLst/>
          </a:prstGeom>
        </p:spPr>
      </p:pic>
      <p:sp>
        <p:nvSpPr>
          <p:cNvPr id="13" name="TextBox 12"/>
          <p:cNvSpPr txBox="1"/>
          <p:nvPr/>
        </p:nvSpPr>
        <p:spPr>
          <a:xfrm>
            <a:off x="7810304" y="5994400"/>
            <a:ext cx="2857428" cy="317500"/>
          </a:xfrm>
          <a:prstGeom prst="rect">
            <a:avLst/>
          </a:prstGeom>
          <a:noFill/>
        </p:spPr>
        <p:txBody>
          <a:bodyPr wrap="none">
            <a:spAutoFit/>
          </a:bodyPr>
          <a:lstStyle/>
          <a:p>
            <a:pPr algn="ctr">
              <a:defRPr sz="900" b="1">
                <a:solidFill>
                  <a:srgbClr val="555555"/>
                </a:solidFill>
                <a:latin typeface="BIZ UDPGothic"/>
              </a:defRPr>
            </a:pPr>
            <a:r>
              <a:t>【スマートハウス空間体験】</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