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6857828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93930" y="1752556"/>
            <a:ext cx="8635784" cy="30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BIZ UDPGothic"/>
              </a:defRPr>
            </a:pPr>
            <a:r>
              <a:t>2026年度夏季インターンシップ 成果報告会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3930" y="2387540"/>
            <a:ext cx="8889777" cy="5587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BIZ UDPGothic"/>
              </a:defRPr>
            </a:pPr>
            <a:r>
              <a:t>空調熱源の起動時刻を、翌朝の気温予報から決める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3930" y="3098722"/>
            <a:ext cx="8889777" cy="355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00509E"/>
                </a:solidFill>
                <a:latin typeface="BIZ UDPGothic"/>
              </a:defRPr>
            </a:pPr>
            <a:r>
              <a:t>非住宅省エネ効果可視化アプリの開発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3930" y="4089297"/>
            <a:ext cx="8889777" cy="30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BIZ UDPGothic"/>
              </a:defRPr>
            </a:pPr>
            <a:r>
              <a:t>システムソリューション開発センター エンジニアリングアプリケーション開発部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3930" y="4775080"/>
            <a:ext cx="8889777" cy="30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北海道大学大学院 情報科学専攻 修士1年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3930" y="5130671"/>
            <a:ext cx="5079873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111111"/>
                </a:solidFill>
                <a:latin typeface="BIZ UDPGothic"/>
              </a:defRPr>
            </a:pPr>
            <a:r>
              <a:t>越 海斗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3930" y="5816454"/>
            <a:ext cx="5079873" cy="279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BIZ UDPGothic"/>
              </a:defRPr>
            </a:pPr>
            <a:r>
              <a:t>2026年9月4日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1. 自己紹介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990575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所属と研究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1371565"/>
            <a:ext cx="6603834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北海道大学大学院 情報科学専攻 修士1年</a:t>
            </a:r>
          </a:p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遺伝子ネットワークの制御と、投薬順序の最適化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2412939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参加した理由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79" y="2793930"/>
            <a:ext cx="6603834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大学では触れられない実データを扱い、</a:t>
            </a:r>
          </a:p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使う人の目線でものを作る経験をしたかった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485" y="3809904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趣味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479" y="4190895"/>
            <a:ext cx="6603834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鉄道旅行</a:t>
            </a:r>
          </a:p>
        </p:txBody>
      </p:sp>
      <p:pic>
        <p:nvPicPr>
          <p:cNvPr id="12" name="Picture 11" descr="profile_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12" y="1015974"/>
            <a:ext cx="4063898" cy="50798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2. 現状：毎朝1時間以上、冷やしすぎている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939776"/>
            <a:ext cx="4571885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対象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1269968"/>
            <a:ext cx="4571885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第二別館7F、2025年8月下旬の平日（冷房期）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外気温・室温・設定温度・熱源の消費電力を1分値で取得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2184345"/>
            <a:ext cx="4571885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いまの運用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79" y="2514537"/>
            <a:ext cx="4571885" cy="10159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・通常 5:00 / 休み明け 3:00 に一律で起動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・6:30〜7:00 には設定温度に到達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・始業 8:00 まで、無人の室内を冷やし続ける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8482" y="3682907"/>
            <a:ext cx="4444888" cy="1650958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479" y="3962300"/>
            <a:ext cx="4190895" cy="1269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始業前に毎朝</a:t>
            </a:r>
          </a:p>
          <a:p>
            <a:pPr algn="ctr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1時間以上の過剰予冷</a:t>
            </a:r>
          </a:p>
          <a:p>
            <a:pPr algn="ctr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遅らせる余地はある。根拠がない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485" y="5816454"/>
            <a:ext cx="4571885" cy="76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前任者から引き継いだ起動時刻をそのまま使っており、</a:t>
            </a:r>
          </a:p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「どこまで遅らせてよいか」を判断する材料が現場にない</a:t>
            </a:r>
          </a:p>
        </p:txBody>
      </p:sp>
      <p:pic>
        <p:nvPicPr>
          <p:cNvPr id="13" name="Picture 12" descr="deck_slide04_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6" y="761980"/>
            <a:ext cx="6603834" cy="54608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3. 何が難しいか：2つの制約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485" y="952476"/>
            <a:ext cx="5397365" cy="2539936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5479" y="1219169"/>
            <a:ext cx="4952876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11111"/>
                </a:solidFill>
                <a:latin typeface="BIZ UDPGothic"/>
              </a:defRPr>
            </a:pPr>
            <a:r>
              <a:t>制約1  起動時刻は前日の夕方に決める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1625559"/>
            <a:ext cx="4952876" cy="16509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・決める時点で、翌朝の室温は分からない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・室温を見て制御する方式が使えない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→ 前日に手に入る翌日の気温予報から、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　 予冷時間を直接読む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2844" y="952476"/>
            <a:ext cx="5397365" cy="2539936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6838" y="1219169"/>
            <a:ext cx="4952876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11111"/>
                </a:solidFill>
                <a:latin typeface="BIZ UDPGothic"/>
              </a:defRPr>
            </a:pPr>
            <a:r>
              <a:t>制約2  未達は、朝になってからやり直せない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838" y="1625559"/>
            <a:ext cx="5016374" cy="16509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・設定温度に届かない → 執務環境に直接影響（高コスト）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・冷やしすぎ → 電力の無駄で済む（低コスト）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→ 損失が非対称なので、予冷時間は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　 中央値ではなく上側で見積もる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485" y="4000399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問いの立て方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980" y="4470288"/>
            <a:ext cx="10667733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00509E"/>
                </a:solidFill>
                <a:latin typeface="BIZ UDPGothic"/>
              </a:defRPr>
            </a:pPr>
            <a:r>
              <a:t>起動時刻 ＝ 8:00 − 必要な予冷時間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80" y="4927476"/>
            <a:ext cx="10667733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0509E"/>
                </a:solidFill>
                <a:latin typeface="BIZ UDPGothic"/>
              </a:defRPr>
            </a:pPr>
            <a:r>
              <a:t>必要な予冷時間 ＝ f(起動時刻の外気温, 設定温度) ＋ 安全側の余裕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485" y="5587860"/>
            <a:ext cx="11048723" cy="76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「間に合う範囲で最も遅い時刻」を、前日に分かる情報だけから決める。</a:t>
            </a:r>
          </a:p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外気温は起動時刻ごとに変わるので、候補ごとに予冷時間を求め、間に合う中で最も遅い時刻を選ぶ。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4. 判断材料をどう求めるか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888977"/>
            <a:ext cx="11175720" cy="2793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BIZ UDPGothic"/>
              </a:defRPr>
            </a:pPr>
            <a:r>
              <a:t>推奨起動時刻 ＝ 8:00 − 必要な予冷時間。その予冷時間を、次の4つに分けて積む。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88977" y="1244568"/>
            <a:ext cx="3809904" cy="558786"/>
          </a:xfrm>
          <a:prstGeom prst="rect">
            <a:avLst/>
          </a:prstGeom>
          <a:solidFill>
            <a:srgbClr val="3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8882" y="1244568"/>
            <a:ext cx="1904952" cy="558786"/>
          </a:xfrm>
          <a:prstGeom prst="rect">
            <a:avLst/>
          </a:prstGeom>
          <a:solidFill>
            <a:srgbClr val="7BA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03834" y="1244568"/>
            <a:ext cx="2285942" cy="558786"/>
          </a:xfrm>
          <a:prstGeom prst="rect">
            <a:avLst/>
          </a:prstGeom>
          <a:solidFill>
            <a:srgbClr val="B7C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89777" y="1244568"/>
            <a:ext cx="2412939" cy="558786"/>
          </a:xfrm>
          <a:prstGeom prst="rect">
            <a:avLst/>
          </a:prstGeom>
          <a:solidFill>
            <a:srgbClr val="E3B9BF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977" y="1396965"/>
            <a:ext cx="3809904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BIZ UDPGothic"/>
              </a:defRPr>
            </a:pPr>
            <a:r>
              <a:t>モデルの予測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8882" y="1396965"/>
            <a:ext cx="1904952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BIZ UDPGothic"/>
              </a:defRPr>
            </a:pPr>
            <a:r>
              <a:t>安全側の余裕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3834" y="1396965"/>
            <a:ext cx="2285942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予報の外れ分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9777" y="1396965"/>
            <a:ext cx="2412939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休み明けの上乗せ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80" y="2412939"/>
            <a:ext cx="10794730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①  モデルの予測：外気温と設定温度の差を線形回帰。交差検証の平均誤差 3.7 分で採用（外気温のみ 5.6 / 定数 6.3）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980" y="2768530"/>
            <a:ext cx="10794730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②  安全側の余裕：残差の上側分位を足す。未達を何日に1日まで許すかで幅が決まる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980" y="3124121"/>
            <a:ext cx="10794730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③  予報の外れ分：学習は実測の外気温、運用は予報。予報誤差 1.5℃ を安全側に上乗せ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980" y="3479713"/>
            <a:ext cx="10794730" cy="609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④  休み明けの上乗せ：躯体に残った熱を「外気が 2.0℃ 高い日」として同じ式に通す</a:t>
            </a:r>
          </a:p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　　通常平日 51 分 に対し休日明け 135 分。1 件からの暫定値で、運用前に再確認する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4165495"/>
            <a:ext cx="10794730" cy="30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  <a:latin typeface="BIZ UDPGothic"/>
              </a:defRPr>
            </a:pPr>
            <a:r>
              <a:t>・学習範囲の外は外挿警告を出し、担当者に判断を委ねる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8482" y="4521086"/>
            <a:ext cx="10794730" cy="1219169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476" y="4775080"/>
            <a:ext cx="10413739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11111"/>
                </a:solidFill>
                <a:latin typeface="BIZ UDPGothic"/>
              </a:defRPr>
            </a:pPr>
            <a:r>
              <a:t>合算して1つの数字にしない</a:t>
            </a:r>
          </a:p>
          <a:p>
            <a:pPr algn="l">
              <a:defRPr sz="1400" b="0">
                <a:solidFill>
                  <a:srgbClr val="111111"/>
                </a:solidFill>
                <a:latin typeface="BIZ UDPGothic"/>
              </a:defRPr>
            </a:pPr>
            <a:r>
              <a:t>4つを分けて画面に出すと、担当者が「なぜその時刻になったのか」を追える。</a:t>
            </a:r>
          </a:p>
          <a:p>
            <a:pPr algn="l">
              <a:defRPr sz="1400" b="0">
                <a:solidFill>
                  <a:srgbClr val="111111"/>
                </a:solidFill>
                <a:latin typeface="BIZ UDPGothic"/>
              </a:defRPr>
            </a:pPr>
            <a:r>
              <a:t>学習し直したときも、どの項が動いたのかを切り分けられる。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5. 実データでの検証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990575"/>
            <a:ext cx="4825879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1320766"/>
            <a:ext cx="4825879" cy="63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過去の平日 9 日について、その日の気温推移から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予冷時間を求め、起動時刻を決め直した場合を計算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2031949"/>
            <a:ext cx="4508387" cy="1396965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2971" y="2235144"/>
            <a:ext cx="4063898" cy="11429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00509E"/>
                </a:solidFill>
                <a:latin typeface="BIZ UDPGothic"/>
              </a:defRPr>
            </a:pPr>
            <a:r>
              <a:t>8:00 到達率</a:t>
            </a:r>
          </a:p>
          <a:p>
            <a:pPr algn="l">
              <a:defRPr sz="2000" b="1">
                <a:solidFill>
                  <a:srgbClr val="00509E"/>
                </a:solidFill>
                <a:latin typeface="BIZ UDPGothic"/>
              </a:defRPr>
            </a:pPr>
          </a:p>
          <a:p>
            <a:pPr algn="l">
              <a:defRPr sz="2000" b="1">
                <a:solidFill>
                  <a:srgbClr val="00509E"/>
                </a:solidFill>
                <a:latin typeface="BIZ UDPGothic"/>
              </a:defRPr>
            </a:pPr>
            <a:r>
              <a:t>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71" y="3124121"/>
            <a:ext cx="4063898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BIZ UDPGothic"/>
              </a:defRPr>
            </a:pPr>
            <a:r>
              <a:t>9 日すべてで始業前に設定温度へ到達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5479" y="3682907"/>
            <a:ext cx="4508387" cy="1396965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2971" y="3886102"/>
            <a:ext cx="4063898" cy="10159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00509E"/>
                </a:solidFill>
                <a:latin typeface="BIZ UDPGothic"/>
              </a:defRPr>
            </a:pPr>
            <a:r>
              <a:t>始業前の消費電力量 削減率</a:t>
            </a:r>
          </a:p>
          <a:p>
            <a:pPr algn="l">
              <a:defRPr sz="1800" b="1">
                <a:solidFill>
                  <a:srgbClr val="00509E"/>
                </a:solidFill>
                <a:latin typeface="BIZ UDPGothic"/>
              </a:defRPr>
            </a:pPr>
          </a:p>
          <a:p>
            <a:pPr algn="l">
              <a:defRPr sz="1800" b="1">
                <a:solidFill>
                  <a:srgbClr val="00509E"/>
                </a:solidFill>
                <a:latin typeface="BIZ UDPGothic"/>
              </a:defRPr>
            </a:pPr>
            <a:r>
              <a:t>平均 約 36 %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2971" y="4800479"/>
            <a:ext cx="4063898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BIZ UDPGothic"/>
              </a:defRPr>
            </a:pPr>
            <a:r>
              <a:t>起動を最大 1 時間以上遅らせられた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485" y="5460863"/>
            <a:ext cx="4952876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現行と推奨を別々に積算して比べている。「遅らせた時間 × 保温電力」の</a:t>
            </a:r>
          </a:p>
          <a:p>
            <a:pPr algn="l">
              <a:defRPr sz="1300" b="0">
                <a:solidFill>
                  <a:srgbClr val="555555"/>
                </a:solidFill>
                <a:latin typeface="BIZ UDPGothic"/>
              </a:defRPr>
            </a:pPr>
            <a:r>
              <a:t>引き算では、プルダウンの電力が消えて削減率が過大になるため。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485" y="6349841"/>
            <a:ext cx="5079873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C8102E"/>
                </a:solidFill>
                <a:latin typeface="BIZ UDPGothic"/>
              </a:defRPr>
            </a:pPr>
            <a:r>
              <a:t>※ 学習に使った同じ 2 週間に対する後ろ向きの検証</a:t>
            </a:r>
          </a:p>
        </p:txBody>
      </p:sp>
      <p:pic>
        <p:nvPicPr>
          <p:cNvPr id="16" name="Picture 15" descr="deck_slide07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358" y="698482"/>
            <a:ext cx="6222844" cy="2793930"/>
          </a:xfrm>
          <a:prstGeom prst="rect">
            <a:avLst/>
          </a:prstGeom>
        </p:spPr>
      </p:pic>
      <p:pic>
        <p:nvPicPr>
          <p:cNvPr id="17" name="Picture 16" descr="deck_slide07_ener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358" y="3530511"/>
            <a:ext cx="6222844" cy="2984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6. 担当者が毎夕使う画面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pic>
        <p:nvPicPr>
          <p:cNvPr id="6" name="Picture 5" descr="deck_slide08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444" y="698482"/>
            <a:ext cx="7810304" cy="539736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28594" y="1396965"/>
            <a:ext cx="1904952" cy="990575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792" y="1523961"/>
            <a:ext cx="1752556" cy="76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日付を選ぶだけ</a:t>
            </a:r>
          </a:p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休み明けは自動判定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594" y="2730431"/>
            <a:ext cx="1904952" cy="990575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792" y="2857428"/>
            <a:ext cx="1752556" cy="76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予報を自動取得</a:t>
            </a:r>
          </a:p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起動時刻ごとの外気温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594" y="4063898"/>
            <a:ext cx="1904952" cy="1219169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792" y="4216294"/>
            <a:ext cx="1752556" cy="965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推奨起動時刻</a:t>
            </a:r>
          </a:p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内訳・トレードオフ</a:t>
            </a:r>
          </a:p>
          <a:p>
            <a:pPr algn="ctr">
              <a:defRPr sz="1200" b="1">
                <a:solidFill>
                  <a:srgbClr val="111111"/>
                </a:solidFill>
                <a:latin typeface="BIZ UDPGothic"/>
              </a:defRPr>
            </a:pPr>
            <a:r>
              <a:t>外挿警告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247" y="2603434"/>
            <a:ext cx="1904952" cy="30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111111"/>
                </a:solidFill>
                <a:latin typeface="BIZ UDPGothic"/>
              </a:defRPr>
            </a:pPr>
            <a:r>
              <a:t>外気温の推移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247" y="3873403"/>
            <a:ext cx="1904952" cy="888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111111"/>
                </a:solidFill>
                <a:latin typeface="BIZ UDPGothic"/>
              </a:defRPr>
            </a:pPr>
            <a:r>
              <a:t>起動時刻と</a:t>
            </a:r>
          </a:p>
          <a:p>
            <a:pPr algn="l">
              <a:defRPr sz="1400" b="1">
                <a:solidFill>
                  <a:srgbClr val="111111"/>
                </a:solidFill>
                <a:latin typeface="BIZ UDPGothic"/>
              </a:defRPr>
            </a:pPr>
            <a:r>
              <a:t>消費電力・到達</a:t>
            </a:r>
          </a:p>
          <a:p>
            <a:pPr algn="l">
              <a:defRPr sz="1400" b="1">
                <a:solidFill>
                  <a:srgbClr val="111111"/>
                </a:solidFill>
                <a:latin typeface="BIZ UDPGothic"/>
              </a:defRPr>
            </a:pPr>
            <a:r>
              <a:t>時刻の関係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792" y="6299042"/>
            <a:ext cx="11429714" cy="2539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C8102E"/>
                </a:solidFill>
                <a:latin typeface="BIZ UDPGothic"/>
              </a:defRPr>
            </a:pPr>
            <a:r>
              <a:t>※ 画面の数値はダミーデータによる表示例。実データでの結果は前のスライド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7. 課題と今後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990575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1320766"/>
            <a:ext cx="10794730" cy="16509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1. 休み明けの補正は 1 件からの逆算。同じデータでは検証できない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2. 室温ログが 0.5℃ 刻み。到達時刻の特定に幅が出る（平均誤差 3.7 分と同程度）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3. 同じ 2 週間に対するバックテスト。前向きの運用で確かめるのはこれから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4. 未達をどこまで許すかは技術では決まらない。安全側の余裕の幅は現場と合意して決める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3098722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今後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79" y="3428914"/>
            <a:ext cx="10794730" cy="1269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・暖房期、他フロア・他棟：損失の向きは同じ。係数を取り直せば枠組みは流用できる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・外気湿度：精度向上がわずかで今回は見送った。データが増えれば再評価する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・再学習：係数はファイル経由で画面へ渡す構造。学習し直せば画面が自動で追随する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8482" y="4825879"/>
            <a:ext cx="10794730" cy="1269968"/>
          </a:xfrm>
          <a:prstGeom prst="roundRect">
            <a:avLst/>
          </a:prstGeom>
          <a:solidFill>
            <a:srgbClr val="EDF5FB"/>
          </a:solidFill>
          <a:ln w="22860">
            <a:solidFill>
              <a:srgbClr val="7BA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476" y="5054473"/>
            <a:ext cx="10413739" cy="965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BIZ UDPGothic"/>
              </a:defRPr>
            </a:pPr>
            <a:r>
              <a:t>この方式は「予測を当てる」よりも「外したときに安全側に倒れる」ことを優先している</a:t>
            </a:r>
          </a:p>
          <a:p>
            <a:pPr algn="l">
              <a:defRPr sz="1500" b="0">
                <a:solidFill>
                  <a:srgbClr val="111111"/>
                </a:solidFill>
                <a:latin typeface="BIZ UDPGothic"/>
              </a:defRPr>
            </a:pPr>
            <a:r>
              <a:t>精度を上げる余地は残るが、いま現場で使えるのは、限界を画面に出して担当者が判断できる形のほう。</a:t>
            </a:r>
          </a:p>
          <a:p>
            <a:pPr algn="l">
              <a:defRPr sz="1500" b="0">
                <a:solidFill>
                  <a:srgbClr val="111111"/>
                </a:solidFill>
                <a:latin typeface="BIZ UDPGothic"/>
              </a:defRPr>
            </a:pPr>
            <a:r>
              <a:t>実データで前向きに運用しながら、余裕の幅を詰めていくのが次の段階。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4185"/>
          </a:xfrm>
          <a:prstGeom prst="rect">
            <a:avLst/>
          </a:prstGeom>
          <a:solidFill>
            <a:srgbClr val="0B3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792" y="101597"/>
            <a:ext cx="990575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8. まとめと所感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2717" y="101597"/>
            <a:ext cx="698482" cy="406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BIZ UDPGothic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73803" y="6629234"/>
            <a:ext cx="4013099" cy="2031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AAAAAA"/>
                </a:solidFill>
                <a:latin typeface="BIZ UDPGothic"/>
              </a:defRPr>
            </a:pPr>
            <a:r>
              <a:t>© Panasonic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485" y="990575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1320766"/>
            <a:ext cx="10794730" cy="1269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1. 現行運用では毎朝 1 時間以上冷やしすぎていた</a:t>
            </a:r>
          </a:p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2. 前日に分かる気温予報から予冷時間を読み、内訳を分けて安全側に積む</a:t>
            </a:r>
          </a:p>
          <a:p>
            <a:pPr algn="l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3. 実データで 到達率 100 %、始業前電力 約 36 % 削減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2844728"/>
            <a:ext cx="6349841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■ 所感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79" y="3174920"/>
            <a:ext cx="10794730" cy="16509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・予測の精度より先に、「いつ・誰が・何を知った状態で決めるか」が設計を決めた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・未達と冷やしすぎで損失が違う以上、平均誤差だけでは運用の基準を設計できない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・使う人が最も避けたいことを知って、推奨値だけでなく根拠と限界を画面に出す設計になった</a:t>
            </a:r>
          </a:p>
          <a:p>
            <a:pPr algn="l">
              <a:defRPr sz="1500" b="0">
                <a:solidFill>
                  <a:srgbClr val="222222"/>
                </a:solidFill>
                <a:latin typeface="BIZ UDPGothic"/>
              </a:defRPr>
            </a:pPr>
            <a:r>
              <a:t>・実験住宅の見学など、机の外で設備に触れる機会もいただいた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485" y="5460863"/>
            <a:ext cx="11048723" cy="330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0">
                <a:solidFill>
                  <a:srgbClr val="222222"/>
                </a:solidFill>
                <a:latin typeface="BIZ UDPGothic"/>
              </a:defRPr>
            </a:pPr>
            <a:r>
              <a:t>ご指導いただいたメンターの皆様、関係者の皆様に心より御礼申し上げます。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485" y="5867253"/>
            <a:ext cx="11048723" cy="355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111111"/>
                </a:solidFill>
                <a:latin typeface="BIZ UDPGothic"/>
              </a:defRPr>
            </a:pPr>
            <a:r>
              <a:t>ご清聴ありがとうございました。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