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901952" cy="68580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0"/>
            <a:ext cx="1371600" cy="1097280"/>
          </a:xfrm>
          <a:prstGeom prst="rect">
            <a:avLst/>
          </a:prstGeom>
          <a:noFill/>
        </p:spPr>
        <p:txBody>
          <a:bodyPr wrap="none">
            <a:spAutoFit/>
          </a:bodyPr>
          <a:lstStyle/>
          <a:p>
            <a:pPr>
              <a:defRPr sz="1400" b="1">
                <a:solidFill>
                  <a:srgbClr val="FFFFFF"/>
                </a:solidFill>
                <a:latin typeface="BIZ UDPGothic"/>
              </a:defRPr>
            </a:pPr>
            <a:r>
              <a:t>Electric</a:t>
            </a:r>
            <a:br/>
            <a:r>
              <a:t>Works</a:t>
            </a:r>
            <a:br/>
            <a:r>
              <a:t>Company</a:t>
            </a:r>
          </a:p>
        </p:txBody>
      </p:sp>
      <p:sp>
        <p:nvSpPr>
          <p:cNvPr id="4" name="TextBox 3"/>
          <p:cNvSpPr txBox="1"/>
          <p:nvPr/>
        </p:nvSpPr>
        <p:spPr>
          <a:xfrm>
            <a:off x="320040" y="6035040"/>
            <a:ext cx="1371600" cy="457200"/>
          </a:xfrm>
          <a:prstGeom prst="rect">
            <a:avLst/>
          </a:prstGeom>
          <a:noFill/>
        </p:spPr>
        <p:txBody>
          <a:bodyPr wrap="none">
            <a:spAutoFit/>
          </a:bodyPr>
          <a:lstStyle/>
          <a:p>
            <a:pPr>
              <a:defRPr sz="1800" b="1">
                <a:solidFill>
                  <a:srgbClr val="FFFFFF"/>
                </a:solidFill>
                <a:latin typeface="BIZ UDPGothic"/>
              </a:defRPr>
            </a:pPr>
            <a:r>
              <a:t>Panasonic</a:t>
            </a:r>
          </a:p>
        </p:txBody>
      </p:sp>
      <p:sp>
        <p:nvSpPr>
          <p:cNvPr id="5" name="TextBox 4"/>
          <p:cNvSpPr txBox="1"/>
          <p:nvPr/>
        </p:nvSpPr>
        <p:spPr>
          <a:xfrm>
            <a:off x="2560320" y="2011680"/>
            <a:ext cx="8686800" cy="1645920"/>
          </a:xfrm>
          <a:prstGeom prst="rect">
            <a:avLst/>
          </a:prstGeom>
          <a:noFill/>
        </p:spPr>
        <p:txBody>
          <a:bodyPr wrap="none">
            <a:spAutoFit/>
          </a:bodyPr>
          <a:lstStyle/>
          <a:p>
            <a:pPr>
              <a:defRPr sz="2500" b="1">
                <a:solidFill>
                  <a:srgbClr val="111111"/>
                </a:solidFill>
                <a:latin typeface="BIZ UDPGothic"/>
              </a:defRPr>
            </a:pPr>
            <a:r>
              <a:t>2026年度夏季インターンシップ成果報告会</a:t>
            </a:r>
          </a:p>
          <a:p>
            <a:pPr>
              <a:spcBef>
                <a:spcPts val="2000"/>
              </a:spcBef>
              <a:defRPr sz="2200" b="1">
                <a:solidFill>
                  <a:srgbClr val="111111"/>
                </a:solidFill>
                <a:latin typeface="BIZ UDPGothic"/>
              </a:defRPr>
            </a:pPr>
            <a:r>
              <a:t>非住宅省エネ効果可視化アプリの開発</a:t>
            </a:r>
          </a:p>
        </p:txBody>
      </p:sp>
      <p:sp>
        <p:nvSpPr>
          <p:cNvPr id="6" name="TextBox 5"/>
          <p:cNvSpPr txBox="1"/>
          <p:nvPr/>
        </p:nvSpPr>
        <p:spPr>
          <a:xfrm>
            <a:off x="5486400" y="3474720"/>
            <a:ext cx="4572000" cy="2560320"/>
          </a:xfrm>
          <a:prstGeom prst="rect">
            <a:avLst/>
          </a:prstGeom>
          <a:noFill/>
        </p:spPr>
        <p:txBody>
          <a:bodyPr wrap="none">
            <a:spAutoFit/>
          </a:bodyPr>
          <a:lstStyle/>
          <a:p>
            <a:pPr algn="r">
              <a:spcBef>
                <a:spcPts val="0"/>
              </a:spcBef>
              <a:defRPr sz="1200" b="0">
                <a:solidFill>
                  <a:srgbClr val="333333"/>
                </a:solidFill>
                <a:latin typeface="BIZ UDPGothic"/>
              </a:defRPr>
            </a:pPr>
            <a:r>
              <a:t>実習部署：システムソリューション開発センター</a:t>
            </a:r>
          </a:p>
          <a:p>
            <a:pPr algn="r">
              <a:spcBef>
                <a:spcPts val="200"/>
              </a:spcBef>
              <a:defRPr sz="1200" b="0">
                <a:solidFill>
                  <a:srgbClr val="333333"/>
                </a:solidFill>
                <a:latin typeface="BIZ UDPGothic"/>
              </a:defRPr>
            </a:pPr>
            <a:r>
              <a:t>エンジニアリングアプリケーション開発部</a:t>
            </a:r>
          </a:p>
          <a:p>
            <a:pPr algn="r">
              <a:spcBef>
                <a:spcPts val="1600"/>
              </a:spcBef>
              <a:defRPr sz="1300" b="0">
                <a:solidFill>
                  <a:srgbClr val="333333"/>
                </a:solidFill>
                <a:latin typeface="BIZ UDPGothic"/>
              </a:defRPr>
            </a:pPr>
            <a:r>
              <a:t>2026/9/4</a:t>
            </a:r>
          </a:p>
          <a:p>
            <a:pPr algn="r">
              <a:spcBef>
                <a:spcPts val="600"/>
              </a:spcBef>
              <a:defRPr sz="1300" b="0">
                <a:solidFill>
                  <a:srgbClr val="333333"/>
                </a:solidFill>
                <a:latin typeface="BIZ UDPGothic"/>
              </a:defRPr>
            </a:pPr>
            <a:r>
              <a:t>北海道大学大学院1年</a:t>
            </a:r>
          </a:p>
          <a:p>
            <a:pPr algn="r">
              <a:spcBef>
                <a:spcPts val="200"/>
              </a:spcBef>
              <a:defRPr sz="1300" b="0">
                <a:solidFill>
                  <a:srgbClr val="333333"/>
                </a:solidFill>
                <a:latin typeface="BIZ UDPGothic"/>
              </a:defRPr>
            </a:pPr>
            <a:r>
              <a:t>情報科学専攻</a:t>
            </a:r>
          </a:p>
          <a:p>
            <a:pPr algn="r">
              <a:spcBef>
                <a:spcPts val="600"/>
              </a:spcBef>
              <a:defRPr sz="1600" b="1">
                <a:solidFill>
                  <a:srgbClr val="333333"/>
                </a:solidFill>
                <a:latin typeface="BIZ UDPGothic"/>
              </a:defRPr>
            </a:pPr>
            <a:r>
              <a:t>越海斗</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30352"/>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11480"/>
          </a:xfrm>
          <a:prstGeom prst="rect">
            <a:avLst/>
          </a:prstGeom>
          <a:noFill/>
        </p:spPr>
        <p:txBody>
          <a:bodyPr wrap="square">
            <a:spAutoFit/>
          </a:bodyPr>
          <a:lstStyle/>
          <a:p>
            <a:pPr>
              <a:defRPr sz="1800" b="1">
                <a:solidFill>
                  <a:srgbClr val="FFFFFF"/>
                </a:solidFill>
                <a:latin typeface="BIZ UDPGothic"/>
              </a:defRPr>
            </a:pPr>
            <a:r>
              <a:t>1. 自己紹介</a:t>
            </a:r>
          </a:p>
        </p:txBody>
      </p:sp>
      <p:sp>
        <p:nvSpPr>
          <p:cNvPr id="4" name="Rounded Rectangle 3"/>
          <p:cNvSpPr/>
          <p:nvPr/>
        </p:nvSpPr>
        <p:spPr>
          <a:xfrm>
            <a:off x="10789920" y="128016"/>
            <a:ext cx="484632" cy="27432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E8F1F8"/>
                </a:solidFill>
                <a:latin typeface="BIZ UDPGothic"/>
              </a:defRPr>
            </a:pPr>
            <a:r>
              <a:t>IUO</a:t>
            </a:r>
          </a:p>
        </p:txBody>
      </p:sp>
      <p:sp>
        <p:nvSpPr>
          <p:cNvPr id="5" name="TextBox 4"/>
          <p:cNvSpPr txBox="1"/>
          <p:nvPr/>
        </p:nvSpPr>
        <p:spPr>
          <a:xfrm>
            <a:off x="11430000" y="73152"/>
            <a:ext cx="548640" cy="411480"/>
          </a:xfrm>
          <a:prstGeom prst="rect">
            <a:avLst/>
          </a:prstGeom>
          <a:noFill/>
        </p:spPr>
        <p:txBody>
          <a:bodyPr wrap="none">
            <a:spAutoFit/>
          </a:bodyPr>
          <a:lstStyle/>
          <a:p>
            <a:pPr algn="ctr">
              <a:defRPr sz="1800" b="1">
                <a:solidFill>
                  <a:srgbClr val="FFFFFF"/>
                </a:solidFill>
                <a:latin typeface="BIZ UDPGothic"/>
              </a:defRPr>
            </a:pPr>
            <a:r>
              <a:t>2</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800">
                <a:solidFill>
                  <a:srgbClr val="666666"/>
                </a:solidFill>
                <a:latin typeface="BIZ UDPGothic"/>
              </a:defRPr>
            </a:pPr>
            <a:r>
              <a:t>© Panasonic Corporation</a:t>
            </a:r>
          </a:p>
        </p:txBody>
      </p:sp>
      <p:pic>
        <p:nvPicPr>
          <p:cNvPr id="7" name="Picture 6" descr="profile_person.png"/>
          <p:cNvPicPr>
            <a:picLocks noChangeAspect="1"/>
          </p:cNvPicPr>
          <p:nvPr/>
        </p:nvPicPr>
        <p:blipFill>
          <a:blip r:embed="rId2"/>
          <a:stretch>
            <a:fillRect/>
          </a:stretch>
        </p:blipFill>
        <p:spPr>
          <a:xfrm>
            <a:off x="1005840" y="1143000"/>
            <a:ext cx="2286000" cy="2926080"/>
          </a:xfrm>
          <a:prstGeom prst="rect">
            <a:avLst/>
          </a:prstGeom>
        </p:spPr>
      </p:pic>
      <p:pic>
        <p:nvPicPr>
          <p:cNvPr id="8" name="Picture 7" descr="profile_train.png"/>
          <p:cNvPicPr>
            <a:picLocks noChangeAspect="1"/>
          </p:cNvPicPr>
          <p:nvPr/>
        </p:nvPicPr>
        <p:blipFill>
          <a:blip r:embed="rId3"/>
          <a:stretch>
            <a:fillRect/>
          </a:stretch>
        </p:blipFill>
        <p:spPr>
          <a:xfrm>
            <a:off x="2926080" y="3291840"/>
            <a:ext cx="1828800" cy="1371600"/>
          </a:xfrm>
          <a:prstGeom prst="rect">
            <a:avLst/>
          </a:prstGeom>
        </p:spPr>
      </p:pic>
      <p:sp>
        <p:nvSpPr>
          <p:cNvPr id="9" name="TextBox 8"/>
          <p:cNvSpPr txBox="1"/>
          <p:nvPr/>
        </p:nvSpPr>
        <p:spPr>
          <a:xfrm>
            <a:off x="5486400" y="1280160"/>
            <a:ext cx="6217920" cy="4754880"/>
          </a:xfrm>
          <a:prstGeom prst="rect">
            <a:avLst/>
          </a:prstGeom>
          <a:noFill/>
        </p:spPr>
        <p:txBody>
          <a:bodyPr wrap="none">
            <a:spAutoFit/>
          </a:bodyPr>
          <a:lstStyle/>
          <a:p>
            <a:pPr>
              <a:spcBef>
                <a:spcPts val="0"/>
              </a:spcBef>
              <a:defRPr sz="1400" b="1">
                <a:solidFill>
                  <a:srgbClr val="111111"/>
                </a:solidFill>
                <a:latin typeface="BIZ UDPGothic"/>
              </a:defRPr>
            </a:pPr>
            <a:r>
              <a:t>■ インターンシップに参加した理由：</a:t>
            </a:r>
          </a:p>
          <a:p>
            <a:pPr>
              <a:spcBef>
                <a:spcPts val="600"/>
              </a:spcBef>
              <a:defRPr sz="1300" b="0">
                <a:solidFill>
                  <a:srgbClr val="333333"/>
                </a:solidFill>
                <a:latin typeface="BIZ UDPGothic"/>
              </a:defRPr>
            </a:pPr>
            <a:r>
              <a:t>①大学では扱えない実データに触れる</a:t>
            </a:r>
          </a:p>
          <a:p>
            <a:pPr>
              <a:spcBef>
                <a:spcPts val="400"/>
              </a:spcBef>
              <a:defRPr sz="1300" b="0">
                <a:solidFill>
                  <a:srgbClr val="333333"/>
                </a:solidFill>
                <a:latin typeface="BIZ UDPGothic"/>
              </a:defRPr>
            </a:pPr>
            <a:r>
              <a:t>②お客様目線での開発</a:t>
            </a:r>
          </a:p>
          <a:p>
            <a:pPr>
              <a:spcBef>
                <a:spcPts val="400"/>
              </a:spcBef>
              <a:defRPr sz="1300" b="0">
                <a:solidFill>
                  <a:srgbClr val="333333"/>
                </a:solidFill>
                <a:latin typeface="BIZ UDPGothic"/>
              </a:defRPr>
            </a:pPr>
            <a:r>
              <a:t>③関西の雰囲気を知る</a:t>
            </a:r>
          </a:p>
          <a:p>
            <a:pPr>
              <a:spcBef>
                <a:spcPts val="2200"/>
              </a:spcBef>
              <a:defRPr sz="1400" b="1">
                <a:solidFill>
                  <a:srgbClr val="111111"/>
                </a:solidFill>
                <a:latin typeface="BIZ UDPGothic"/>
              </a:defRPr>
            </a:pPr>
            <a:r>
              <a:t>■ 大学での研究：</a:t>
            </a:r>
          </a:p>
          <a:p>
            <a:pPr>
              <a:spcBef>
                <a:spcPts val="600"/>
              </a:spcBef>
              <a:defRPr sz="1300" b="0">
                <a:solidFill>
                  <a:srgbClr val="333333"/>
                </a:solidFill>
                <a:latin typeface="BIZ UDPGothic"/>
              </a:defRPr>
            </a:pPr>
            <a:r>
              <a:t>遺伝子ネットワークモデルの制御</a:t>
            </a:r>
          </a:p>
          <a:p>
            <a:pPr>
              <a:spcBef>
                <a:spcPts val="400"/>
              </a:spcBef>
              <a:defRPr sz="1300" b="0">
                <a:solidFill>
                  <a:srgbClr val="333333"/>
                </a:solidFill>
                <a:latin typeface="BIZ UDPGothic"/>
              </a:defRPr>
            </a:pPr>
            <a:r>
              <a:t>病気を治すための投薬順序の最適化</a:t>
            </a:r>
          </a:p>
          <a:p>
            <a:pPr>
              <a:spcBef>
                <a:spcPts val="2200"/>
              </a:spcBef>
              <a:defRPr sz="1400" b="1">
                <a:solidFill>
                  <a:srgbClr val="111111"/>
                </a:solidFill>
                <a:latin typeface="BIZ UDPGothic"/>
              </a:defRPr>
            </a:pPr>
            <a:r>
              <a:t>■ 趣味：</a:t>
            </a:r>
          </a:p>
          <a:p>
            <a:pPr>
              <a:spcBef>
                <a:spcPts val="600"/>
              </a:spcBef>
              <a:defRPr sz="1300" b="0">
                <a:solidFill>
                  <a:srgbClr val="333333"/>
                </a:solidFill>
                <a:latin typeface="BIZ UDPGothic"/>
              </a:defRPr>
            </a:pPr>
            <a:r>
              <a:t>鉄道旅行（乗り鉄）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30352"/>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11480"/>
          </a:xfrm>
          <a:prstGeom prst="rect">
            <a:avLst/>
          </a:prstGeom>
          <a:noFill/>
        </p:spPr>
        <p:txBody>
          <a:bodyPr wrap="square">
            <a:spAutoFit/>
          </a:bodyPr>
          <a:lstStyle/>
          <a:p>
            <a:pPr>
              <a:defRPr sz="1800" b="1">
                <a:solidFill>
                  <a:srgbClr val="FFFFFF"/>
                </a:solidFill>
                <a:latin typeface="BIZ UDPGothic"/>
              </a:defRPr>
            </a:pPr>
            <a:r>
              <a:t>2. 背景・目的</a:t>
            </a:r>
          </a:p>
        </p:txBody>
      </p:sp>
      <p:sp>
        <p:nvSpPr>
          <p:cNvPr id="4" name="Rounded Rectangle 3"/>
          <p:cNvSpPr/>
          <p:nvPr/>
        </p:nvSpPr>
        <p:spPr>
          <a:xfrm>
            <a:off x="10789920" y="128016"/>
            <a:ext cx="484632" cy="27432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E8F1F8"/>
                </a:solidFill>
                <a:latin typeface="BIZ UDPGothic"/>
              </a:defRPr>
            </a:pPr>
            <a:r>
              <a:t>IUO</a:t>
            </a:r>
          </a:p>
        </p:txBody>
      </p:sp>
      <p:sp>
        <p:nvSpPr>
          <p:cNvPr id="5" name="TextBox 4"/>
          <p:cNvSpPr txBox="1"/>
          <p:nvPr/>
        </p:nvSpPr>
        <p:spPr>
          <a:xfrm>
            <a:off x="11430000" y="73152"/>
            <a:ext cx="548640" cy="411480"/>
          </a:xfrm>
          <a:prstGeom prst="rect">
            <a:avLst/>
          </a:prstGeom>
          <a:noFill/>
        </p:spPr>
        <p:txBody>
          <a:bodyPr wrap="none">
            <a:spAutoFit/>
          </a:bodyPr>
          <a:lstStyle/>
          <a:p>
            <a:pPr algn="ctr">
              <a:defRPr sz="1800" b="1">
                <a:solidFill>
                  <a:srgbClr val="FFFFFF"/>
                </a:solidFill>
                <a:latin typeface="BIZ UDPGothic"/>
              </a:defRPr>
            </a:pPr>
            <a:r>
              <a:t>3</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800">
                <a:solidFill>
                  <a:srgbClr val="666666"/>
                </a:solidFill>
                <a:latin typeface="BIZ UDPGothic"/>
              </a:defRPr>
            </a:pPr>
            <a:r>
              <a:t>© Panasonic Corporation</a:t>
            </a:r>
          </a:p>
        </p:txBody>
      </p:sp>
      <p:sp>
        <p:nvSpPr>
          <p:cNvPr id="7" name="TextBox 6"/>
          <p:cNvSpPr txBox="1"/>
          <p:nvPr/>
        </p:nvSpPr>
        <p:spPr>
          <a:xfrm>
            <a:off x="731520" y="868680"/>
            <a:ext cx="10698480" cy="2011680"/>
          </a:xfrm>
          <a:prstGeom prst="rect">
            <a:avLst/>
          </a:prstGeom>
          <a:noFill/>
        </p:spPr>
        <p:txBody>
          <a:bodyPr wrap="none">
            <a:spAutoFit/>
          </a:bodyPr>
          <a:lstStyle/>
          <a:p>
            <a:pPr>
              <a:spcBef>
                <a:spcPts val="0"/>
              </a:spcBef>
              <a:defRPr sz="1400" b="1">
                <a:solidFill>
                  <a:srgbClr val="111111"/>
                </a:solidFill>
                <a:latin typeface="BIZ UDPGothic"/>
              </a:defRPr>
            </a:pPr>
            <a:r>
              <a:t>■ 背景</a:t>
            </a:r>
          </a:p>
          <a:p>
            <a:pPr>
              <a:spcBef>
                <a:spcPts val="600"/>
              </a:spcBef>
              <a:defRPr sz="1250" b="0">
                <a:solidFill>
                  <a:srgbClr val="333333"/>
                </a:solidFill>
                <a:latin typeface="BIZ UDPGothic"/>
              </a:defRPr>
            </a:pPr>
            <a:r>
              <a:t>・近年、気候変動への対応やカーボンニュートラルの実現に向け、ESG※1投資が世界的に拡大している</a:t>
            </a:r>
          </a:p>
          <a:p>
            <a:pPr>
              <a:spcBef>
                <a:spcPts val="400"/>
              </a:spcBef>
              <a:defRPr sz="1250" b="0">
                <a:solidFill>
                  <a:srgbClr val="333333"/>
                </a:solidFill>
                <a:latin typeface="BIZ UDPGothic"/>
              </a:defRPr>
            </a:pPr>
            <a:r>
              <a:t>・企業価値や資本市場での評価に影響する重要な要素となっている</a:t>
            </a:r>
          </a:p>
        </p:txBody>
      </p:sp>
      <p:sp>
        <p:nvSpPr>
          <p:cNvPr id="8" name="TextBox 7"/>
          <p:cNvSpPr txBox="1"/>
          <p:nvPr/>
        </p:nvSpPr>
        <p:spPr>
          <a:xfrm>
            <a:off x="9144000" y="1280160"/>
            <a:ext cx="2560320" cy="914400"/>
          </a:xfrm>
          <a:prstGeom prst="rect">
            <a:avLst/>
          </a:prstGeom>
          <a:noFill/>
        </p:spPr>
        <p:txBody>
          <a:bodyPr wrap="none">
            <a:spAutoFit/>
          </a:bodyPr>
          <a:lstStyle/>
          <a:p>
            <a:pPr>
              <a:spcBef>
                <a:spcPts val="0"/>
              </a:spcBef>
              <a:defRPr sz="800" b="0">
                <a:solidFill>
                  <a:srgbClr val="666666"/>
                </a:solidFill>
                <a:latin typeface="BIZ UDPGothic"/>
              </a:defRPr>
            </a:pPr>
            <a:r>
              <a:t>※1 E(nvironment)：環境…気候変動など</a:t>
            </a:r>
            <a:br/>
            <a:r>
              <a:t>   S(ocial)：社会…働き方の改善など</a:t>
            </a:r>
            <a:br/>
            <a:r>
              <a:t>   G(overnance)：ガバナンス…法令遵守など</a:t>
            </a:r>
          </a:p>
        </p:txBody>
      </p:sp>
      <p:sp>
        <p:nvSpPr>
          <p:cNvPr id="9" name="Down Arrow 8"/>
          <p:cNvSpPr/>
          <p:nvPr/>
        </p:nvSpPr>
        <p:spPr>
          <a:xfrm>
            <a:off x="5852160" y="1828800"/>
            <a:ext cx="320040" cy="320040"/>
          </a:xfrm>
          <a:prstGeom prst="downArrow">
            <a:avLst/>
          </a:prstGeom>
          <a:solidFill>
            <a:srgbClr val="1E64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103120" y="2240280"/>
            <a:ext cx="7955279" cy="50292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3355"/>
                </a:solidFill>
                <a:latin typeface="BIZ UDPGothic"/>
              </a:defRPr>
            </a:pPr>
            <a:r>
              <a:t>省エネ施策の一つとして、熱源の起動時刻をどこまで後ろ倒しできるか検討</a:t>
            </a:r>
          </a:p>
        </p:txBody>
      </p:sp>
      <p:sp>
        <p:nvSpPr>
          <p:cNvPr id="11" name="TextBox 10"/>
          <p:cNvSpPr txBox="1"/>
          <p:nvPr/>
        </p:nvSpPr>
        <p:spPr>
          <a:xfrm>
            <a:off x="731520" y="3017520"/>
            <a:ext cx="10698480" cy="1371600"/>
          </a:xfrm>
          <a:prstGeom prst="rect">
            <a:avLst/>
          </a:prstGeom>
          <a:noFill/>
        </p:spPr>
        <p:txBody>
          <a:bodyPr wrap="none">
            <a:spAutoFit/>
          </a:bodyPr>
          <a:lstStyle/>
          <a:p>
            <a:pPr>
              <a:spcBef>
                <a:spcPts val="0"/>
              </a:spcBef>
              <a:defRPr sz="1400" b="1">
                <a:solidFill>
                  <a:srgbClr val="111111"/>
                </a:solidFill>
                <a:latin typeface="BIZ UDPGothic"/>
              </a:defRPr>
            </a:pPr>
            <a:r>
              <a:t>■ 目的</a:t>
            </a:r>
          </a:p>
          <a:p>
            <a:pPr>
              <a:spcBef>
                <a:spcPts val="600"/>
              </a:spcBef>
              <a:defRPr sz="1250" b="0">
                <a:solidFill>
                  <a:srgbClr val="333333"/>
                </a:solidFill>
                <a:latin typeface="BIZ UDPGothic"/>
              </a:defRPr>
            </a:pPr>
            <a:r>
              <a:t>・熱源起動時刻をデータに基づいて最適化し、「確実な温度到達」と「早朝予冷の無駄削減」を両立する</a:t>
            </a:r>
          </a:p>
          <a:p>
            <a:pPr>
              <a:spcBef>
                <a:spcPts val="400"/>
              </a:spcBef>
              <a:defRPr sz="1250" b="0">
                <a:solidFill>
                  <a:srgbClr val="333333"/>
                </a:solidFill>
                <a:latin typeface="BIZ UDPGothic"/>
              </a:defRPr>
            </a:pPr>
            <a:r>
              <a:t>・それらの情報をわかりやすく可視化することで、ビルメンテナンス(BM)が根拠を持って安全に判断できる意思決定支援システムを構築する</a:t>
            </a:r>
          </a:p>
        </p:txBody>
      </p:sp>
      <p:sp>
        <p:nvSpPr>
          <p:cNvPr id="12" name="Rounded Rectangle 11"/>
          <p:cNvSpPr/>
          <p:nvPr/>
        </p:nvSpPr>
        <p:spPr>
          <a:xfrm>
            <a:off x="2377440" y="4297680"/>
            <a:ext cx="1828800" cy="822960"/>
          </a:xfrm>
          <a:prstGeom prst="roundRect">
            <a:avLst/>
          </a:prstGeom>
          <a:solidFill>
            <a:srgbClr val="D9EBF7"/>
          </a:solidFill>
          <a:ln w="19050">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0B3968"/>
                </a:solidFill>
                <a:latin typeface="BIZ UDPGothic"/>
              </a:defRPr>
            </a:pPr>
            <a:r>
              <a:t>必要な</a:t>
            </a:r>
            <a:br/>
            <a:r>
              <a:t>予冷時間の予測</a:t>
            </a:r>
          </a:p>
        </p:txBody>
      </p:sp>
      <p:sp>
        <p:nvSpPr>
          <p:cNvPr id="13" name="Right Arrow 12"/>
          <p:cNvSpPr/>
          <p:nvPr/>
        </p:nvSpPr>
        <p:spPr>
          <a:xfrm>
            <a:off x="4480560" y="4572000"/>
            <a:ext cx="457200" cy="274320"/>
          </a:xfrm>
          <a:prstGeom prst="rightArrow">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12080" y="4297680"/>
            <a:ext cx="1828800" cy="822960"/>
          </a:xfrm>
          <a:prstGeom prst="roundRect">
            <a:avLst/>
          </a:prstGeom>
          <a:solidFill>
            <a:srgbClr val="D9EBF7"/>
          </a:solidFill>
          <a:ln w="19050">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0B3968"/>
                </a:solidFill>
                <a:latin typeface="BIZ UDPGothic"/>
              </a:defRPr>
            </a:pPr>
            <a:r>
              <a:t>削減効果の</a:t>
            </a:r>
            <a:br/>
            <a:r>
              <a:t>可視化</a:t>
            </a:r>
          </a:p>
        </p:txBody>
      </p:sp>
      <p:sp>
        <p:nvSpPr>
          <p:cNvPr id="15" name="Right Arrow 14"/>
          <p:cNvSpPr/>
          <p:nvPr/>
        </p:nvSpPr>
        <p:spPr>
          <a:xfrm>
            <a:off x="7315200" y="4572000"/>
            <a:ext cx="457200" cy="274320"/>
          </a:xfrm>
          <a:prstGeom prst="rightArrow">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46720" y="4297680"/>
            <a:ext cx="1828800" cy="822960"/>
          </a:xfrm>
          <a:prstGeom prst="roundRect">
            <a:avLst/>
          </a:prstGeom>
          <a:solidFill>
            <a:srgbClr val="D9EBF7"/>
          </a:solidFill>
          <a:ln w="19050">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0B3968"/>
                </a:solidFill>
                <a:latin typeface="BIZ UDPGothic"/>
              </a:defRPr>
            </a:pPr>
            <a:r>
              <a:t>BM</a:t>
            </a:r>
            <a:br/>
            <a:r>
              <a:t>意思決定</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30352"/>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11480"/>
          </a:xfrm>
          <a:prstGeom prst="rect">
            <a:avLst/>
          </a:prstGeom>
          <a:noFill/>
        </p:spPr>
        <p:txBody>
          <a:bodyPr wrap="square">
            <a:spAutoFit/>
          </a:bodyPr>
          <a:lstStyle/>
          <a:p>
            <a:pPr>
              <a:defRPr sz="1800" b="1">
                <a:solidFill>
                  <a:srgbClr val="FFFFFF"/>
                </a:solidFill>
                <a:latin typeface="BIZ UDPGothic"/>
              </a:defRPr>
            </a:pPr>
            <a:r>
              <a:t>3. データ説明</a:t>
            </a:r>
          </a:p>
        </p:txBody>
      </p:sp>
      <p:sp>
        <p:nvSpPr>
          <p:cNvPr id="4" name="Rounded Rectangle 3"/>
          <p:cNvSpPr/>
          <p:nvPr/>
        </p:nvSpPr>
        <p:spPr>
          <a:xfrm>
            <a:off x="10789920" y="128016"/>
            <a:ext cx="484632" cy="27432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E8F1F8"/>
                </a:solidFill>
                <a:latin typeface="BIZ UDPGothic"/>
              </a:defRPr>
            </a:pPr>
            <a:r>
              <a:t>IUO</a:t>
            </a:r>
          </a:p>
        </p:txBody>
      </p:sp>
      <p:sp>
        <p:nvSpPr>
          <p:cNvPr id="5" name="TextBox 4"/>
          <p:cNvSpPr txBox="1"/>
          <p:nvPr/>
        </p:nvSpPr>
        <p:spPr>
          <a:xfrm>
            <a:off x="11430000" y="73152"/>
            <a:ext cx="548640" cy="411480"/>
          </a:xfrm>
          <a:prstGeom prst="rect">
            <a:avLst/>
          </a:prstGeom>
          <a:noFill/>
        </p:spPr>
        <p:txBody>
          <a:bodyPr wrap="none">
            <a:spAutoFit/>
          </a:bodyPr>
          <a:lstStyle/>
          <a:p>
            <a:pPr algn="ctr">
              <a:defRPr sz="1800" b="1">
                <a:solidFill>
                  <a:srgbClr val="FFFFFF"/>
                </a:solidFill>
                <a:latin typeface="BIZ UDPGothic"/>
              </a:defRPr>
            </a:pPr>
            <a:r>
              <a:t>4</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800">
                <a:solidFill>
                  <a:srgbClr val="666666"/>
                </a:solidFill>
                <a:latin typeface="BIZ UDPGothic"/>
              </a:defRPr>
            </a:pPr>
            <a:r>
              <a:t>© Panasonic Corporation</a:t>
            </a:r>
          </a:p>
        </p:txBody>
      </p:sp>
      <p:sp>
        <p:nvSpPr>
          <p:cNvPr id="7" name="TextBox 6"/>
          <p:cNvSpPr txBox="1"/>
          <p:nvPr/>
        </p:nvSpPr>
        <p:spPr>
          <a:xfrm>
            <a:off x="640080" y="868680"/>
            <a:ext cx="4389120" cy="4389120"/>
          </a:xfrm>
          <a:prstGeom prst="rect">
            <a:avLst/>
          </a:prstGeom>
          <a:noFill/>
        </p:spPr>
        <p:txBody>
          <a:bodyPr wrap="none">
            <a:spAutoFit/>
          </a:bodyPr>
          <a:lstStyle/>
          <a:p>
            <a:pPr>
              <a:spcBef>
                <a:spcPts val="0"/>
              </a:spcBef>
              <a:defRPr sz="1350" b="1">
                <a:solidFill>
                  <a:srgbClr val="111111"/>
                </a:solidFill>
                <a:latin typeface="BIZ UDPGothic"/>
              </a:defRPr>
            </a:pPr>
            <a:r>
              <a:t>■ 使用データ</a:t>
            </a:r>
          </a:p>
          <a:p>
            <a:pPr>
              <a:spcBef>
                <a:spcPts val="400"/>
              </a:spcBef>
              <a:defRPr sz="1200" b="0">
                <a:solidFill>
                  <a:srgbClr val="333333"/>
                </a:solidFill>
                <a:latin typeface="BIZ UDPGothic"/>
              </a:defRPr>
            </a:pPr>
            <a:r>
              <a:t>・第二別館7Fの冷房期の各種値</a:t>
            </a:r>
            <a:br/>
            <a:r>
              <a:t>  (2025/8/17〜2025/8/30)</a:t>
            </a:r>
          </a:p>
          <a:p>
            <a:pPr>
              <a:spcBef>
                <a:spcPts val="1000"/>
              </a:spcBef>
              <a:defRPr sz="1250" b="1">
                <a:solidFill>
                  <a:srgbClr val="111111"/>
                </a:solidFill>
                <a:latin typeface="BIZ UDPGothic"/>
              </a:defRPr>
            </a:pPr>
            <a:r>
              <a:t>① 外気温</a:t>
            </a:r>
          </a:p>
          <a:p>
            <a:pPr>
              <a:spcBef>
                <a:spcPts val="200"/>
              </a:spcBef>
              <a:defRPr sz="1200" b="0">
                <a:solidFill>
                  <a:srgbClr val="333333"/>
                </a:solidFill>
                <a:latin typeface="BIZ UDPGothic"/>
              </a:defRPr>
            </a:pPr>
            <a:r>
              <a:t>   ＞ 起動時刻の外気条件の取得</a:t>
            </a:r>
          </a:p>
          <a:p>
            <a:pPr>
              <a:spcBef>
                <a:spcPts val="1000"/>
              </a:spcBef>
              <a:defRPr sz="1250" b="1">
                <a:solidFill>
                  <a:srgbClr val="111111"/>
                </a:solidFill>
                <a:latin typeface="BIZ UDPGothic"/>
              </a:defRPr>
            </a:pPr>
            <a:r>
              <a:t>② 室温・設定温度</a:t>
            </a:r>
          </a:p>
          <a:p>
            <a:pPr>
              <a:spcBef>
                <a:spcPts val="200"/>
              </a:spcBef>
              <a:defRPr sz="1200" b="0">
                <a:solidFill>
                  <a:srgbClr val="333333"/>
                </a:solidFill>
                <a:latin typeface="BIZ UDPGothic"/>
              </a:defRPr>
            </a:pPr>
            <a:r>
              <a:t>   ＞ 設定温度到達時刻の抽出</a:t>
            </a:r>
          </a:p>
          <a:p>
            <a:pPr>
              <a:spcBef>
                <a:spcPts val="1000"/>
              </a:spcBef>
              <a:defRPr sz="1250" b="1">
                <a:solidFill>
                  <a:srgbClr val="111111"/>
                </a:solidFill>
                <a:latin typeface="BIZ UDPGothic"/>
              </a:defRPr>
            </a:pPr>
            <a:r>
              <a:t>③ 消費電力</a:t>
            </a:r>
          </a:p>
          <a:p>
            <a:pPr>
              <a:spcBef>
                <a:spcPts val="200"/>
              </a:spcBef>
              <a:defRPr sz="1200" b="0">
                <a:solidFill>
                  <a:srgbClr val="333333"/>
                </a:solidFill>
                <a:latin typeface="BIZ UDPGothic"/>
              </a:defRPr>
            </a:pPr>
            <a:r>
              <a:t>   ＞ 起動時刻の推定</a:t>
            </a:r>
            <a:br/>
            <a:r>
              <a:t>   ＞ 消費電力量の計算</a:t>
            </a:r>
          </a:p>
        </p:txBody>
      </p:sp>
      <p:sp>
        <p:nvSpPr>
          <p:cNvPr id="8" name="TextBox 7"/>
          <p:cNvSpPr txBox="1"/>
          <p:nvPr/>
        </p:nvSpPr>
        <p:spPr>
          <a:xfrm>
            <a:off x="640080" y="5486400"/>
            <a:ext cx="10789920" cy="731520"/>
          </a:xfrm>
          <a:prstGeom prst="rect">
            <a:avLst/>
          </a:prstGeom>
          <a:noFill/>
        </p:spPr>
        <p:txBody>
          <a:bodyPr wrap="none">
            <a:spAutoFit/>
          </a:bodyPr>
          <a:lstStyle/>
          <a:p>
            <a:pPr>
              <a:defRPr sz="1200" b="1">
                <a:solidFill>
                  <a:srgbClr val="111111"/>
                </a:solidFill>
                <a:latin typeface="BIZ UDPGothic"/>
              </a:defRPr>
            </a:pPr>
            <a:r>
              <a:t>・これらのデータを用いて、予冷に必要な時間の予測、削減できる電力量を算出できるようなモデルを考える</a:t>
            </a:r>
          </a:p>
        </p:txBody>
      </p:sp>
      <p:pic>
        <p:nvPicPr>
          <p:cNvPr id="9" name="Picture 8" descr="deck_slide03_concept.png"/>
          <p:cNvPicPr>
            <a:picLocks noChangeAspect="1"/>
          </p:cNvPicPr>
          <p:nvPr/>
        </p:nvPicPr>
        <p:blipFill>
          <a:blip r:embed="rId2"/>
          <a:stretch>
            <a:fillRect/>
          </a:stretch>
        </p:blipFill>
        <p:spPr>
          <a:xfrm>
            <a:off x="4846320" y="731520"/>
            <a:ext cx="6858000" cy="44805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30352"/>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11480"/>
          </a:xfrm>
          <a:prstGeom prst="rect">
            <a:avLst/>
          </a:prstGeom>
          <a:noFill/>
        </p:spPr>
        <p:txBody>
          <a:bodyPr wrap="square">
            <a:spAutoFit/>
          </a:bodyPr>
          <a:lstStyle/>
          <a:p>
            <a:pPr>
              <a:defRPr sz="1800" b="1">
                <a:solidFill>
                  <a:srgbClr val="FFFFFF"/>
                </a:solidFill>
                <a:latin typeface="BIZ UDPGothic"/>
              </a:defRPr>
            </a:pPr>
            <a:r>
              <a:t>4. 現場の現状と課題</a:t>
            </a:r>
          </a:p>
        </p:txBody>
      </p:sp>
      <p:sp>
        <p:nvSpPr>
          <p:cNvPr id="4" name="Rounded Rectangle 3"/>
          <p:cNvSpPr/>
          <p:nvPr/>
        </p:nvSpPr>
        <p:spPr>
          <a:xfrm>
            <a:off x="10789920" y="128016"/>
            <a:ext cx="484632" cy="27432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E8F1F8"/>
                </a:solidFill>
                <a:latin typeface="BIZ UDPGothic"/>
              </a:defRPr>
            </a:pPr>
            <a:r>
              <a:t>IUO</a:t>
            </a:r>
          </a:p>
        </p:txBody>
      </p:sp>
      <p:sp>
        <p:nvSpPr>
          <p:cNvPr id="5" name="TextBox 4"/>
          <p:cNvSpPr txBox="1"/>
          <p:nvPr/>
        </p:nvSpPr>
        <p:spPr>
          <a:xfrm>
            <a:off x="11430000" y="73152"/>
            <a:ext cx="548640" cy="411480"/>
          </a:xfrm>
          <a:prstGeom prst="rect">
            <a:avLst/>
          </a:prstGeom>
          <a:noFill/>
        </p:spPr>
        <p:txBody>
          <a:bodyPr wrap="none">
            <a:spAutoFit/>
          </a:bodyPr>
          <a:lstStyle/>
          <a:p>
            <a:pPr algn="ctr">
              <a:defRPr sz="1800" b="1">
                <a:solidFill>
                  <a:srgbClr val="FFFFFF"/>
                </a:solidFill>
                <a:latin typeface="BIZ UDPGothic"/>
              </a:defRPr>
            </a:pPr>
            <a:r>
              <a:t>5</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800">
                <a:solidFill>
                  <a:srgbClr val="666666"/>
                </a:solidFill>
                <a:latin typeface="BIZ UDPGothic"/>
              </a:defRPr>
            </a:pPr>
            <a:r>
              <a:t>© Panasonic Corporation</a:t>
            </a:r>
          </a:p>
        </p:txBody>
      </p:sp>
      <p:sp>
        <p:nvSpPr>
          <p:cNvPr id="7" name="TextBox 6"/>
          <p:cNvSpPr txBox="1"/>
          <p:nvPr/>
        </p:nvSpPr>
        <p:spPr>
          <a:xfrm>
            <a:off x="640080" y="868680"/>
            <a:ext cx="4572000" cy="3474720"/>
          </a:xfrm>
          <a:prstGeom prst="rect">
            <a:avLst/>
          </a:prstGeom>
          <a:noFill/>
        </p:spPr>
        <p:txBody>
          <a:bodyPr wrap="none">
            <a:spAutoFit/>
          </a:bodyPr>
          <a:lstStyle/>
          <a:p>
            <a:pPr>
              <a:spcBef>
                <a:spcPts val="0"/>
              </a:spcBef>
              <a:defRPr sz="1350" b="1">
                <a:solidFill>
                  <a:srgbClr val="111111"/>
                </a:solidFill>
                <a:latin typeface="BIZ UDPGothic"/>
              </a:defRPr>
            </a:pPr>
            <a:r>
              <a:t>■ 現状運用</a:t>
            </a:r>
          </a:p>
          <a:p>
            <a:pPr>
              <a:spcBef>
                <a:spcPts val="400"/>
              </a:spcBef>
              <a:defRPr sz="1200" b="0">
                <a:solidFill>
                  <a:srgbClr val="333333"/>
                </a:solidFill>
                <a:latin typeface="BIZ UDPGothic"/>
              </a:defRPr>
            </a:pPr>
            <a:r>
              <a:t>・対象期間:2025/8/19〜8/30</a:t>
            </a:r>
            <a:br/>
            <a:r>
              <a:t>・熱源2台は30分の固定インターバルで起動</a:t>
            </a:r>
            <a:br/>
            <a:r>
              <a:t>・早朝一律(通常5:00 / 休み明け3:00)に起動</a:t>
            </a:r>
            <a:br/>
            <a:r>
              <a:t>・6:30〜7:00に設定温度へ到達</a:t>
            </a:r>
          </a:p>
          <a:p>
            <a:pPr>
              <a:spcBef>
                <a:spcPts val="1200"/>
              </a:spcBef>
              <a:defRPr sz="1350" b="1">
                <a:solidFill>
                  <a:srgbClr val="111111"/>
                </a:solidFill>
                <a:latin typeface="BIZ UDPGothic"/>
              </a:defRPr>
            </a:pPr>
            <a:r>
              <a:t>■ データから見えた課題</a:t>
            </a:r>
          </a:p>
          <a:p>
            <a:pPr>
              <a:spcBef>
                <a:spcPts val="400"/>
              </a:spcBef>
              <a:defRPr sz="1200" b="0">
                <a:solidFill>
                  <a:srgbClr val="333333"/>
                </a:solidFill>
                <a:latin typeface="BIZ UDPGothic"/>
              </a:defRPr>
            </a:pPr>
            <a:r>
              <a:t>・始業(8:00)までの毎朝1時間以上が過剰予冷</a:t>
            </a:r>
            <a:br/>
            <a:r>
              <a:t>  となり、電力を浪費している</a:t>
            </a:r>
            <a:br/>
            <a:r>
              <a:t>・8:00 の始業時に冷え切っていないとクレーム</a:t>
            </a:r>
            <a:br/>
            <a:r>
              <a:t>  になる</a:t>
            </a:r>
            <a:br/>
            <a:r>
              <a:t>  →かなり余裕のある起動時間設定</a:t>
            </a:r>
          </a:p>
        </p:txBody>
      </p:sp>
      <p:sp>
        <p:nvSpPr>
          <p:cNvPr id="8" name="Rounded Rectangle 7"/>
          <p:cNvSpPr/>
          <p:nvPr/>
        </p:nvSpPr>
        <p:spPr>
          <a:xfrm>
            <a:off x="914400" y="4297680"/>
            <a:ext cx="3657600" cy="1188720"/>
          </a:xfrm>
          <a:prstGeom prst="roundRect">
            <a:avLst/>
          </a:prstGeom>
          <a:solidFill>
            <a:srgbClr val="EDF5FB"/>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11111"/>
                </a:solidFill>
                <a:latin typeface="BIZ UDPGothic"/>
              </a:defRPr>
            </a:pPr>
            <a:r>
              <a:t>遅らせる余地はあるが、</a:t>
            </a:r>
            <a:br/>
            <a:r>
              <a:t>どこまで遅らせられるか</a:t>
            </a:r>
          </a:p>
          <a:p>
            <a:pPr algn="ctr">
              <a:spcBef>
                <a:spcPts val="400"/>
              </a:spcBef>
              <a:defRPr sz="1400" b="1">
                <a:solidFill>
                  <a:srgbClr val="C8102E"/>
                </a:solidFill>
                <a:latin typeface="BIZ UDPGothic"/>
              </a:defRPr>
            </a:pPr>
            <a:r>
              <a:t>判断材料がないことが問題</a:t>
            </a:r>
          </a:p>
        </p:txBody>
      </p:sp>
      <p:pic>
        <p:nvPicPr>
          <p:cNvPr id="9" name="Picture 8" descr="deck_slide04_waveform.png"/>
          <p:cNvPicPr>
            <a:picLocks noChangeAspect="1"/>
          </p:cNvPicPr>
          <p:nvPr/>
        </p:nvPicPr>
        <p:blipFill>
          <a:blip r:embed="rId2"/>
          <a:stretch>
            <a:fillRect/>
          </a:stretch>
        </p:blipFill>
        <p:spPr>
          <a:xfrm>
            <a:off x="5212080" y="777240"/>
            <a:ext cx="6583680" cy="53035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30352"/>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11480"/>
          </a:xfrm>
          <a:prstGeom prst="rect">
            <a:avLst/>
          </a:prstGeom>
          <a:noFill/>
        </p:spPr>
        <p:txBody>
          <a:bodyPr wrap="square">
            <a:spAutoFit/>
          </a:bodyPr>
          <a:lstStyle/>
          <a:p>
            <a:pPr>
              <a:defRPr sz="1800" b="1">
                <a:solidFill>
                  <a:srgbClr val="FFFFFF"/>
                </a:solidFill>
                <a:latin typeface="BIZ UDPGothic"/>
              </a:defRPr>
            </a:pPr>
            <a:r>
              <a:t>5. モデルの開発</a:t>
            </a:r>
          </a:p>
        </p:txBody>
      </p:sp>
      <p:sp>
        <p:nvSpPr>
          <p:cNvPr id="4" name="Rounded Rectangle 3"/>
          <p:cNvSpPr/>
          <p:nvPr/>
        </p:nvSpPr>
        <p:spPr>
          <a:xfrm>
            <a:off x="10789920" y="128016"/>
            <a:ext cx="484632" cy="27432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E8F1F8"/>
                </a:solidFill>
                <a:latin typeface="BIZ UDPGothic"/>
              </a:defRPr>
            </a:pPr>
            <a:r>
              <a:t>IUO</a:t>
            </a:r>
          </a:p>
        </p:txBody>
      </p:sp>
      <p:sp>
        <p:nvSpPr>
          <p:cNvPr id="5" name="TextBox 4"/>
          <p:cNvSpPr txBox="1"/>
          <p:nvPr/>
        </p:nvSpPr>
        <p:spPr>
          <a:xfrm>
            <a:off x="11430000" y="73152"/>
            <a:ext cx="548640" cy="411480"/>
          </a:xfrm>
          <a:prstGeom prst="rect">
            <a:avLst/>
          </a:prstGeom>
          <a:noFill/>
        </p:spPr>
        <p:txBody>
          <a:bodyPr wrap="none">
            <a:spAutoFit/>
          </a:bodyPr>
          <a:lstStyle/>
          <a:p>
            <a:pPr algn="ctr">
              <a:defRPr sz="1800" b="1">
                <a:solidFill>
                  <a:srgbClr val="FFFFFF"/>
                </a:solidFill>
                <a:latin typeface="BIZ UDPGothic"/>
              </a:defRPr>
            </a:pPr>
            <a:r>
              <a:t>6</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800">
                <a:solidFill>
                  <a:srgbClr val="666666"/>
                </a:solidFill>
                <a:latin typeface="BIZ UDPGothic"/>
              </a:defRPr>
            </a:pPr>
            <a:r>
              <a:t>© Panasonic Corporation</a:t>
            </a:r>
          </a:p>
        </p:txBody>
      </p:sp>
      <p:sp>
        <p:nvSpPr>
          <p:cNvPr id="7" name="TextBox 6"/>
          <p:cNvSpPr txBox="1"/>
          <p:nvPr/>
        </p:nvSpPr>
        <p:spPr>
          <a:xfrm>
            <a:off x="640080" y="868680"/>
            <a:ext cx="10789920" cy="2926080"/>
          </a:xfrm>
          <a:prstGeom prst="rect">
            <a:avLst/>
          </a:prstGeom>
          <a:noFill/>
        </p:spPr>
        <p:txBody>
          <a:bodyPr wrap="none">
            <a:spAutoFit/>
          </a:bodyPr>
          <a:lstStyle/>
          <a:p>
            <a:pPr>
              <a:spcBef>
                <a:spcPts val="0"/>
              </a:spcBef>
              <a:defRPr sz="1350" b="1">
                <a:solidFill>
                  <a:srgbClr val="111111"/>
                </a:solidFill>
                <a:latin typeface="BIZ UDPGothic"/>
              </a:defRPr>
            </a:pPr>
            <a:r>
              <a:t>■ 制約</a:t>
            </a:r>
          </a:p>
          <a:p>
            <a:pPr>
              <a:spcBef>
                <a:spcPts val="400"/>
              </a:spcBef>
              <a:defRPr sz="1250" b="1">
                <a:solidFill>
                  <a:srgbClr val="111111"/>
                </a:solidFill>
                <a:latin typeface="BIZ UDPGothic"/>
              </a:defRPr>
            </a:pPr>
            <a:r>
              <a:t>1. 決定のタイミング</a:t>
            </a:r>
          </a:p>
          <a:p>
            <a:pPr>
              <a:spcBef>
                <a:spcPts val="200"/>
              </a:spcBef>
              <a:defRPr sz="1200" b="0">
                <a:solidFill>
                  <a:srgbClr val="333333"/>
                </a:solidFill>
                <a:latin typeface="BIZ UDPGothic"/>
              </a:defRPr>
            </a:pPr>
            <a:r>
              <a:t>・起動時刻は前日の夕方に決定するため、翌日の室温は存在しない</a:t>
            </a:r>
            <a:br/>
            <a:r>
              <a:t>→室温を経由する制御は難しいため、前日に得られる翌日の気温予報から、予冷時間を直接推測する</a:t>
            </a:r>
          </a:p>
          <a:p>
            <a:pPr>
              <a:spcBef>
                <a:spcPts val="1000"/>
              </a:spcBef>
              <a:defRPr sz="1250" b="1">
                <a:solidFill>
                  <a:srgbClr val="111111"/>
                </a:solidFill>
                <a:latin typeface="BIZ UDPGothic"/>
              </a:defRPr>
            </a:pPr>
            <a:r>
              <a:t>2. 快適性</a:t>
            </a:r>
          </a:p>
          <a:p>
            <a:pPr>
              <a:spcBef>
                <a:spcPts val="200"/>
              </a:spcBef>
              <a:defRPr sz="1200" b="0">
                <a:solidFill>
                  <a:srgbClr val="333333"/>
                </a:solidFill>
                <a:latin typeface="BIZ UDPGothic"/>
              </a:defRPr>
            </a:pPr>
            <a:r>
              <a:t>・始業時に設定温度未達→快適性を損なう(高コスト)</a:t>
            </a:r>
            <a:br/>
            <a:r>
              <a:t>・過剰予冷→電力の無駄にはなるが、快適性は担保される(低コスト)</a:t>
            </a:r>
            <a:br/>
            <a:r>
              <a:t>→予冷時間は中央値ではなく、予測範囲の上限付近で見積る</a:t>
            </a:r>
            <a:br/>
            <a:r>
              <a:t>→さらに、気温予報の不確実性として予報誤差1.5℃を安全側に上乗せ</a:t>
            </a:r>
          </a:p>
          <a:p>
            <a:pPr>
              <a:spcBef>
                <a:spcPts val="1600"/>
              </a:spcBef>
              <a:defRPr sz="1350" b="1">
                <a:solidFill>
                  <a:srgbClr val="111111"/>
                </a:solidFill>
                <a:latin typeface="BIZ UDPGothic"/>
              </a:defRPr>
            </a:pPr>
            <a:r>
              <a:t>■ 推計モデルの基本構造</a:t>
            </a:r>
          </a:p>
        </p:txBody>
      </p:sp>
      <p:sp>
        <p:nvSpPr>
          <p:cNvPr id="8" name="TextBox 7"/>
          <p:cNvSpPr txBox="1"/>
          <p:nvPr/>
        </p:nvSpPr>
        <p:spPr>
          <a:xfrm>
            <a:off x="1371600" y="4572000"/>
            <a:ext cx="9418320" cy="731520"/>
          </a:xfrm>
          <a:prstGeom prst="rect">
            <a:avLst/>
          </a:prstGeom>
          <a:noFill/>
        </p:spPr>
        <p:txBody>
          <a:bodyPr wrap="none">
            <a:spAutoFit/>
          </a:bodyPr>
          <a:lstStyle/>
          <a:p>
            <a:pPr algn="ctr">
              <a:defRPr sz="1600" b="1">
                <a:solidFill>
                  <a:srgbClr val="113355"/>
                </a:solidFill>
                <a:latin typeface="BIZ UDPGothic"/>
              </a:defRPr>
            </a:pPr>
            <a:r>
              <a:t>必要な予冷時間 [min] = f(起動時刻の外気温, 設定温度) + 安全マージン</a:t>
            </a:r>
          </a:p>
        </p:txBody>
      </p:sp>
      <p:sp>
        <p:nvSpPr>
          <p:cNvPr id="9" name="Rounded Rectangle 8"/>
          <p:cNvSpPr/>
          <p:nvPr/>
        </p:nvSpPr>
        <p:spPr>
          <a:xfrm>
            <a:off x="3017520" y="3931920"/>
            <a:ext cx="2011680" cy="411480"/>
          </a:xfrm>
          <a:prstGeom prst="roundRect">
            <a:avLst/>
          </a:prstGeom>
          <a:solidFill>
            <a:srgbClr val="FFFFFF"/>
          </a:solidFill>
          <a:ln w="1524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111111"/>
                </a:solidFill>
                <a:latin typeface="BIZ UDPGothic"/>
              </a:defRPr>
            </a:pPr>
            <a:r>
              <a:t>天気予報から取得</a:t>
            </a:r>
          </a:p>
        </p:txBody>
      </p:sp>
      <p:sp>
        <p:nvSpPr>
          <p:cNvPr id="10" name="Rounded Rectangle 9"/>
          <p:cNvSpPr/>
          <p:nvPr/>
        </p:nvSpPr>
        <p:spPr>
          <a:xfrm>
            <a:off x="5303520" y="5303520"/>
            <a:ext cx="1828800" cy="411480"/>
          </a:xfrm>
          <a:prstGeom prst="roundRect">
            <a:avLst/>
          </a:prstGeom>
          <a:solidFill>
            <a:srgbClr val="FFFFFF"/>
          </a:solidFill>
          <a:ln w="1524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111111"/>
                </a:solidFill>
                <a:latin typeface="BIZ UDPGothic"/>
              </a:defRPr>
            </a:pPr>
            <a:r>
              <a:t>BM側が設定</a:t>
            </a:r>
          </a:p>
        </p:txBody>
      </p:sp>
      <p:sp>
        <p:nvSpPr>
          <p:cNvPr id="11" name="Rounded Rectangle 10"/>
          <p:cNvSpPr/>
          <p:nvPr/>
        </p:nvSpPr>
        <p:spPr>
          <a:xfrm>
            <a:off x="8046720" y="3840480"/>
            <a:ext cx="2011680" cy="502920"/>
          </a:xfrm>
          <a:prstGeom prst="roundRect">
            <a:avLst/>
          </a:prstGeom>
          <a:solidFill>
            <a:srgbClr val="FFFFFF"/>
          </a:solidFill>
          <a:ln w="1524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111111"/>
                </a:solidFill>
                <a:latin typeface="BIZ UDPGothic"/>
              </a:defRPr>
            </a:pPr>
            <a:r>
              <a:t>天気予報などの</a:t>
            </a:r>
            <a:br/>
            <a:r>
              <a:t>誤差を考慮</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30352"/>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11480"/>
          </a:xfrm>
          <a:prstGeom prst="rect">
            <a:avLst/>
          </a:prstGeom>
          <a:noFill/>
        </p:spPr>
        <p:txBody>
          <a:bodyPr wrap="square">
            <a:spAutoFit/>
          </a:bodyPr>
          <a:lstStyle/>
          <a:p>
            <a:pPr>
              <a:defRPr sz="1800" b="1">
                <a:solidFill>
                  <a:srgbClr val="FFFFFF"/>
                </a:solidFill>
                <a:latin typeface="BIZ UDPGothic"/>
              </a:defRPr>
            </a:pPr>
            <a:r>
              <a:t>6. アプリ開発</a:t>
            </a:r>
          </a:p>
        </p:txBody>
      </p:sp>
      <p:sp>
        <p:nvSpPr>
          <p:cNvPr id="4" name="Rounded Rectangle 3"/>
          <p:cNvSpPr/>
          <p:nvPr/>
        </p:nvSpPr>
        <p:spPr>
          <a:xfrm>
            <a:off x="10789920" y="128016"/>
            <a:ext cx="484632" cy="27432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E8F1F8"/>
                </a:solidFill>
                <a:latin typeface="BIZ UDPGothic"/>
              </a:defRPr>
            </a:pPr>
            <a:r>
              <a:t>IUO</a:t>
            </a:r>
          </a:p>
        </p:txBody>
      </p:sp>
      <p:sp>
        <p:nvSpPr>
          <p:cNvPr id="5" name="TextBox 4"/>
          <p:cNvSpPr txBox="1"/>
          <p:nvPr/>
        </p:nvSpPr>
        <p:spPr>
          <a:xfrm>
            <a:off x="11430000" y="73152"/>
            <a:ext cx="548640" cy="411480"/>
          </a:xfrm>
          <a:prstGeom prst="rect">
            <a:avLst/>
          </a:prstGeom>
          <a:noFill/>
        </p:spPr>
        <p:txBody>
          <a:bodyPr wrap="none">
            <a:spAutoFit/>
          </a:bodyPr>
          <a:lstStyle/>
          <a:p>
            <a:pPr algn="ctr">
              <a:defRPr sz="1800" b="1">
                <a:solidFill>
                  <a:srgbClr val="FFFFFF"/>
                </a:solidFill>
                <a:latin typeface="BIZ UDPGothic"/>
              </a:defRPr>
            </a:pPr>
            <a:r>
              <a:t>7</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800">
                <a:solidFill>
                  <a:srgbClr val="666666"/>
                </a:solidFill>
                <a:latin typeface="BIZ UDPGothic"/>
              </a:defRPr>
            </a:pPr>
            <a:r>
              <a:t>© Panasonic Corporation</a:t>
            </a:r>
          </a:p>
        </p:txBody>
      </p:sp>
      <p:sp>
        <p:nvSpPr>
          <p:cNvPr id="7" name="TextBox 6"/>
          <p:cNvSpPr txBox="1"/>
          <p:nvPr/>
        </p:nvSpPr>
        <p:spPr>
          <a:xfrm>
            <a:off x="640080" y="868680"/>
            <a:ext cx="6583680" cy="5029200"/>
          </a:xfrm>
          <a:prstGeom prst="rect">
            <a:avLst/>
          </a:prstGeom>
          <a:noFill/>
        </p:spPr>
        <p:txBody>
          <a:bodyPr wrap="none">
            <a:spAutoFit/>
          </a:bodyPr>
          <a:lstStyle/>
          <a:p>
            <a:pPr>
              <a:spcBef>
                <a:spcPts val="0"/>
              </a:spcBef>
              <a:defRPr sz="1350" b="1">
                <a:solidFill>
                  <a:srgbClr val="111111"/>
                </a:solidFill>
                <a:latin typeface="BIZ UDPGothic"/>
              </a:defRPr>
            </a:pPr>
            <a:r>
              <a:t>■ 工夫点</a:t>
            </a:r>
          </a:p>
          <a:p>
            <a:pPr>
              <a:spcBef>
                <a:spcPts val="400"/>
              </a:spcBef>
              <a:defRPr sz="1250" b="1">
                <a:solidFill>
                  <a:srgbClr val="111111"/>
                </a:solidFill>
                <a:latin typeface="BIZ UDPGothic"/>
              </a:defRPr>
            </a:pPr>
            <a:r>
              <a:t>1. モデルの構築</a:t>
            </a:r>
          </a:p>
          <a:p>
            <a:pPr>
              <a:spcBef>
                <a:spcPts val="200"/>
              </a:spcBef>
              <a:defRPr sz="1200" b="0">
                <a:solidFill>
                  <a:srgbClr val="333333"/>
                </a:solidFill>
                <a:latin typeface="BIZ UDPGothic"/>
              </a:defRPr>
            </a:pPr>
            <a:r>
              <a:t>・線形回帰によって推定</a:t>
            </a:r>
            <a:br/>
            <a:r>
              <a:t>・説明変数として、外気温のみと、外気温と設定温度の差を用いたものを比較</a:t>
            </a:r>
            <a:br/>
            <a:r>
              <a:t>・より精度の高い外気温と設定温度の差を採用</a:t>
            </a:r>
          </a:p>
          <a:p>
            <a:pPr>
              <a:spcBef>
                <a:spcPts val="1000"/>
              </a:spcBef>
              <a:defRPr sz="1250" b="1">
                <a:solidFill>
                  <a:srgbClr val="111111"/>
                </a:solidFill>
                <a:latin typeface="BIZ UDPGothic"/>
              </a:defRPr>
            </a:pPr>
            <a:r>
              <a:t>2. 休み明けの考慮</a:t>
            </a:r>
          </a:p>
          <a:p>
            <a:pPr>
              <a:spcBef>
                <a:spcPts val="200"/>
              </a:spcBef>
              <a:defRPr sz="1200" b="0">
                <a:solidFill>
                  <a:srgbClr val="333333"/>
                </a:solidFill>
                <a:latin typeface="BIZ UDPGothic"/>
              </a:defRPr>
            </a:pPr>
            <a:r>
              <a:t>・運転を止めた翌日は躯体に熱が残り、予冷時間が大きく延びる</a:t>
            </a:r>
            <a:br/>
            <a:r>
              <a:t>・通常平日51分(n=8)に対し、休日明けは135分(n=1)かかっている</a:t>
            </a:r>
            <a:br/>
            <a:r>
              <a:t>  →異なる予測モデルが必要</a:t>
            </a:r>
            <a:br/>
            <a:r>
              <a:t>・データが少ないため、予想外気温に+2.0℃ することで対応</a:t>
            </a:r>
          </a:p>
          <a:p>
            <a:pPr>
              <a:spcBef>
                <a:spcPts val="1000"/>
              </a:spcBef>
              <a:defRPr sz="1250" b="1">
                <a:solidFill>
                  <a:srgbClr val="111111"/>
                </a:solidFill>
                <a:latin typeface="BIZ UDPGothic"/>
              </a:defRPr>
            </a:pPr>
            <a:r>
              <a:t>3. 学習データ範囲外の扱い</a:t>
            </a:r>
          </a:p>
          <a:p>
            <a:pPr>
              <a:spcBef>
                <a:spcPts val="200"/>
              </a:spcBef>
              <a:defRPr sz="1200" b="0">
                <a:solidFill>
                  <a:srgbClr val="333333"/>
                </a:solidFill>
                <a:latin typeface="BIZ UDPGothic"/>
              </a:defRPr>
            </a:pPr>
            <a:r>
              <a:t>・学習したデータに含まれない範囲は予測が正確ではない可能性がある。</a:t>
            </a:r>
            <a:br/>
            <a:r>
              <a:t>  →外挿範囲を明示</a:t>
            </a:r>
          </a:p>
        </p:txBody>
      </p:sp>
      <p:pic>
        <p:nvPicPr>
          <p:cNvPr id="8" name="Picture 7" descr="deck_slide06_barchart.png"/>
          <p:cNvPicPr>
            <a:picLocks noChangeAspect="1"/>
          </p:cNvPicPr>
          <p:nvPr/>
        </p:nvPicPr>
        <p:blipFill>
          <a:blip r:embed="rId2"/>
          <a:stretch>
            <a:fillRect/>
          </a:stretch>
        </p:blipFill>
        <p:spPr>
          <a:xfrm>
            <a:off x="7406640" y="731520"/>
            <a:ext cx="4297680" cy="2286000"/>
          </a:xfrm>
          <a:prstGeom prst="rect">
            <a:avLst/>
          </a:prstGeom>
        </p:spPr>
      </p:pic>
      <p:pic>
        <p:nvPicPr>
          <p:cNvPr id="9" name="Picture 8" descr="deck_slide06_scatter.png"/>
          <p:cNvPicPr>
            <a:picLocks noChangeAspect="1"/>
          </p:cNvPicPr>
          <p:nvPr/>
        </p:nvPicPr>
        <p:blipFill>
          <a:blip r:embed="rId3"/>
          <a:stretch>
            <a:fillRect/>
          </a:stretch>
        </p:blipFill>
        <p:spPr>
          <a:xfrm>
            <a:off x="7406640" y="3108960"/>
            <a:ext cx="4297680" cy="30175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30352"/>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11480"/>
          </a:xfrm>
          <a:prstGeom prst="rect">
            <a:avLst/>
          </a:prstGeom>
          <a:noFill/>
        </p:spPr>
        <p:txBody>
          <a:bodyPr wrap="square">
            <a:spAutoFit/>
          </a:bodyPr>
          <a:lstStyle/>
          <a:p>
            <a:pPr>
              <a:defRPr sz="1800" b="1">
                <a:solidFill>
                  <a:srgbClr val="FFFFFF"/>
                </a:solidFill>
                <a:latin typeface="BIZ UDPGothic"/>
              </a:defRPr>
            </a:pPr>
            <a:r>
              <a:t>7. 削減効果の検証</a:t>
            </a:r>
          </a:p>
        </p:txBody>
      </p:sp>
      <p:sp>
        <p:nvSpPr>
          <p:cNvPr id="4" name="Rounded Rectangle 3"/>
          <p:cNvSpPr/>
          <p:nvPr/>
        </p:nvSpPr>
        <p:spPr>
          <a:xfrm>
            <a:off x="10789920" y="128016"/>
            <a:ext cx="484632" cy="27432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E8F1F8"/>
                </a:solidFill>
                <a:latin typeface="BIZ UDPGothic"/>
              </a:defRPr>
            </a:pPr>
            <a:r>
              <a:t>IUO</a:t>
            </a:r>
          </a:p>
        </p:txBody>
      </p:sp>
      <p:sp>
        <p:nvSpPr>
          <p:cNvPr id="5" name="TextBox 4"/>
          <p:cNvSpPr txBox="1"/>
          <p:nvPr/>
        </p:nvSpPr>
        <p:spPr>
          <a:xfrm>
            <a:off x="11430000" y="73152"/>
            <a:ext cx="548640" cy="411480"/>
          </a:xfrm>
          <a:prstGeom prst="rect">
            <a:avLst/>
          </a:prstGeom>
          <a:noFill/>
        </p:spPr>
        <p:txBody>
          <a:bodyPr wrap="none">
            <a:spAutoFit/>
          </a:bodyPr>
          <a:lstStyle/>
          <a:p>
            <a:pPr algn="ctr">
              <a:defRPr sz="1800" b="1">
                <a:solidFill>
                  <a:srgbClr val="FFFFFF"/>
                </a:solidFill>
                <a:latin typeface="BIZ UDPGothic"/>
              </a:defRPr>
            </a:pPr>
            <a:r>
              <a:t>8</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800">
                <a:solidFill>
                  <a:srgbClr val="666666"/>
                </a:solidFill>
                <a:latin typeface="BIZ UDPGothic"/>
              </a:defRPr>
            </a:pPr>
            <a:r>
              <a:t>© Panasonic Corporation</a:t>
            </a:r>
          </a:p>
        </p:txBody>
      </p:sp>
      <p:sp>
        <p:nvSpPr>
          <p:cNvPr id="7" name="TextBox 6"/>
          <p:cNvSpPr txBox="1"/>
          <p:nvPr/>
        </p:nvSpPr>
        <p:spPr>
          <a:xfrm>
            <a:off x="640080" y="868680"/>
            <a:ext cx="4846320" cy="1371600"/>
          </a:xfrm>
          <a:prstGeom prst="rect">
            <a:avLst/>
          </a:prstGeom>
          <a:noFill/>
        </p:spPr>
        <p:txBody>
          <a:bodyPr wrap="none">
            <a:spAutoFit/>
          </a:bodyPr>
          <a:lstStyle/>
          <a:p>
            <a:pPr>
              <a:spcBef>
                <a:spcPts val="0"/>
              </a:spcBef>
              <a:defRPr sz="1350" b="1">
                <a:solidFill>
                  <a:srgbClr val="111111"/>
                </a:solidFill>
                <a:latin typeface="BIZ UDPGothic"/>
              </a:defRPr>
            </a:pPr>
            <a:r>
              <a:t>■ 実データでの検証</a:t>
            </a:r>
          </a:p>
          <a:p>
            <a:pPr>
              <a:spcBef>
                <a:spcPts val="400"/>
              </a:spcBef>
              <a:defRPr sz="1200" b="0">
                <a:solidFill>
                  <a:srgbClr val="333333"/>
                </a:solidFill>
                <a:latin typeface="BIZ UDPGothic"/>
              </a:defRPr>
            </a:pPr>
            <a:r>
              <a:t>・作成した予測モデルを、実際の過去データの気温推移</a:t>
            </a:r>
            <a:br/>
            <a:r>
              <a:t>  から予冷に必要な時間を予測、起動時間の決定を行った。</a:t>
            </a:r>
          </a:p>
        </p:txBody>
      </p:sp>
      <p:sp>
        <p:nvSpPr>
          <p:cNvPr id="8" name="Rounded Rectangle 7"/>
          <p:cNvSpPr/>
          <p:nvPr/>
        </p:nvSpPr>
        <p:spPr>
          <a:xfrm>
            <a:off x="1097280" y="2011680"/>
            <a:ext cx="3931920" cy="1371600"/>
          </a:xfrm>
          <a:prstGeom prst="roundRect">
            <a:avLst/>
          </a:prstGeom>
          <a:solidFill>
            <a:srgbClr val="EDF5FB"/>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8:00 目標温度到達率</a:t>
            </a:r>
          </a:p>
          <a:p>
            <a:pPr>
              <a:spcBef>
                <a:spcPts val="400"/>
              </a:spcBef>
              <a:defRPr sz="2600" b="1">
                <a:solidFill>
                  <a:srgbClr val="00509E"/>
                </a:solidFill>
                <a:latin typeface="BIZ UDPGothic"/>
              </a:defRPr>
            </a:pPr>
            <a:r>
              <a:t>100 %</a:t>
            </a:r>
          </a:p>
          <a:p>
            <a:pPr>
              <a:spcBef>
                <a:spcPts val="200"/>
              </a:spcBef>
              <a:defRPr sz="1050">
                <a:solidFill>
                  <a:srgbClr val="666666"/>
                </a:solidFill>
                <a:latin typeface="BIZ UDPGothic"/>
              </a:defRPr>
            </a:pPr>
            <a:r>
              <a:t>全平日(実働9日)で快適性を確保</a:t>
            </a:r>
          </a:p>
        </p:txBody>
      </p:sp>
      <p:sp>
        <p:nvSpPr>
          <p:cNvPr id="9" name="Rounded Rectangle 8"/>
          <p:cNvSpPr/>
          <p:nvPr/>
        </p:nvSpPr>
        <p:spPr>
          <a:xfrm>
            <a:off x="1097280" y="3749039"/>
            <a:ext cx="3931920" cy="1371600"/>
          </a:xfrm>
          <a:prstGeom prst="roundRect">
            <a:avLst/>
          </a:prstGeom>
          <a:solidFill>
            <a:srgbClr val="EDF5FB"/>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始業前消費電力量 削減率</a:t>
            </a:r>
          </a:p>
          <a:p>
            <a:pPr>
              <a:spcBef>
                <a:spcPts val="400"/>
              </a:spcBef>
              <a:defRPr sz="2600" b="1">
                <a:solidFill>
                  <a:srgbClr val="00509E"/>
                </a:solidFill>
                <a:latin typeface="BIZ UDPGothic"/>
              </a:defRPr>
            </a:pPr>
            <a:r>
              <a:t>平均約 36 %</a:t>
            </a:r>
          </a:p>
          <a:p>
            <a:pPr>
              <a:spcBef>
                <a:spcPts val="200"/>
              </a:spcBef>
              <a:defRPr sz="1050">
                <a:solidFill>
                  <a:srgbClr val="666666"/>
                </a:solidFill>
                <a:latin typeface="BIZ UDPGothic"/>
              </a:defRPr>
            </a:pPr>
            <a:r>
              <a:t>起動を最大1時間以上遅延させ無駄を抑制</a:t>
            </a:r>
          </a:p>
        </p:txBody>
      </p:sp>
      <p:pic>
        <p:nvPicPr>
          <p:cNvPr id="10" name="Picture 9" descr="deck_slide07_timeline.png"/>
          <p:cNvPicPr>
            <a:picLocks noChangeAspect="1"/>
          </p:cNvPicPr>
          <p:nvPr/>
        </p:nvPicPr>
        <p:blipFill>
          <a:blip r:embed="rId2"/>
          <a:stretch>
            <a:fillRect/>
          </a:stretch>
        </p:blipFill>
        <p:spPr>
          <a:xfrm>
            <a:off x="5760720" y="731520"/>
            <a:ext cx="6035040" cy="2651760"/>
          </a:xfrm>
          <a:prstGeom prst="rect">
            <a:avLst/>
          </a:prstGeom>
        </p:spPr>
      </p:pic>
      <p:pic>
        <p:nvPicPr>
          <p:cNvPr id="11" name="Picture 10" descr="deck_slide07_energy.png"/>
          <p:cNvPicPr>
            <a:picLocks noChangeAspect="1"/>
          </p:cNvPicPr>
          <p:nvPr/>
        </p:nvPicPr>
        <p:blipFill>
          <a:blip r:embed="rId3"/>
          <a:stretch>
            <a:fillRect/>
          </a:stretch>
        </p:blipFill>
        <p:spPr>
          <a:xfrm>
            <a:off x="5760720" y="3474720"/>
            <a:ext cx="6035040" cy="29260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30352"/>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11480"/>
          </a:xfrm>
          <a:prstGeom prst="rect">
            <a:avLst/>
          </a:prstGeom>
          <a:noFill/>
        </p:spPr>
        <p:txBody>
          <a:bodyPr wrap="square">
            <a:spAutoFit/>
          </a:bodyPr>
          <a:lstStyle/>
          <a:p>
            <a:pPr>
              <a:defRPr sz="1800" b="1">
                <a:solidFill>
                  <a:srgbClr val="FFFFFF"/>
                </a:solidFill>
                <a:latin typeface="BIZ UDPGothic"/>
              </a:defRPr>
            </a:pPr>
            <a:r>
              <a:t>8. 可視化アプリ</a:t>
            </a:r>
          </a:p>
        </p:txBody>
      </p:sp>
      <p:sp>
        <p:nvSpPr>
          <p:cNvPr id="4" name="Rounded Rectangle 3"/>
          <p:cNvSpPr/>
          <p:nvPr/>
        </p:nvSpPr>
        <p:spPr>
          <a:xfrm>
            <a:off x="10789920" y="128016"/>
            <a:ext cx="484632" cy="27432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E8F1F8"/>
                </a:solidFill>
                <a:latin typeface="BIZ UDPGothic"/>
              </a:defRPr>
            </a:pPr>
            <a:r>
              <a:t>IUO</a:t>
            </a:r>
          </a:p>
        </p:txBody>
      </p:sp>
      <p:sp>
        <p:nvSpPr>
          <p:cNvPr id="5" name="TextBox 4"/>
          <p:cNvSpPr txBox="1"/>
          <p:nvPr/>
        </p:nvSpPr>
        <p:spPr>
          <a:xfrm>
            <a:off x="11430000" y="73152"/>
            <a:ext cx="548640" cy="411480"/>
          </a:xfrm>
          <a:prstGeom prst="rect">
            <a:avLst/>
          </a:prstGeom>
          <a:noFill/>
        </p:spPr>
        <p:txBody>
          <a:bodyPr wrap="none">
            <a:spAutoFit/>
          </a:bodyPr>
          <a:lstStyle/>
          <a:p>
            <a:pPr algn="ctr">
              <a:defRPr sz="1800" b="1">
                <a:solidFill>
                  <a:srgbClr val="FFFFFF"/>
                </a:solidFill>
                <a:latin typeface="BIZ UDPGothic"/>
              </a:defRPr>
            </a:pPr>
            <a:r>
              <a:t>9</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800">
                <a:solidFill>
                  <a:srgbClr val="666666"/>
                </a:solidFill>
                <a:latin typeface="BIZ UDPGothic"/>
              </a:defRPr>
            </a:pPr>
            <a:r>
              <a:t>© Panasonic Corporation</a:t>
            </a:r>
          </a:p>
        </p:txBody>
      </p:sp>
      <p:pic>
        <p:nvPicPr>
          <p:cNvPr id="7" name="Picture 6" descr="deck_slide08_app.png"/>
          <p:cNvPicPr>
            <a:picLocks noChangeAspect="1"/>
          </p:cNvPicPr>
          <p:nvPr/>
        </p:nvPicPr>
        <p:blipFill>
          <a:blip r:embed="rId2"/>
          <a:stretch>
            <a:fillRect/>
          </a:stretch>
        </p:blipFill>
        <p:spPr>
          <a:xfrm>
            <a:off x="2103120" y="731520"/>
            <a:ext cx="7863840" cy="5394960"/>
          </a:xfrm>
          <a:prstGeom prst="rect">
            <a:avLst/>
          </a:prstGeom>
        </p:spPr>
      </p:pic>
      <p:sp>
        <p:nvSpPr>
          <p:cNvPr id="8" name="Rounded Rectangle 7"/>
          <p:cNvSpPr/>
          <p:nvPr/>
        </p:nvSpPr>
        <p:spPr>
          <a:xfrm>
            <a:off x="320040" y="1280160"/>
            <a:ext cx="1554480" cy="502920"/>
          </a:xfrm>
          <a:prstGeom prst="roundRect">
            <a:avLst/>
          </a:prstGeom>
          <a:solidFill>
            <a:srgbClr val="FFFFFF"/>
          </a:solidFill>
          <a:ln w="1524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111111"/>
                </a:solidFill>
                <a:latin typeface="BIZ UDPGothic"/>
              </a:defRPr>
            </a:pPr>
            <a:r>
              <a:t>①冷房・暖房切り替え</a:t>
            </a:r>
          </a:p>
        </p:txBody>
      </p:sp>
      <p:sp>
        <p:nvSpPr>
          <p:cNvPr id="9" name="Rounded Rectangle 8"/>
          <p:cNvSpPr/>
          <p:nvPr/>
        </p:nvSpPr>
        <p:spPr>
          <a:xfrm>
            <a:off x="320040" y="2103120"/>
            <a:ext cx="1554480" cy="502920"/>
          </a:xfrm>
          <a:prstGeom prst="roundRect">
            <a:avLst/>
          </a:prstGeom>
          <a:solidFill>
            <a:srgbClr val="FFFFFF"/>
          </a:solidFill>
          <a:ln w="1524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111111"/>
                </a:solidFill>
                <a:latin typeface="BIZ UDPGothic"/>
              </a:defRPr>
            </a:pPr>
            <a:r>
              <a:t>②予報地点の選択</a:t>
            </a:r>
          </a:p>
        </p:txBody>
      </p:sp>
      <p:sp>
        <p:nvSpPr>
          <p:cNvPr id="10" name="Rounded Rectangle 9"/>
          <p:cNvSpPr/>
          <p:nvPr/>
        </p:nvSpPr>
        <p:spPr>
          <a:xfrm>
            <a:off x="320040" y="2834640"/>
            <a:ext cx="1554480" cy="502920"/>
          </a:xfrm>
          <a:prstGeom prst="roundRect">
            <a:avLst/>
          </a:prstGeom>
          <a:solidFill>
            <a:srgbClr val="FFFFFF"/>
          </a:solidFill>
          <a:ln w="1524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111111"/>
                </a:solidFill>
                <a:latin typeface="BIZ UDPGothic"/>
              </a:defRPr>
            </a:pPr>
            <a:r>
              <a:t>③運用日の選択</a:t>
            </a:r>
          </a:p>
        </p:txBody>
      </p:sp>
      <p:sp>
        <p:nvSpPr>
          <p:cNvPr id="11" name="Rounded Rectangle 10"/>
          <p:cNvSpPr/>
          <p:nvPr/>
        </p:nvSpPr>
        <p:spPr>
          <a:xfrm>
            <a:off x="320040" y="3657600"/>
            <a:ext cx="1554480" cy="502920"/>
          </a:xfrm>
          <a:prstGeom prst="roundRect">
            <a:avLst/>
          </a:prstGeom>
          <a:solidFill>
            <a:srgbClr val="FFFFFF"/>
          </a:solidFill>
          <a:ln w="1524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111111"/>
                </a:solidFill>
                <a:latin typeface="BIZ UDPGothic"/>
              </a:defRPr>
            </a:pPr>
            <a:r>
              <a:t>④設定温度の変更</a:t>
            </a:r>
          </a:p>
        </p:txBody>
      </p:sp>
      <p:sp>
        <p:nvSpPr>
          <p:cNvPr id="12" name="Rounded Rectangle 11"/>
          <p:cNvSpPr/>
          <p:nvPr/>
        </p:nvSpPr>
        <p:spPr>
          <a:xfrm>
            <a:off x="914400" y="5120640"/>
            <a:ext cx="2103120" cy="731520"/>
          </a:xfrm>
          <a:prstGeom prst="roundRect">
            <a:avLst/>
          </a:prstGeom>
          <a:solidFill>
            <a:srgbClr val="FFFFFF"/>
          </a:solidFill>
          <a:ln w="1524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111111"/>
                </a:solidFill>
                <a:latin typeface="BIZ UDPGothic"/>
              </a:defRPr>
            </a:pPr>
            <a:r>
              <a:t>⑤平日・休み明け</a:t>
            </a:r>
            <a:br/>
            <a:r>
              <a:t>運用の選択</a:t>
            </a:r>
          </a:p>
        </p:txBody>
      </p:sp>
      <p:sp>
        <p:nvSpPr>
          <p:cNvPr id="13" name="TextBox 12"/>
          <p:cNvSpPr txBox="1"/>
          <p:nvPr/>
        </p:nvSpPr>
        <p:spPr>
          <a:xfrm>
            <a:off x="10058400" y="2560320"/>
            <a:ext cx="2011680" cy="3200400"/>
          </a:xfrm>
          <a:prstGeom prst="rect">
            <a:avLst/>
          </a:prstGeom>
          <a:noFill/>
        </p:spPr>
        <p:txBody>
          <a:bodyPr wrap="none">
            <a:spAutoFit/>
          </a:bodyPr>
          <a:lstStyle/>
          <a:p>
            <a:pPr>
              <a:spcBef>
                <a:spcPts val="0"/>
              </a:spcBef>
              <a:defRPr sz="1250" b="1">
                <a:solidFill>
                  <a:srgbClr val="111111"/>
                </a:solidFill>
                <a:latin typeface="BIZ UDPGothic"/>
              </a:defRPr>
            </a:pPr>
            <a:r>
              <a:t>外気温度の推移</a:t>
            </a:r>
          </a:p>
          <a:p>
            <a:pPr>
              <a:spcBef>
                <a:spcPts val="3000"/>
              </a:spcBef>
              <a:defRPr sz="1250" b="1">
                <a:solidFill>
                  <a:srgbClr val="111111"/>
                </a:solidFill>
                <a:latin typeface="BIZ UDPGothic"/>
              </a:defRPr>
            </a:pPr>
            <a:r>
              <a:t>トレードオフの</a:t>
            </a:r>
            <a:br/>
            <a:r>
              <a:t>可視化</a:t>
            </a:r>
          </a:p>
          <a:p>
            <a:pPr>
              <a:spcBef>
                <a:spcPts val="4000"/>
              </a:spcBef>
              <a:defRPr sz="1150" b="1">
                <a:solidFill>
                  <a:srgbClr val="0B3968"/>
                </a:solidFill>
                <a:latin typeface="BIZ UDPGothic"/>
              </a:defRPr>
            </a:pPr>
            <a:r>
              <a:t>緑: 始業前消費電力</a:t>
            </a:r>
            <a:br/>
            <a:r>
              <a:t>青、赤: 設定温度到達時刻</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30352"/>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11480"/>
          </a:xfrm>
          <a:prstGeom prst="rect">
            <a:avLst/>
          </a:prstGeom>
          <a:noFill/>
        </p:spPr>
        <p:txBody>
          <a:bodyPr wrap="square">
            <a:spAutoFit/>
          </a:bodyPr>
          <a:lstStyle/>
          <a:p>
            <a:pPr>
              <a:defRPr sz="1800" b="1">
                <a:solidFill>
                  <a:srgbClr val="FFFFFF"/>
                </a:solidFill>
                <a:latin typeface="BIZ UDPGothic"/>
              </a:defRPr>
            </a:pPr>
            <a:r>
              <a:t>9. 課題と今後の展望</a:t>
            </a:r>
          </a:p>
        </p:txBody>
      </p:sp>
      <p:sp>
        <p:nvSpPr>
          <p:cNvPr id="4" name="Rounded Rectangle 3"/>
          <p:cNvSpPr/>
          <p:nvPr/>
        </p:nvSpPr>
        <p:spPr>
          <a:xfrm>
            <a:off x="10789920" y="128016"/>
            <a:ext cx="484632" cy="27432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E8F1F8"/>
                </a:solidFill>
                <a:latin typeface="BIZ UDPGothic"/>
              </a:defRPr>
            </a:pPr>
            <a:r>
              <a:t>IUO</a:t>
            </a:r>
          </a:p>
        </p:txBody>
      </p:sp>
      <p:sp>
        <p:nvSpPr>
          <p:cNvPr id="5" name="TextBox 4"/>
          <p:cNvSpPr txBox="1"/>
          <p:nvPr/>
        </p:nvSpPr>
        <p:spPr>
          <a:xfrm>
            <a:off x="11430000" y="73152"/>
            <a:ext cx="548640" cy="411480"/>
          </a:xfrm>
          <a:prstGeom prst="rect">
            <a:avLst/>
          </a:prstGeom>
          <a:noFill/>
        </p:spPr>
        <p:txBody>
          <a:bodyPr wrap="none">
            <a:spAutoFit/>
          </a:bodyPr>
          <a:lstStyle/>
          <a:p>
            <a:pPr algn="ctr">
              <a:defRPr sz="1800" b="1">
                <a:solidFill>
                  <a:srgbClr val="FFFFFF"/>
                </a:solidFill>
                <a:latin typeface="BIZ UDPGothic"/>
              </a:defRPr>
            </a:pPr>
            <a:r>
              <a:t>10</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800">
                <a:solidFill>
                  <a:srgbClr val="666666"/>
                </a:solidFill>
                <a:latin typeface="BIZ UDPGothic"/>
              </a:defRPr>
            </a:pPr>
            <a:r>
              <a:t>© Panasonic Corporation</a:t>
            </a:r>
          </a:p>
        </p:txBody>
      </p:sp>
      <p:sp>
        <p:nvSpPr>
          <p:cNvPr id="7" name="TextBox 6"/>
          <p:cNvSpPr txBox="1"/>
          <p:nvPr/>
        </p:nvSpPr>
        <p:spPr>
          <a:xfrm>
            <a:off x="822960" y="914400"/>
            <a:ext cx="10515600" cy="5029200"/>
          </a:xfrm>
          <a:prstGeom prst="rect">
            <a:avLst/>
          </a:prstGeom>
          <a:noFill/>
        </p:spPr>
        <p:txBody>
          <a:bodyPr wrap="none">
            <a:spAutoFit/>
          </a:bodyPr>
          <a:lstStyle/>
          <a:p>
            <a:pPr>
              <a:spcBef>
                <a:spcPts val="0"/>
              </a:spcBef>
              <a:defRPr sz="1400" b="1">
                <a:solidFill>
                  <a:srgbClr val="111111"/>
                </a:solidFill>
                <a:latin typeface="BIZ UDPGothic"/>
              </a:defRPr>
            </a:pPr>
            <a:r>
              <a:t>■ 課題</a:t>
            </a:r>
          </a:p>
          <a:p>
            <a:pPr>
              <a:spcBef>
                <a:spcPts val="600"/>
              </a:spcBef>
              <a:defRPr sz="1300" b="1">
                <a:solidFill>
                  <a:srgbClr val="111111"/>
                </a:solidFill>
                <a:latin typeface="BIZ UDPGothic"/>
              </a:defRPr>
            </a:pPr>
            <a:r>
              <a:t>1. 休み明けの予測の正確性</a:t>
            </a:r>
          </a:p>
          <a:p>
            <a:pPr>
              <a:spcBef>
                <a:spcPts val="200"/>
              </a:spcBef>
              <a:defRPr sz="1250" b="0">
                <a:solidFill>
                  <a:srgbClr val="333333"/>
                </a:solidFill>
                <a:latin typeface="BIZ UDPGothic"/>
              </a:defRPr>
            </a:pPr>
            <a:r>
              <a:t>・現状は平日運用とほぼ同じモデルを利用しているため、モデルとして適していない可能性</a:t>
            </a:r>
          </a:p>
          <a:p>
            <a:pPr>
              <a:spcBef>
                <a:spcPts val="1000"/>
              </a:spcBef>
              <a:defRPr sz="1300" b="1">
                <a:solidFill>
                  <a:srgbClr val="111111"/>
                </a:solidFill>
                <a:latin typeface="BIZ UDPGothic"/>
              </a:defRPr>
            </a:pPr>
            <a:r>
              <a:t>2. データ期間が短い</a:t>
            </a:r>
          </a:p>
          <a:p>
            <a:pPr>
              <a:spcBef>
                <a:spcPts val="200"/>
              </a:spcBef>
              <a:defRPr sz="1250" b="0">
                <a:solidFill>
                  <a:srgbClr val="333333"/>
                </a:solidFill>
                <a:latin typeface="BIZ UDPGothic"/>
              </a:defRPr>
            </a:pPr>
            <a:r>
              <a:t>・詳細なデータは2週間分であったため、より一般的な傾向をとらえきれていない可能性がある</a:t>
            </a:r>
          </a:p>
          <a:p>
            <a:pPr>
              <a:spcBef>
                <a:spcPts val="2000"/>
              </a:spcBef>
              <a:defRPr sz="1400" b="1">
                <a:solidFill>
                  <a:srgbClr val="111111"/>
                </a:solidFill>
                <a:latin typeface="BIZ UDPGothic"/>
              </a:defRPr>
            </a:pPr>
            <a:r>
              <a:t>■ 今後の展望</a:t>
            </a:r>
          </a:p>
          <a:p>
            <a:pPr>
              <a:spcBef>
                <a:spcPts val="600"/>
              </a:spcBef>
              <a:defRPr sz="1300" b="1">
                <a:solidFill>
                  <a:srgbClr val="111111"/>
                </a:solidFill>
                <a:latin typeface="BIZ UDPGothic"/>
              </a:defRPr>
            </a:pPr>
            <a:r>
              <a:t>1. 暖房期への対応</a:t>
            </a:r>
          </a:p>
          <a:p>
            <a:pPr>
              <a:spcBef>
                <a:spcPts val="600"/>
              </a:spcBef>
              <a:defRPr sz="1300" b="1">
                <a:solidFill>
                  <a:srgbClr val="111111"/>
                </a:solidFill>
                <a:latin typeface="BIZ UDPGothic"/>
              </a:defRPr>
            </a:pPr>
            <a:r>
              <a:t>2. 第二別館内の他フロア、または他棟への展開</a:t>
            </a:r>
          </a:p>
          <a:p>
            <a:pPr>
              <a:spcBef>
                <a:spcPts val="600"/>
              </a:spcBef>
              <a:defRPr sz="1300" b="1">
                <a:solidFill>
                  <a:srgbClr val="111111"/>
                </a:solidFill>
                <a:latin typeface="BIZ UDPGothic"/>
              </a:defRPr>
            </a:pPr>
            <a:r>
              <a:t>3. 外気温度、設定温度以外の変数の考慮（外気湿度など）</a:t>
            </a:r>
          </a:p>
          <a:p>
            <a:pPr>
              <a:spcBef>
                <a:spcPts val="600"/>
              </a:spcBef>
              <a:defRPr sz="1300" b="1">
                <a:solidFill>
                  <a:srgbClr val="111111"/>
                </a:solidFill>
                <a:latin typeface="BIZ UDPGothic"/>
              </a:defRPr>
            </a:pPr>
            <a:r>
              <a:t>4. データ読み取り→モデル再学習</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30352"/>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11480"/>
          </a:xfrm>
          <a:prstGeom prst="rect">
            <a:avLst/>
          </a:prstGeom>
          <a:noFill/>
        </p:spPr>
        <p:txBody>
          <a:bodyPr wrap="square">
            <a:spAutoFit/>
          </a:bodyPr>
          <a:lstStyle/>
          <a:p>
            <a:pPr>
              <a:defRPr sz="1800" b="1">
                <a:solidFill>
                  <a:srgbClr val="FFFFFF"/>
                </a:solidFill>
                <a:latin typeface="BIZ UDPGothic"/>
              </a:defRPr>
            </a:pPr>
            <a:r>
              <a:t>10. 所感</a:t>
            </a:r>
          </a:p>
        </p:txBody>
      </p:sp>
      <p:sp>
        <p:nvSpPr>
          <p:cNvPr id="4" name="Rounded Rectangle 3"/>
          <p:cNvSpPr/>
          <p:nvPr/>
        </p:nvSpPr>
        <p:spPr>
          <a:xfrm>
            <a:off x="10789920" y="128016"/>
            <a:ext cx="484632" cy="27432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E8F1F8"/>
                </a:solidFill>
                <a:latin typeface="BIZ UDPGothic"/>
              </a:defRPr>
            </a:pPr>
            <a:r>
              <a:t>IUO</a:t>
            </a:r>
          </a:p>
        </p:txBody>
      </p:sp>
      <p:sp>
        <p:nvSpPr>
          <p:cNvPr id="5" name="TextBox 4"/>
          <p:cNvSpPr txBox="1"/>
          <p:nvPr/>
        </p:nvSpPr>
        <p:spPr>
          <a:xfrm>
            <a:off x="11430000" y="73152"/>
            <a:ext cx="548640" cy="411480"/>
          </a:xfrm>
          <a:prstGeom prst="rect">
            <a:avLst/>
          </a:prstGeom>
          <a:noFill/>
        </p:spPr>
        <p:txBody>
          <a:bodyPr wrap="none">
            <a:spAutoFit/>
          </a:bodyPr>
          <a:lstStyle/>
          <a:p>
            <a:pPr algn="ctr">
              <a:defRPr sz="1800" b="1">
                <a:solidFill>
                  <a:srgbClr val="FFFFFF"/>
                </a:solidFill>
                <a:latin typeface="BIZ UDPGothic"/>
              </a:defRPr>
            </a:pPr>
            <a:r>
              <a:t>11</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800">
                <a:solidFill>
                  <a:srgbClr val="666666"/>
                </a:solidFill>
                <a:latin typeface="BIZ UDPGothic"/>
              </a:defRPr>
            </a:pPr>
            <a:r>
              <a:t>© Panasonic Corporation</a:t>
            </a:r>
          </a:p>
        </p:txBody>
      </p:sp>
      <p:sp>
        <p:nvSpPr>
          <p:cNvPr id="7" name="TextBox 6"/>
          <p:cNvSpPr txBox="1"/>
          <p:nvPr/>
        </p:nvSpPr>
        <p:spPr>
          <a:xfrm>
            <a:off x="822960" y="1097280"/>
            <a:ext cx="10515600" cy="4572000"/>
          </a:xfrm>
          <a:prstGeom prst="rect">
            <a:avLst/>
          </a:prstGeom>
          <a:noFill/>
        </p:spPr>
        <p:txBody>
          <a:bodyPr wrap="none">
            <a:spAutoFit/>
          </a:bodyPr>
          <a:lstStyle/>
          <a:p>
            <a:pPr>
              <a:spcBef>
                <a:spcPts val="0"/>
              </a:spcBef>
              <a:defRPr sz="1400" b="1">
                <a:solidFill>
                  <a:srgbClr val="111111"/>
                </a:solidFill>
                <a:latin typeface="BIZ UDPGothic"/>
              </a:defRPr>
            </a:pPr>
            <a:r>
              <a:t>■ 実習を通して</a:t>
            </a:r>
          </a:p>
          <a:p>
            <a:pPr>
              <a:spcBef>
                <a:spcPts val="600"/>
              </a:spcBef>
              <a:defRPr sz="1300" b="0">
                <a:solidFill>
                  <a:srgbClr val="333333"/>
                </a:solidFill>
                <a:latin typeface="BIZ UDPGothic"/>
              </a:defRPr>
            </a:pPr>
            <a:r>
              <a:t>・お客様目線でのアプリケーション開発は相手の要望を想像しながらしなければいけない部分もあり、難しかった。</a:t>
            </a:r>
          </a:p>
          <a:p>
            <a:pPr>
              <a:spcBef>
                <a:spcPts val="2400"/>
              </a:spcBef>
              <a:defRPr sz="1400" b="1">
                <a:solidFill>
                  <a:srgbClr val="111111"/>
                </a:solidFill>
                <a:latin typeface="BIZ UDPGothic"/>
              </a:defRPr>
            </a:pPr>
            <a:r>
              <a:t>■ インターンシップを通して</a:t>
            </a:r>
          </a:p>
          <a:p>
            <a:pPr>
              <a:spcBef>
                <a:spcPts val="600"/>
              </a:spcBef>
              <a:defRPr sz="1300" b="0">
                <a:solidFill>
                  <a:srgbClr val="333333"/>
                </a:solidFill>
                <a:latin typeface="BIZ UDPGothic"/>
              </a:defRPr>
            </a:pPr>
            <a:r>
              <a:t>・ずっとデスクワークというわけではなく、実験住宅の見学やセキュリティ関連の紹介をしていただくなど</a:t>
            </a:r>
            <a:br/>
            <a:r>
              <a:t>  様々なものに触れられて、とても実りある2週間でした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