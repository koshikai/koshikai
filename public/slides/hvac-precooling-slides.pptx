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8"/>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  <Relationship Id="rId1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ja-JP"/>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ja-JP"/>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ja-JP"/>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ja-JP"/>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ja-JP"/>
          </a:p>
        </p:txBody>
      </p:sp>
    </p:spTree>
  </p:cSld>
  <p:clrMap bg1="lt1" tx1="dk1" bg2="lt2" tx2="dk2" accent1="accent1" accent2="accent2" accent3="accent3" accent4="accent4" accent5="accent5" accent6="accent6" hlink="hlink" folHlink="folHlink"/>
  <p:hf/>
  <p:notesStyle>
    <a:lvl1pPr marL="0" algn="l">
      <a:defRPr sz="1200" lang="ja-JP"/>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研究開発実習の成果として、オフィスビルの熱源をいつ起動すべきかという問題に取り組みました。テーマは、熱源の起動をどこまで遅らせてよいかです。左端にあるのが現在の起動時刻である5時5分、右端が始業の8時で、その間のおよそ2時間55分が今日お話しする対象になります。前日に得られる気温予報から必要な予冷時間を推計し、始業時の快適性を守ったまま早朝の運転を削るという方式を、BM向けの意思決定支援システムとしてつくりました。なお本日お示しする数値はすべて合成データによる参考値で、実データを受領したあとに同じ手順で検証し直す前提で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現場では、起動スケジュールが前任者のつくった早朝一律の設定のまま引き継がれています。通常平日は5時、休み明けは3時という設定です。担当者が動かせないのは、朝8時の始業時に室温が冷え切っていないとクレームになるからで、遅らせてよいという根拠がない以上、安全側に倒し続けるしかありません。右のグラフは8月19日から30日までの12日間について、消費電力の立ち上がりから自動検出した起動時刻を並べたものです。チラーAは12日のうち10日が5時5分、残り2日が5時6分で、チラーBはその30分後に固定インターバルで起動しています。日によって気温は違うのに、起動時刻はほとんど動いていません。つまり現行運用には、温度条件に応じて起動を変えるという判断基準そのものが入っていないということで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ではその固定運用で、実際に何が起きているかを見ます。これは8月20日の1分値の波形で、5時5分の起動で消費電力が一気に立ち上がり、6時半から7時のあいだには全系統が設定温度へ到達しています。問題はそのあとで、到達してから8時までの1時間以上は、すでに冷え切った部屋を保つためだけの運転が続いています。図の中で色を敷いている区間がそれで、今回削る対象はここです。室温を下げるという仕事自体はもう終わっていて、あとは維持しているだけだ、という点が出発点になります。この波形も合成データによる参考値で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ここから設計の話に移りますが、方式をほぼ決めてしまった制約が2つあります。1つめは決定のタイミングで、起動時刻は前日の夕方に人が決めるということです。決める時点では翌朝の室温はまだ存在しないので、室温を経由する制御はそもそも成り立ちません。だから前日に得られる翌日の気温予報から、必要な予冷時間を直接推計する方式を採りました。2つめは損失の重さで、始業時に冷えていないという未達はクレームにつながり高コストである一方、過剰予冷は電力の無駄にとどまり低コストです。損失が非対称なので、予冷時間は中央値ではなく残差の上側分位で見積もり、安全側に倒します。この2つを外すと、どれだけ精度の高いモデルをつくっても現場では使えません。</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推計の形はここに書いたとおりで、起動時の外気温と設定温度から必要な予冷時間を出します。入力は前日に得られる気温予報と設定温度だけで、室温は使いません。ただし現場に渡すのはモデルの出力そのものではなく、そこに安全側の余裕を積み上げた値です。内訳はモデル出力、残差の上側95パーセント分位にあたる安心保証の余裕、予報が外れる分として1.5度相当、そして休み明けの日だけ乗せる上乗せの4つです。この安心保証95パーセントと予報の外れ幅1.5度は画面で選ばせず固定しています。毎回担当者に選ばせると判断がぶれて、運用としての再現性が失われるからです。内訳を分けて表示しているのは、どこが効いて時刻が決まったかを担当者自身が確認できるようにするためで、係数は画面やコードではなくモデルのJSONから読み込んでいま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モデルの学習では、当てはめない方向の判断を2つしています。1つは休日明けの分離です。土日や祝日の明けは躯体に熱が残っていて、通常平日の平均33.8分に対して平均159.0分と大きく延びます。グラフの上のほうに離れている2点がそれで、混ぜて学習すると通常平日の見積もりが過大になるため、通常平日のデータだけでモデルを学習しました。もう1つは、その通常平日でも回帰直線を引かなかったことです。学習に使えた外気温の幅は23.5度から25.1度と狭く、無理に傾きを持たせず、ほぼ水平な予測線にとどめています。学習範囲の外に出た入力は外挿として画面に警告を出します。説明変数は当てはまりではなく1件抜き交差検証、LOO-MAEで選んでいて、湿度やエンタルピーを足した版も試しましたが改善は0.02分にとどまったため、センサー故障のリスクと保守性を考えて温度差主体のモデルを採りました。なお運用時は、休み明けの予報外気温を2.0度高く読み替えて同じ式に通していま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ここからは確かめられた範囲です。8月19日から22日と、25日から29日までの平日実働9日間について、学習済みモデルを当てて現行運用と比べました。淡い帯が現行の5時5分から推奨起動までの区間で、ここは停止を維持する時間になります。その右の濃い帯が最適運転の時間帯で、丸印が設定温度への到達時刻です。9日すべてが8時の縦線より手前、7時57分前後で到達していて、到達率は100パーセントでした。8月25日の月曜だけは休み明けとして自動判定され、蓄熱ぶんの上乗せを通したうえで到達しています。この結果も合成データに基づく参考シミュレーションである点は付け加えておきます。</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削減の側を数量で見ます。8時の到達率は9日間すべてで100パーセント、平均の起動遅延は現行の5時5分に対して121分で、およそ2時間後ろ倒しできる計算です。日あたりの削減電力量は25.0キロワットアワーで、これは始業前の電力のおよそ65パーセントにあたります。9日間の累計では225.4キロワットアワー、電気代換算で約6000円、二酸化炭素換算で約100キログラムです。前提として、予冷時の平均電力は実績データから算出した値をモデルのJSON経由で渡していて、画面で人に入力させていません。人が入力する形にすると、データを取り直しても古い数字が残ってしまうからです。繰り返しになりますが、これらはすべて合成データに基づく参考値で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この判断を担当者が前日の夕方に1画面でできるようにしたのが、運用画面です。左のグラフは横軸に起動時刻を取り、縦軸に始業前の消費電力量を置いています。起動を遅らせるほど省エネにはなりますが、ある時刻を超えると8時に間に合わなくなる。その限界が縦線の7時5分で、右側の網掛けは間に合わない領域です。現行の5時5分ではおよそ36キロワットアワー、推奨の7時5分ではおよそ11キロワットアワーで、この差が先ほどの1日25キロワットアワーにあたります。画面で担当者が決めるのは設定温度と、休み明けかどうかの2つだけで、月曜と祝日の翌日は自動で判定されます。翌日の時間別の気温と湿度の予報はOpen-Meteoから自動取得し、画面は推奨起動時刻とあわせて予冷時間の内訳を分けて返します。入力が学習データの値域を外れたときは、外挿である旨を警告しま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一方で、まだ確かめていないことを先に申し上げます。1つめは、本日の数値がすべて合成データによる参考値であることで、実データでの再現はこれからです。2つめは休み明けの2.0度の上乗せで、これは実績を見て決めた運用値であって、学習した係数ではありません。休み明けの標本が2件しかなく、係数化できていないためです。3つめは学習に使った外気温の幅で、23.5度から25.1度の範囲でしか確かめられておらず、中間期や猛暑日、冬期の暖房は範囲外です。これに対して次にやることは3つです。まず実データでcheck_data.pyによって期間、欠測、外れ値を点検し、fit_models.pyで再学習してLOO-MAEで評価し直します。次に通年データを投入して外気温の範囲を広げ、前日の最高気温や日射量を加えて蓄熱負荷の精度を上げます。最後に、共通パッケージとしてデータのCSVを差し替えるだけで他フロアや他棟へ展開し、BEMSのデマンド制御へつなげていきま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まとめます。課題は、判断基準がないまま固定起動が続いていたことでした。方式は、室温を経由せず翌日の気温予報から予冷時間を安全側に見積もることです。残したものは、内訳を開示したうえで推奨時刻を出す1画面と、値を1箇所に集めた再現可能な手順です。表紙でお見せした5時5分から8時までの幅のうち、根拠を持って動かせるようになったのが7時5分までの部分で、その先は必要な運転として残ります。つまり今回つくったのは削減量そのものではなく、担当者が自分で起動時刻を決められる判断のものさしです。次の一歩として、実データでモデルを再学習し、現場の運用値として妥当性を確認します。ご清聴ありがとうございました。</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anasonic_ew_presentation_v2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anasonic_ew_presentation_v2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297b678075c7094.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6542" y="730568"/>
            <a:ext cx="11138916" cy="345757"/>
            <a:chOff x="526542" y="730568"/>
            <a:chExt cx="11138916" cy="345757"/>
          </a:xfrm>
        </p:grpSpPr>
        <p:sp>
          <p:nvSpPr>
            <p:cNvPr id="2" name="TextBox 2"/>
            <p:cNvSpPr txBox="1"/>
            <p:nvPr/>
          </p:nvSpPr>
          <p:spPr>
            <a:xfrm>
              <a:off x="526542" y="730568"/>
              <a:ext cx="2703424"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2026年度 研究開発実習 成果報告</a:t>
              </a:r>
            </a:p>
          </p:txBody>
        </p:sp>
        <p:sp>
          <p:nvSpPr>
            <p:cNvPr id="3" name="TextBox 3"/>
            <p:cNvSpPr txBox="1"/>
            <p:nvPr/>
          </p:nvSpPr>
          <p:spPr>
            <a:xfrm>
              <a:off x="10016109" y="730568"/>
              <a:ext cx="1649349"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建物設備運用開発課</a:t>
              </a:r>
            </a:p>
          </p:txBody>
        </p:sp>
        <p:sp>
          <p:nvSpPr>
            <p:cNvPr id="4" name="Line 4"/>
            <p:cNvSpPr/>
            <p:nvPr/>
          </p:nvSpPr>
          <p:spPr>
            <a:xfrm>
              <a:off x="533400" y="1066800"/>
              <a:ext cx="11125200" cy="9525"/>
            </a:xfrm>
            <a:custGeom>
              <a:avLst/>
              <a:gdLst/>
              <a:ahLst/>
              <a:cxnLst/>
              <a:rect l="l" t="t" r="r" b="b"/>
              <a:pathLst>
                <a:path w="11125200" h="9525">
                  <a:moveTo>
                    <a:pt x="0" y="0"/>
                  </a:moveTo>
                  <a:lnTo>
                    <a:pt x="11125200" y="0"/>
                  </a:lnTo>
                </a:path>
              </a:pathLst>
            </a:custGeom>
            <a:noFill/>
            <a:ln w="14288">
              <a:solidFill>
                <a:schemeClr val="accent1"/>
              </a:solidFill>
            </a:ln>
          </p:spPr>
        </p:sp>
      </p:grpSp>
      <p:grpSp>
        <p:nvGrpSpPr>
          <p:cNvPr id="8" name="Group 8"/>
          <p:cNvGrpSpPr/>
          <p:nvPr/>
        </p:nvGrpSpPr>
        <p:grpSpPr>
          <a:xfrm>
            <a:off x="517398" y="1526858"/>
            <a:ext cx="7664958" cy="1560004"/>
            <a:chOff x="517398" y="1526858"/>
            <a:chExt cx="7664958" cy="1560004"/>
          </a:xfrm>
        </p:grpSpPr>
        <p:sp>
          <p:nvSpPr>
            <p:cNvPr id="6" name="TextBox 6"/>
            <p:cNvSpPr txBox="1"/>
            <p:nvPr/>
          </p:nvSpPr>
          <p:spPr>
            <a:xfrm>
              <a:off x="517398" y="1526858"/>
              <a:ext cx="7664958" cy="616077"/>
            </a:xfrm>
            <a:prstGeom prst="rect">
              <a:avLst/>
            </a:prstGeom>
            <a:noFill/>
            <a:ln>
              <a:noFill/>
            </a:ln>
          </p:spPr>
          <p:txBody>
            <a:bodyPr wrap="none" lIns="0" tIns="0" rIns="0" bIns="0" anchor="t" anchorCtr="0">
              <a:spAutoFit/>
            </a:bodyPr>
            <a:lstStyle/>
            <a:p>
              <a:pPr algn="l"/>
              <a:r>
                <a:rPr lang="ja-JP" sz="3150" b="1" dirty="0">
                  <a:solidFill>
                    <a:schemeClr val="accent1"/>
                  </a:solidFill>
                  <a:latin typeface="+mn-lt"/>
                  <a:ea typeface="+mn-ea"/>
                  <a:cs typeface="+mn-cs"/>
                </a:rPr>
                <a:t>熱源の起動を、どこまで遅らせてよいか</a:t>
              </a:r>
            </a:p>
          </p:txBody>
        </p:sp>
        <p:sp>
          <p:nvSpPr>
            <p:cNvPr id="7" name="TextBox 7"/>
            <p:cNvSpPr txBox="1"/>
            <p:nvPr/>
          </p:nvSpPr>
          <p:spPr>
            <a:xfrm>
              <a:off x="521208" y="2198370"/>
              <a:ext cx="5510784" cy="888492"/>
            </a:xfrm>
            <a:prstGeom prst="rect">
              <a:avLst/>
            </a:prstGeom>
            <a:noFill/>
            <a:ln>
              <a:noFill/>
            </a:ln>
          </p:spPr>
          <p:txBody>
            <a:bodyPr wrap="none" lIns="0" tIns="0" rIns="0" bIns="0" anchor="t" anchorCtr="0">
              <a:spAutoFit/>
            </a:bodyPr>
            <a:lstStyle/>
            <a:p>
              <a:pPr algn="l">
                <a:lnSpc>
                  <a:spcPts val="3300"/>
                </a:lnSpc>
              </a:pPr>
              <a:r>
                <a:rPr lang="ja-JP" sz="2400" dirty="0">
                  <a:solidFill>
                    <a:schemeClr val="dk1"/>
                  </a:solidFill>
                  <a:latin typeface="+mn-lt"/>
                  <a:ea typeface="+mn-ea"/>
                  <a:cs typeface="+mn-cs"/>
                </a:rPr>
                <a:t>前日の気温予報から予冷時間を推計する</a:t>
              </a:r>
              <a:br/>
              <a:r>
                <a:rPr lang="ja-JP" sz="2400" dirty="0">
                  <a:solidFill>
                    <a:schemeClr val="dk1"/>
                  </a:solidFill>
                  <a:latin typeface="+mn-lt"/>
                  <a:ea typeface="+mn-ea"/>
                  <a:cs typeface="+mn-cs"/>
                </a:rPr>
                <a:t>BM 向け意思決定支援システムの開発</a:t>
              </a:r>
            </a:p>
          </p:txBody>
        </p:sp>
      </p:grpSp>
      <p:grpSp>
        <p:nvGrpSpPr>
          <p:cNvPr id="18" name="Group 18"/>
          <p:cNvGrpSpPr/>
          <p:nvPr/>
        </p:nvGrpSpPr>
        <p:grpSpPr>
          <a:xfrm>
            <a:off x="952500" y="3891915"/>
            <a:ext cx="10287000" cy="1674686"/>
            <a:chOff x="952500" y="3891915"/>
            <a:chExt cx="10287000" cy="1674686"/>
          </a:xfrm>
        </p:grpSpPr>
        <p:sp>
          <p:nvSpPr>
            <p:cNvPr id="9" name="TextBox 9"/>
            <p:cNvSpPr txBox="1"/>
            <p:nvPr/>
          </p:nvSpPr>
          <p:spPr>
            <a:xfrm>
              <a:off x="1600200" y="3891915"/>
              <a:ext cx="2487006" cy="1219200"/>
            </a:xfrm>
            <a:prstGeom prst="rect">
              <a:avLst/>
            </a:prstGeom>
            <a:noFill/>
            <a:ln>
              <a:noFill/>
            </a:ln>
          </p:spPr>
          <p:txBody>
            <a:bodyPr wrap="none" lIns="0" tIns="0" rIns="0" bIns="0" anchor="t" anchorCtr="0">
              <a:spAutoFit/>
            </a:bodyPr>
            <a:lstStyle/>
            <a:p>
              <a:pPr algn="l"/>
              <a:r>
                <a:rPr lang="ja-JP" sz="6300" b="1" dirty="0">
                  <a:solidFill>
                    <a:schemeClr val="accent1"/>
                  </a:solidFill>
                  <a:latin typeface="+mn-lt"/>
                  <a:ea typeface="+mn-ea"/>
                  <a:cs typeface="+mn-cs"/>
                </a:rPr>
                <a:t>05:05</a:t>
              </a:r>
            </a:p>
          </p:txBody>
        </p:sp>
        <p:sp>
          <p:nvSpPr>
            <p:cNvPr id="10" name="TextBox 10"/>
            <p:cNvSpPr txBox="1"/>
            <p:nvPr/>
          </p:nvSpPr>
          <p:spPr>
            <a:xfrm>
              <a:off x="9722891" y="4312920"/>
              <a:ext cx="957301" cy="469392"/>
            </a:xfrm>
            <a:prstGeom prst="rect">
              <a:avLst/>
            </a:prstGeom>
            <a:noFill/>
            <a:ln>
              <a:noFill/>
            </a:ln>
          </p:spPr>
          <p:txBody>
            <a:bodyPr wrap="none" lIns="0" tIns="0" rIns="0" bIns="0" anchor="t" anchorCtr="0">
              <a:spAutoFit/>
            </a:bodyPr>
            <a:lstStyle/>
            <a:p>
              <a:pPr algn="r"/>
              <a:r>
                <a:rPr lang="ja-JP" sz="2400" b="1" dirty="0">
                  <a:solidFill>
                    <a:schemeClr val="accent1"/>
                  </a:solidFill>
                  <a:latin typeface="+mn-lt"/>
                  <a:ea typeface="+mn-ea"/>
                  <a:cs typeface="+mn-cs"/>
                </a:rPr>
                <a:t>08:00</a:t>
              </a:r>
            </a:p>
          </p:txBody>
        </p:sp>
        <p:sp>
          <p:nvSpPr>
            <p:cNvPr id="11" name="Line 11"/>
            <p:cNvSpPr/>
            <p:nvPr/>
          </p:nvSpPr>
          <p:spPr>
            <a:xfrm>
              <a:off x="952500" y="4953000"/>
              <a:ext cx="10287000" cy="9525"/>
            </a:xfrm>
            <a:custGeom>
              <a:avLst/>
              <a:gdLst/>
              <a:ahLst/>
              <a:cxnLst/>
              <a:rect l="l" t="t" r="r" b="b"/>
              <a:pathLst>
                <a:path w="10287000" h="9525">
                  <a:moveTo>
                    <a:pt x="0" y="0"/>
                  </a:moveTo>
                  <a:lnTo>
                    <a:pt x="10287000" y="0"/>
                  </a:lnTo>
                </a:path>
              </a:pathLst>
            </a:custGeom>
            <a:noFill/>
            <a:ln w="14288">
              <a:solidFill>
                <a:schemeClr val="accent6"/>
              </a:solidFill>
            </a:ln>
          </p:spPr>
        </p:sp>
        <p:sp>
          <p:nvSpPr>
            <p:cNvPr id="12" name="Rectangle 12"/>
            <p:cNvSpPr/>
            <p:nvPr/>
          </p:nvSpPr>
          <p:spPr>
            <a:xfrm>
              <a:off x="1619250" y="4895850"/>
              <a:ext cx="9048750" cy="114300"/>
            </a:xfrm>
            <a:prstGeom prst="rect">
              <a:avLst/>
            </a:prstGeom>
            <a:solidFill>
              <a:schemeClr val="accent2">
                <a:alpha val="14000"/>
              </a:schemeClr>
            </a:solidFill>
            <a:ln>
              <a:noFill/>
            </a:ln>
          </p:spPr>
        </p:sp>
        <p:sp>
          <p:nvSpPr>
            <p:cNvPr id="13" name="Line 13"/>
            <p:cNvSpPr/>
            <p:nvPr/>
          </p:nvSpPr>
          <p:spPr>
            <a:xfrm>
              <a:off x="1619250" y="4762500"/>
              <a:ext cx="9525" cy="381000"/>
            </a:xfrm>
            <a:custGeom>
              <a:avLst/>
              <a:gdLst/>
              <a:ahLst/>
              <a:cxnLst/>
              <a:rect l="l" t="t" r="r" b="b"/>
              <a:pathLst>
                <a:path w="9525" h="381000">
                  <a:moveTo>
                    <a:pt x="0" y="0"/>
                  </a:moveTo>
                  <a:lnTo>
                    <a:pt x="0" y="381000"/>
                  </a:lnTo>
                </a:path>
              </a:pathLst>
            </a:custGeom>
            <a:noFill/>
            <a:ln w="23812">
              <a:solidFill>
                <a:schemeClr val="accent1"/>
              </a:solidFill>
            </a:ln>
          </p:spPr>
        </p:sp>
        <p:sp>
          <p:nvSpPr>
            <p:cNvPr id="14" name="Line 14"/>
            <p:cNvSpPr/>
            <p:nvPr/>
          </p:nvSpPr>
          <p:spPr>
            <a:xfrm>
              <a:off x="10668000" y="4762500"/>
              <a:ext cx="9525" cy="381000"/>
            </a:xfrm>
            <a:custGeom>
              <a:avLst/>
              <a:gdLst/>
              <a:ahLst/>
              <a:cxnLst/>
              <a:rect l="l" t="t" r="r" b="b"/>
              <a:pathLst>
                <a:path w="9525" h="381000">
                  <a:moveTo>
                    <a:pt x="0" y="0"/>
                  </a:moveTo>
                  <a:lnTo>
                    <a:pt x="0" y="381000"/>
                  </a:lnTo>
                </a:path>
              </a:pathLst>
            </a:custGeom>
            <a:noFill/>
            <a:ln w="23812">
              <a:solidFill>
                <a:schemeClr val="accent1"/>
              </a:solidFill>
            </a:ln>
          </p:spPr>
        </p:sp>
        <p:sp>
          <p:nvSpPr>
            <p:cNvPr id="15" name="TextBox 15"/>
            <p:cNvSpPr txBox="1"/>
            <p:nvPr/>
          </p:nvSpPr>
          <p:spPr>
            <a:xfrm>
              <a:off x="1612392" y="5302568"/>
              <a:ext cx="1285875"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現行の起動時刻</a:t>
              </a:r>
            </a:p>
          </p:txBody>
        </p:sp>
        <p:sp>
          <p:nvSpPr>
            <p:cNvPr id="16" name="TextBox 16"/>
            <p:cNvSpPr txBox="1"/>
            <p:nvPr/>
          </p:nvSpPr>
          <p:spPr>
            <a:xfrm>
              <a:off x="4787370" y="5302568"/>
              <a:ext cx="2712510" cy="264033"/>
            </a:xfrm>
            <a:prstGeom prst="rect">
              <a:avLst/>
            </a:prstGeom>
            <a:noFill/>
            <a:ln>
              <a:noFill/>
            </a:ln>
          </p:spPr>
          <p:txBody>
            <a:bodyPr wrap="none" lIns="0" tIns="0" rIns="0" bIns="0" anchor="t" anchorCtr="0">
              <a:spAutoFit/>
            </a:bodyPr>
            <a:lstStyle/>
            <a:p>
              <a:pPr algn="ctr"/>
              <a:r>
                <a:rPr lang="ja-JP" sz="1350" dirty="0">
                  <a:solidFill>
                    <a:schemeClr val="accent2"/>
                  </a:solidFill>
                  <a:latin typeface="+mn-lt"/>
                  <a:ea typeface="+mn-ea"/>
                  <a:cs typeface="+mn-cs"/>
                </a:rPr>
                <a:t>この 2 時間 55 分が、判断の対象</a:t>
              </a:r>
            </a:p>
          </p:txBody>
        </p:sp>
        <p:sp>
          <p:nvSpPr>
            <p:cNvPr id="17" name="TextBox 17"/>
            <p:cNvSpPr txBox="1"/>
            <p:nvPr/>
          </p:nvSpPr>
          <p:spPr>
            <a:xfrm>
              <a:off x="9025509" y="5302568"/>
              <a:ext cx="1649349"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始業・目標到達時刻</a:t>
              </a:r>
            </a:p>
          </p:txBody>
        </p:sp>
      </p:grpSp>
      <p:grpSp>
        <p:nvGrpSpPr>
          <p:cNvPr id="23" name="Group 23"/>
          <p:cNvGrpSpPr/>
          <p:nvPr/>
        </p:nvGrpSpPr>
        <p:grpSpPr>
          <a:xfrm>
            <a:off x="527304" y="5814060"/>
            <a:ext cx="11137392" cy="615696"/>
            <a:chOff x="527304" y="5814060"/>
            <a:chExt cx="11137392" cy="615696"/>
          </a:xfrm>
        </p:grpSpPr>
        <p:sp>
          <p:nvSpPr>
            <p:cNvPr id="19" name="TextBox 19"/>
            <p:cNvSpPr txBox="1"/>
            <p:nvPr/>
          </p:nvSpPr>
          <p:spPr>
            <a:xfrm>
              <a:off x="527304" y="5814060"/>
              <a:ext cx="7443216"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起動時刻と稼働日は実測。電力量と削減額は合成データによる試算で、実データ受領後に再検証する。</a:t>
              </a:r>
            </a:p>
          </p:txBody>
        </p:sp>
        <p:sp>
          <p:nvSpPr>
            <p:cNvPr id="20" name="Line 20"/>
            <p:cNvSpPr/>
            <p:nvPr/>
          </p:nvSpPr>
          <p:spPr>
            <a:xfrm>
              <a:off x="533400" y="609600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21" name="TextBox 21"/>
            <p:cNvSpPr txBox="1"/>
            <p:nvPr/>
          </p:nvSpPr>
          <p:spPr>
            <a:xfrm>
              <a:off x="527304" y="6195060"/>
              <a:ext cx="8073238"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パナソニック エレクトリックワークス株式会社 ソリューション開発本部 システムソリューション開発センター</a:t>
              </a:r>
            </a:p>
          </p:txBody>
        </p:sp>
        <p:sp>
          <p:nvSpPr>
            <p:cNvPr id="22" name="TextBox 22"/>
            <p:cNvSpPr txBox="1"/>
            <p:nvPr/>
          </p:nvSpPr>
          <p:spPr>
            <a:xfrm>
              <a:off x="11030560" y="6195060"/>
              <a:ext cx="634136"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2026.08</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6542" y="730568"/>
            <a:ext cx="11138916" cy="345757"/>
            <a:chOff x="526542" y="730568"/>
            <a:chExt cx="11138916" cy="345757"/>
          </a:xfrm>
        </p:grpSpPr>
        <p:sp>
          <p:nvSpPr>
            <p:cNvPr id="2" name="TextBox 2"/>
            <p:cNvSpPr txBox="1"/>
            <p:nvPr/>
          </p:nvSpPr>
          <p:spPr>
            <a:xfrm>
              <a:off x="526542" y="730568"/>
              <a:ext cx="2085518"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01 現場で起きていること</a:t>
              </a:r>
            </a:p>
          </p:txBody>
        </p:sp>
        <p:sp>
          <p:nvSpPr>
            <p:cNvPr id="3" name="TextBox 3"/>
            <p:cNvSpPr txBox="1"/>
            <p:nvPr/>
          </p:nvSpPr>
          <p:spPr>
            <a:xfrm>
              <a:off x="11042923" y="730568"/>
              <a:ext cx="622535"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02 / 11</a:t>
              </a:r>
            </a:p>
          </p:txBody>
        </p:sp>
        <p:sp>
          <p:nvSpPr>
            <p:cNvPr id="4" name="Line 4"/>
            <p:cNvSpPr/>
            <p:nvPr/>
          </p:nvSpPr>
          <p:spPr>
            <a:xfrm>
              <a:off x="533400" y="1066800"/>
              <a:ext cx="11125200" cy="9525"/>
            </a:xfrm>
            <a:custGeom>
              <a:avLst/>
              <a:gdLst/>
              <a:ahLst/>
              <a:cxnLst/>
              <a:rect l="l" t="t" r="r" b="b"/>
              <a:pathLst>
                <a:path w="11125200" h="9525">
                  <a:moveTo>
                    <a:pt x="0" y="0"/>
                  </a:moveTo>
                  <a:lnTo>
                    <a:pt x="11125200" y="0"/>
                  </a:lnTo>
                </a:path>
              </a:pathLst>
            </a:custGeom>
            <a:noFill/>
            <a:ln w="14288">
              <a:solidFill>
                <a:schemeClr val="accent1"/>
              </a:solidFill>
            </a:ln>
          </p:spPr>
        </p:sp>
      </p:grpSp>
      <p:grpSp>
        <p:nvGrpSpPr>
          <p:cNvPr id="8" name="Group 8"/>
          <p:cNvGrpSpPr/>
          <p:nvPr/>
        </p:nvGrpSpPr>
        <p:grpSpPr>
          <a:xfrm>
            <a:off x="517398" y="1298258"/>
            <a:ext cx="8513064" cy="1051559"/>
            <a:chOff x="517398" y="1298258"/>
            <a:chExt cx="8513064" cy="1051559"/>
          </a:xfrm>
        </p:grpSpPr>
        <p:sp>
          <p:nvSpPr>
            <p:cNvPr id="6" name="TextBox 6"/>
            <p:cNvSpPr txBox="1"/>
            <p:nvPr/>
          </p:nvSpPr>
          <p:spPr>
            <a:xfrm>
              <a:off x="517398" y="1298258"/>
              <a:ext cx="8513064" cy="616077"/>
            </a:xfrm>
            <a:prstGeom prst="rect">
              <a:avLst/>
            </a:prstGeom>
            <a:noFill/>
            <a:ln>
              <a:noFill/>
            </a:ln>
          </p:spPr>
          <p:txBody>
            <a:bodyPr wrap="none" lIns="0" tIns="0" rIns="0" bIns="0" anchor="t" anchorCtr="0">
              <a:spAutoFit/>
            </a:bodyPr>
            <a:lstStyle/>
            <a:p>
              <a:pPr algn="l"/>
              <a:r>
                <a:rPr lang="ja-JP" sz="3150" b="1" dirty="0">
                  <a:solidFill>
                    <a:schemeClr val="accent1"/>
                  </a:solidFill>
                  <a:latin typeface="+mn-lt"/>
                  <a:ea typeface="+mn-ea"/>
                  <a:cs typeface="+mn-cs"/>
                </a:rPr>
                <a:t>前任者が決めた時刻を、誰も動かせていない</a:t>
              </a:r>
            </a:p>
          </p:txBody>
        </p:sp>
        <p:sp>
          <p:nvSpPr>
            <p:cNvPr id="7" name="TextBox 7"/>
            <p:cNvSpPr txBox="1"/>
            <p:nvPr/>
          </p:nvSpPr>
          <p:spPr>
            <a:xfrm>
              <a:off x="521970" y="1909762"/>
              <a:ext cx="7292340" cy="440055"/>
            </a:xfrm>
            <a:prstGeom prst="rect">
              <a:avLst/>
            </a:prstGeom>
            <a:noFill/>
            <a:ln>
              <a:noFill/>
            </a:ln>
          </p:spPr>
          <p:txBody>
            <a:bodyPr wrap="none" lIns="0" tIns="0" rIns="0" bIns="0" anchor="t" anchorCtr="0">
              <a:spAutoFit/>
            </a:bodyPr>
            <a:lstStyle/>
            <a:p>
              <a:pPr algn="l"/>
              <a:r>
                <a:rPr lang="ja-JP" sz="2250" dirty="0">
                  <a:solidFill>
                    <a:schemeClr val="dk1"/>
                  </a:solidFill>
                  <a:latin typeface="+mn-lt"/>
                  <a:ea typeface="+mn-ea"/>
                  <a:cs typeface="+mn-cs"/>
                </a:rPr>
                <a:t>気温が違う日も、起動時刻はほとんど動いていない。</a:t>
              </a:r>
            </a:p>
          </p:txBody>
        </p:sp>
      </p:grpSp>
      <p:grpSp>
        <p:nvGrpSpPr>
          <p:cNvPr id="13" name="Group 13"/>
          <p:cNvGrpSpPr/>
          <p:nvPr/>
        </p:nvGrpSpPr>
        <p:grpSpPr>
          <a:xfrm>
            <a:off x="524256" y="2635568"/>
            <a:ext cx="5630990" cy="3140583"/>
            <a:chOff x="524256" y="2635568"/>
            <a:chExt cx="5630990" cy="3140583"/>
          </a:xfrm>
        </p:grpSpPr>
        <p:sp>
          <p:nvSpPr>
            <p:cNvPr id="9" name="TextBox 9"/>
            <p:cNvSpPr txBox="1"/>
            <p:nvPr/>
          </p:nvSpPr>
          <p:spPr>
            <a:xfrm>
              <a:off x="526542" y="2635568"/>
              <a:ext cx="922401" cy="264033"/>
            </a:xfrm>
            <a:prstGeom prst="rect">
              <a:avLst/>
            </a:prstGeom>
            <a:noFill/>
            <a:ln>
              <a:noFill/>
            </a:ln>
          </p:spPr>
          <p:txBody>
            <a:bodyPr wrap="none" lIns="0" tIns="0" rIns="0" bIns="0" anchor="t" anchorCtr="0">
              <a:spAutoFit/>
            </a:bodyPr>
            <a:lstStyle/>
            <a:p>
              <a:pPr algn="l"/>
              <a:r>
                <a:rPr lang="ja-JP" sz="1350" b="1" dirty="0">
                  <a:solidFill>
                    <a:schemeClr val="accent5"/>
                  </a:solidFill>
                  <a:latin typeface="+mn-lt"/>
                  <a:ea typeface="+mn-ea"/>
                  <a:cs typeface="+mn-cs"/>
                </a:rPr>
                <a:t>現場の状況</a:t>
              </a:r>
            </a:p>
          </p:txBody>
        </p:sp>
        <p:sp>
          <p:nvSpPr>
            <p:cNvPr id="10" name="TextBox 10"/>
            <p:cNvSpPr txBox="1"/>
            <p:nvPr/>
          </p:nvSpPr>
          <p:spPr>
            <a:xfrm>
              <a:off x="524256" y="3006090"/>
              <a:ext cx="4361688" cy="1075944"/>
            </a:xfrm>
            <a:prstGeom prst="rect">
              <a:avLst/>
            </a:prstGeom>
            <a:noFill/>
            <a:ln>
              <a:noFill/>
            </a:ln>
          </p:spPr>
          <p:txBody>
            <a:bodyPr wrap="none" lIns="0" tIns="0" rIns="0" bIns="0" anchor="t" anchorCtr="0">
              <a:spAutoFit/>
            </a:bodyPr>
            <a:lstStyle/>
            <a:p>
              <a:pPr algn="l">
                <a:lnSpc>
                  <a:spcPts val="2850"/>
                </a:lnSpc>
              </a:pPr>
              <a:r>
                <a:rPr lang="ja-JP" sz="1800" dirty="0">
                  <a:solidFill>
                    <a:schemeClr val="dk1"/>
                  </a:solidFill>
                  <a:latin typeface="+mn-lt"/>
                  <a:ea typeface="+mn-ea"/>
                  <a:cs typeface="+mn-cs"/>
                </a:rPr>
                <a:t>起動スケジュールは、前任者がつくった</a:t>
              </a:r>
              <a:br/>
              <a:r>
                <a:rPr lang="ja-JP" sz="1800" dirty="0">
                  <a:solidFill>
                    <a:schemeClr val="dk1"/>
                  </a:solidFill>
                  <a:latin typeface="+mn-lt"/>
                  <a:ea typeface="+mn-ea"/>
                  <a:cs typeface="+mn-cs"/>
                </a:rPr>
                <a:t>早朝一律の設定をそのまま流用している。</a:t>
              </a:r>
              <a:br/>
              <a:r>
                <a:rPr lang="ja-JP" sz="1800" dirty="0">
                  <a:solidFill>
                    <a:schemeClr val="dk1"/>
                  </a:solidFill>
                  <a:latin typeface="+mn-lt"/>
                  <a:ea typeface="+mn-ea"/>
                  <a:cs typeface="+mn-cs"/>
                </a:rPr>
                <a:t>通常平日は 05:00、休み明けは 03:00。</a:t>
              </a:r>
            </a:p>
          </p:txBody>
        </p:sp>
        <p:sp>
          <p:nvSpPr>
            <p:cNvPr id="11" name="TextBox 11"/>
            <p:cNvSpPr txBox="1"/>
            <p:nvPr/>
          </p:nvSpPr>
          <p:spPr>
            <a:xfrm>
              <a:off x="524256" y="4282440"/>
              <a:ext cx="4361688" cy="1075944"/>
            </a:xfrm>
            <a:prstGeom prst="rect">
              <a:avLst/>
            </a:prstGeom>
            <a:noFill/>
            <a:ln>
              <a:noFill/>
            </a:ln>
          </p:spPr>
          <p:txBody>
            <a:bodyPr wrap="none" lIns="0" tIns="0" rIns="0" bIns="0" anchor="t" anchorCtr="0">
              <a:spAutoFit/>
            </a:bodyPr>
            <a:lstStyle/>
            <a:p>
              <a:pPr algn="l">
                <a:lnSpc>
                  <a:spcPts val="2850"/>
                </a:lnSpc>
              </a:pPr>
              <a:r>
                <a:rPr lang="ja-JP" sz="1800" dirty="0">
                  <a:solidFill>
                    <a:schemeClr val="dk1"/>
                  </a:solidFill>
                  <a:latin typeface="+mn-lt"/>
                  <a:ea typeface="+mn-ea"/>
                  <a:cs typeface="+mn-cs"/>
                </a:rPr>
                <a:t>8:00 の始業時に冷え切っていないと</a:t>
              </a:r>
              <a:br/>
              <a:r>
                <a:rPr lang="ja-JP" sz="1800" dirty="0">
                  <a:solidFill>
                    <a:schemeClr val="dk1"/>
                  </a:solidFill>
                  <a:latin typeface="+mn-lt"/>
                  <a:ea typeface="+mn-ea"/>
                  <a:cs typeface="+mn-cs"/>
                </a:rPr>
                <a:t>クレームになる。遅らせてよい根拠が</a:t>
              </a:r>
              <a:br/>
              <a:r>
                <a:rPr lang="ja-JP" sz="1800" dirty="0">
                  <a:solidFill>
                    <a:schemeClr val="dk1"/>
                  </a:solidFill>
                  <a:latin typeface="+mn-lt"/>
                  <a:ea typeface="+mn-ea"/>
                  <a:cs typeface="+mn-cs"/>
                </a:rPr>
                <a:t>ないため、安全側に倒し続けるしかない。</a:t>
              </a:r>
            </a:p>
          </p:txBody>
        </p:sp>
        <p:sp>
          <p:nvSpPr>
            <p:cNvPr id="12" name="TextBox 12"/>
            <p:cNvSpPr txBox="1"/>
            <p:nvPr/>
          </p:nvSpPr>
          <p:spPr>
            <a:xfrm>
              <a:off x="526542" y="5283518"/>
              <a:ext cx="5628704" cy="492633"/>
            </a:xfrm>
            <a:prstGeom prst="rect">
              <a:avLst/>
            </a:prstGeom>
            <a:noFill/>
            <a:ln>
              <a:noFill/>
            </a:ln>
          </p:spPr>
          <p:txBody>
            <a:bodyPr wrap="none" lIns="0" tIns="0" rIns="0" bIns="0" anchor="t" anchorCtr="0">
              <a:spAutoFit/>
            </a:bodyPr>
            <a:lstStyle/>
            <a:p>
              <a:pPr algn="l">
                <a:lnSpc>
                  <a:spcPts val="1800"/>
                </a:lnSpc>
              </a:pPr>
              <a:r>
                <a:rPr lang="ja-JP" sz="1350" dirty="0">
                  <a:solidFill>
                    <a:schemeClr val="accent5"/>
                  </a:solidFill>
                  <a:latin typeface="+mn-lt"/>
                  <a:ea typeface="+mn-ea"/>
                  <a:cs typeface="+mn-cs"/>
                </a:rPr>
                <a:t>起動は消費電力の立ち上がりから自動検出（下位 5% 基準・5 分連続）。</a:t>
              </a:r>
              <a:br/>
              <a:r>
                <a:rPr lang="ja-JP" sz="1350" dirty="0">
                  <a:solidFill>
                    <a:schemeClr val="accent5"/>
                  </a:solidFill>
                  <a:latin typeface="+mn-lt"/>
                  <a:ea typeface="+mn-ea"/>
                  <a:cs typeface="+mn-cs"/>
                </a:rPr>
                <a:t>8/18 のお盆休みは非稼働日として学習から除外している。</a:t>
              </a:r>
            </a:p>
          </p:txBody>
        </p:sp>
      </p:grpSp>
      <p:grpSp>
        <p:nvGrpSpPr>
          <p:cNvPr id="55" name="Group 55"/>
          <p:cNvGrpSpPr/>
          <p:nvPr/>
        </p:nvGrpSpPr>
        <p:grpSpPr>
          <a:xfrm>
            <a:off x="6889242" y="2635568"/>
            <a:ext cx="4778883" cy="2950083"/>
            <a:chOff x="6889242" y="2635568"/>
            <a:chExt cx="4778883" cy="2950083"/>
          </a:xfrm>
        </p:grpSpPr>
        <p:sp>
          <p:nvSpPr>
            <p:cNvPr id="14" name="TextBox 14"/>
            <p:cNvSpPr txBox="1"/>
            <p:nvPr/>
          </p:nvSpPr>
          <p:spPr>
            <a:xfrm>
              <a:off x="6889242" y="2635568"/>
              <a:ext cx="3779307" cy="264033"/>
            </a:xfrm>
            <a:prstGeom prst="rect">
              <a:avLst/>
            </a:prstGeom>
            <a:noFill/>
            <a:ln>
              <a:noFill/>
            </a:ln>
          </p:spPr>
          <p:txBody>
            <a:bodyPr wrap="none" lIns="0" tIns="0" rIns="0" bIns="0" anchor="t" anchorCtr="0">
              <a:spAutoFit/>
            </a:bodyPr>
            <a:lstStyle/>
            <a:p>
              <a:pPr algn="l"/>
              <a:r>
                <a:rPr lang="ja-JP" sz="1350" b="1" dirty="0">
                  <a:solidFill>
                    <a:schemeClr val="accent5"/>
                  </a:solidFill>
                  <a:latin typeface="+mn-lt"/>
                  <a:ea typeface="+mn-ea"/>
                  <a:cs typeface="+mn-cs"/>
                </a:rPr>
                <a:t>検出された起動時刻（8/19〜8/30 の 12 日）</a:t>
              </a:r>
            </a:p>
          </p:txBody>
        </p:sp>
        <p:sp>
          <p:nvSpPr>
            <p:cNvPr id="15" name="TextBox 15"/>
            <p:cNvSpPr txBox="1"/>
            <p:nvPr/>
          </p:nvSpPr>
          <p:spPr>
            <a:xfrm>
              <a:off x="6889242" y="3473768"/>
              <a:ext cx="695401" cy="264033"/>
            </a:xfrm>
            <a:prstGeom prst="rect">
              <a:avLst/>
            </a:prstGeom>
            <a:noFill/>
            <a:ln>
              <a:noFill/>
            </a:ln>
          </p:spPr>
          <p:txBody>
            <a:bodyPr wrap="none" lIns="0" tIns="0" rIns="0" bIns="0" anchor="t" anchorCtr="0">
              <a:spAutoFit/>
            </a:bodyPr>
            <a:lstStyle/>
            <a:p>
              <a:pPr algn="l"/>
              <a:r>
                <a:rPr lang="ja-JP" sz="1350" dirty="0">
                  <a:solidFill>
                    <a:schemeClr val="dk1"/>
                  </a:solidFill>
                  <a:latin typeface="+mn-lt"/>
                  <a:ea typeface="+mn-ea"/>
                  <a:cs typeface="+mn-cs"/>
                </a:rPr>
                <a:t>チラーA</a:t>
              </a:r>
            </a:p>
          </p:txBody>
        </p:sp>
        <p:sp>
          <p:nvSpPr>
            <p:cNvPr id="16" name="Line 16"/>
            <p:cNvSpPr/>
            <p:nvPr/>
          </p:nvSpPr>
          <p:spPr>
            <a:xfrm>
              <a:off x="7734300" y="3562350"/>
              <a:ext cx="3924300" cy="9525"/>
            </a:xfrm>
            <a:custGeom>
              <a:avLst/>
              <a:gdLst/>
              <a:ahLst/>
              <a:cxnLst/>
              <a:rect l="l" t="t" r="r" b="b"/>
              <a:pathLst>
                <a:path w="3924300" h="9525">
                  <a:moveTo>
                    <a:pt x="0" y="0"/>
                  </a:moveTo>
                  <a:lnTo>
                    <a:pt x="3924300" y="0"/>
                  </a:lnTo>
                </a:path>
              </a:pathLst>
            </a:custGeom>
            <a:noFill/>
            <a:ln w="9525">
              <a:solidFill>
                <a:schemeClr val="accent6"/>
              </a:solidFill>
            </a:ln>
          </p:spPr>
        </p:sp>
        <p:sp>
          <p:nvSpPr>
            <p:cNvPr id="17" name="Ellipse 17"/>
            <p:cNvSpPr/>
            <p:nvPr/>
          </p:nvSpPr>
          <p:spPr>
            <a:xfrm>
              <a:off x="7994332" y="3495675"/>
              <a:ext cx="133350" cy="133350"/>
            </a:xfrm>
            <a:prstGeom prst="ellipse">
              <a:avLst/>
            </a:prstGeom>
            <a:solidFill>
              <a:schemeClr val="accent3">
                <a:alpha val="28000"/>
              </a:schemeClr>
            </a:solidFill>
            <a:ln>
              <a:noFill/>
            </a:ln>
          </p:spPr>
        </p:sp>
        <p:sp>
          <p:nvSpPr>
            <p:cNvPr id="18" name="Ellipse 18"/>
            <p:cNvSpPr/>
            <p:nvPr/>
          </p:nvSpPr>
          <p:spPr>
            <a:xfrm>
              <a:off x="7994332" y="3495675"/>
              <a:ext cx="133350" cy="133350"/>
            </a:xfrm>
            <a:prstGeom prst="ellipse">
              <a:avLst/>
            </a:prstGeom>
            <a:solidFill>
              <a:schemeClr val="accent3">
                <a:alpha val="28000"/>
              </a:schemeClr>
            </a:solidFill>
            <a:ln>
              <a:noFill/>
            </a:ln>
          </p:spPr>
        </p:sp>
        <p:sp>
          <p:nvSpPr>
            <p:cNvPr id="19" name="Ellipse 19"/>
            <p:cNvSpPr/>
            <p:nvPr/>
          </p:nvSpPr>
          <p:spPr>
            <a:xfrm>
              <a:off x="7994332" y="3495675"/>
              <a:ext cx="133350" cy="133350"/>
            </a:xfrm>
            <a:prstGeom prst="ellipse">
              <a:avLst/>
            </a:prstGeom>
            <a:solidFill>
              <a:schemeClr val="accent3">
                <a:alpha val="28000"/>
              </a:schemeClr>
            </a:solidFill>
            <a:ln>
              <a:noFill/>
            </a:ln>
          </p:spPr>
        </p:sp>
        <p:sp>
          <p:nvSpPr>
            <p:cNvPr id="20" name="Ellipse 20"/>
            <p:cNvSpPr/>
            <p:nvPr/>
          </p:nvSpPr>
          <p:spPr>
            <a:xfrm>
              <a:off x="7994332" y="3495675"/>
              <a:ext cx="133350" cy="133350"/>
            </a:xfrm>
            <a:prstGeom prst="ellipse">
              <a:avLst/>
            </a:prstGeom>
            <a:solidFill>
              <a:schemeClr val="accent3">
                <a:alpha val="28000"/>
              </a:schemeClr>
            </a:solidFill>
            <a:ln>
              <a:noFill/>
            </a:ln>
          </p:spPr>
        </p:sp>
        <p:sp>
          <p:nvSpPr>
            <p:cNvPr id="21" name="Ellipse 21"/>
            <p:cNvSpPr/>
            <p:nvPr/>
          </p:nvSpPr>
          <p:spPr>
            <a:xfrm>
              <a:off x="7994332" y="3495675"/>
              <a:ext cx="133350" cy="133350"/>
            </a:xfrm>
            <a:prstGeom prst="ellipse">
              <a:avLst/>
            </a:prstGeom>
            <a:solidFill>
              <a:schemeClr val="accent3">
                <a:alpha val="28000"/>
              </a:schemeClr>
            </a:solidFill>
            <a:ln>
              <a:noFill/>
            </a:ln>
          </p:spPr>
        </p:sp>
        <p:sp>
          <p:nvSpPr>
            <p:cNvPr id="22" name="Ellipse 22"/>
            <p:cNvSpPr/>
            <p:nvPr/>
          </p:nvSpPr>
          <p:spPr>
            <a:xfrm>
              <a:off x="7994332" y="3495675"/>
              <a:ext cx="133350" cy="133350"/>
            </a:xfrm>
            <a:prstGeom prst="ellipse">
              <a:avLst/>
            </a:prstGeom>
            <a:solidFill>
              <a:schemeClr val="accent3">
                <a:alpha val="28000"/>
              </a:schemeClr>
            </a:solidFill>
            <a:ln>
              <a:noFill/>
            </a:ln>
          </p:spPr>
        </p:sp>
        <p:sp>
          <p:nvSpPr>
            <p:cNvPr id="23" name="Ellipse 23"/>
            <p:cNvSpPr/>
            <p:nvPr/>
          </p:nvSpPr>
          <p:spPr>
            <a:xfrm>
              <a:off x="7994332" y="3495675"/>
              <a:ext cx="133350" cy="133350"/>
            </a:xfrm>
            <a:prstGeom prst="ellipse">
              <a:avLst/>
            </a:prstGeom>
            <a:solidFill>
              <a:schemeClr val="accent3">
                <a:alpha val="28000"/>
              </a:schemeClr>
            </a:solidFill>
            <a:ln>
              <a:noFill/>
            </a:ln>
          </p:spPr>
        </p:sp>
        <p:sp>
          <p:nvSpPr>
            <p:cNvPr id="24" name="Ellipse 24"/>
            <p:cNvSpPr/>
            <p:nvPr/>
          </p:nvSpPr>
          <p:spPr>
            <a:xfrm>
              <a:off x="7994332" y="3495675"/>
              <a:ext cx="133350" cy="133350"/>
            </a:xfrm>
            <a:prstGeom prst="ellipse">
              <a:avLst/>
            </a:prstGeom>
            <a:solidFill>
              <a:schemeClr val="accent3">
                <a:alpha val="28000"/>
              </a:schemeClr>
            </a:solidFill>
            <a:ln>
              <a:noFill/>
            </a:ln>
          </p:spPr>
        </p:sp>
        <p:sp>
          <p:nvSpPr>
            <p:cNvPr id="25" name="Ellipse 25"/>
            <p:cNvSpPr/>
            <p:nvPr/>
          </p:nvSpPr>
          <p:spPr>
            <a:xfrm>
              <a:off x="7994332" y="3495675"/>
              <a:ext cx="133350" cy="133350"/>
            </a:xfrm>
            <a:prstGeom prst="ellipse">
              <a:avLst/>
            </a:prstGeom>
            <a:solidFill>
              <a:schemeClr val="accent3">
                <a:alpha val="28000"/>
              </a:schemeClr>
            </a:solidFill>
            <a:ln>
              <a:noFill/>
            </a:ln>
          </p:spPr>
        </p:sp>
        <p:sp>
          <p:nvSpPr>
            <p:cNvPr id="26" name="Ellipse 26"/>
            <p:cNvSpPr/>
            <p:nvPr/>
          </p:nvSpPr>
          <p:spPr>
            <a:xfrm>
              <a:off x="7994332" y="3495675"/>
              <a:ext cx="133350" cy="133350"/>
            </a:xfrm>
            <a:prstGeom prst="ellipse">
              <a:avLst/>
            </a:prstGeom>
            <a:solidFill>
              <a:schemeClr val="accent3">
                <a:alpha val="28000"/>
              </a:schemeClr>
            </a:solidFill>
            <a:ln>
              <a:noFill/>
            </a:ln>
          </p:spPr>
        </p:sp>
        <p:sp>
          <p:nvSpPr>
            <p:cNvPr id="27" name="Ellipse 27"/>
            <p:cNvSpPr/>
            <p:nvPr/>
          </p:nvSpPr>
          <p:spPr>
            <a:xfrm>
              <a:off x="8060055" y="3495675"/>
              <a:ext cx="133350" cy="133350"/>
            </a:xfrm>
            <a:prstGeom prst="ellipse">
              <a:avLst/>
            </a:prstGeom>
            <a:solidFill>
              <a:schemeClr val="accent3">
                <a:alpha val="28000"/>
              </a:schemeClr>
            </a:solidFill>
            <a:ln>
              <a:noFill/>
            </a:ln>
          </p:spPr>
        </p:sp>
        <p:sp>
          <p:nvSpPr>
            <p:cNvPr id="28" name="Ellipse 28"/>
            <p:cNvSpPr/>
            <p:nvPr/>
          </p:nvSpPr>
          <p:spPr>
            <a:xfrm>
              <a:off x="8060055" y="3495675"/>
              <a:ext cx="133350" cy="133350"/>
            </a:xfrm>
            <a:prstGeom prst="ellipse">
              <a:avLst/>
            </a:prstGeom>
            <a:solidFill>
              <a:schemeClr val="accent3">
                <a:alpha val="28000"/>
              </a:schemeClr>
            </a:solidFill>
            <a:ln>
              <a:noFill/>
            </a:ln>
          </p:spPr>
        </p:sp>
        <p:sp>
          <p:nvSpPr>
            <p:cNvPr id="29" name="TextBox 29"/>
            <p:cNvSpPr txBox="1"/>
            <p:nvPr/>
          </p:nvSpPr>
          <p:spPr>
            <a:xfrm>
              <a:off x="6889242" y="4045268"/>
              <a:ext cx="695401" cy="264033"/>
            </a:xfrm>
            <a:prstGeom prst="rect">
              <a:avLst/>
            </a:prstGeom>
            <a:noFill/>
            <a:ln>
              <a:noFill/>
            </a:ln>
          </p:spPr>
          <p:txBody>
            <a:bodyPr wrap="none" lIns="0" tIns="0" rIns="0" bIns="0" anchor="t" anchorCtr="0">
              <a:spAutoFit/>
            </a:bodyPr>
            <a:lstStyle/>
            <a:p>
              <a:pPr algn="l"/>
              <a:r>
                <a:rPr lang="ja-JP" sz="1350" dirty="0">
                  <a:solidFill>
                    <a:schemeClr val="dk1"/>
                  </a:solidFill>
                  <a:latin typeface="+mn-lt"/>
                  <a:ea typeface="+mn-ea"/>
                  <a:cs typeface="+mn-cs"/>
                </a:rPr>
                <a:t>チラーB</a:t>
              </a:r>
            </a:p>
          </p:txBody>
        </p:sp>
        <p:sp>
          <p:nvSpPr>
            <p:cNvPr id="30" name="Line 30"/>
            <p:cNvSpPr/>
            <p:nvPr/>
          </p:nvSpPr>
          <p:spPr>
            <a:xfrm>
              <a:off x="7734300" y="4133850"/>
              <a:ext cx="3924300" cy="9525"/>
            </a:xfrm>
            <a:custGeom>
              <a:avLst/>
              <a:gdLst/>
              <a:ahLst/>
              <a:cxnLst/>
              <a:rect l="l" t="t" r="r" b="b"/>
              <a:pathLst>
                <a:path w="3924300" h="9525">
                  <a:moveTo>
                    <a:pt x="0" y="0"/>
                  </a:moveTo>
                  <a:lnTo>
                    <a:pt x="3924300" y="0"/>
                  </a:lnTo>
                </a:path>
              </a:pathLst>
            </a:custGeom>
            <a:noFill/>
            <a:ln w="9525">
              <a:solidFill>
                <a:schemeClr val="accent6"/>
              </a:solidFill>
            </a:ln>
          </p:spPr>
        </p:sp>
        <p:sp>
          <p:nvSpPr>
            <p:cNvPr id="31" name="Ellipse 31"/>
            <p:cNvSpPr/>
            <p:nvPr/>
          </p:nvSpPr>
          <p:spPr>
            <a:xfrm>
              <a:off x="9956482" y="4067175"/>
              <a:ext cx="133350" cy="133350"/>
            </a:xfrm>
            <a:prstGeom prst="ellipse">
              <a:avLst/>
            </a:prstGeom>
            <a:solidFill>
              <a:schemeClr val="accent3">
                <a:alpha val="28000"/>
              </a:schemeClr>
            </a:solidFill>
            <a:ln>
              <a:noFill/>
            </a:ln>
          </p:spPr>
        </p:sp>
        <p:sp>
          <p:nvSpPr>
            <p:cNvPr id="32" name="Ellipse 32"/>
            <p:cNvSpPr/>
            <p:nvPr/>
          </p:nvSpPr>
          <p:spPr>
            <a:xfrm>
              <a:off x="9956482" y="4067175"/>
              <a:ext cx="133350" cy="133350"/>
            </a:xfrm>
            <a:prstGeom prst="ellipse">
              <a:avLst/>
            </a:prstGeom>
            <a:solidFill>
              <a:schemeClr val="accent3">
                <a:alpha val="28000"/>
              </a:schemeClr>
            </a:solidFill>
            <a:ln>
              <a:noFill/>
            </a:ln>
          </p:spPr>
        </p:sp>
        <p:sp>
          <p:nvSpPr>
            <p:cNvPr id="33" name="Ellipse 33"/>
            <p:cNvSpPr/>
            <p:nvPr/>
          </p:nvSpPr>
          <p:spPr>
            <a:xfrm>
              <a:off x="9956482" y="4067175"/>
              <a:ext cx="133350" cy="133350"/>
            </a:xfrm>
            <a:prstGeom prst="ellipse">
              <a:avLst/>
            </a:prstGeom>
            <a:solidFill>
              <a:schemeClr val="accent3">
                <a:alpha val="28000"/>
              </a:schemeClr>
            </a:solidFill>
            <a:ln>
              <a:noFill/>
            </a:ln>
          </p:spPr>
        </p:sp>
        <p:sp>
          <p:nvSpPr>
            <p:cNvPr id="34" name="Ellipse 34"/>
            <p:cNvSpPr/>
            <p:nvPr/>
          </p:nvSpPr>
          <p:spPr>
            <a:xfrm>
              <a:off x="9956482" y="4067175"/>
              <a:ext cx="133350" cy="133350"/>
            </a:xfrm>
            <a:prstGeom prst="ellipse">
              <a:avLst/>
            </a:prstGeom>
            <a:solidFill>
              <a:schemeClr val="accent3">
                <a:alpha val="28000"/>
              </a:schemeClr>
            </a:solidFill>
            <a:ln>
              <a:noFill/>
            </a:ln>
          </p:spPr>
        </p:sp>
        <p:sp>
          <p:nvSpPr>
            <p:cNvPr id="35" name="Ellipse 35"/>
            <p:cNvSpPr/>
            <p:nvPr/>
          </p:nvSpPr>
          <p:spPr>
            <a:xfrm>
              <a:off x="9956482" y="4067175"/>
              <a:ext cx="133350" cy="133350"/>
            </a:xfrm>
            <a:prstGeom prst="ellipse">
              <a:avLst/>
            </a:prstGeom>
            <a:solidFill>
              <a:schemeClr val="accent3">
                <a:alpha val="28000"/>
              </a:schemeClr>
            </a:solidFill>
            <a:ln>
              <a:noFill/>
            </a:ln>
          </p:spPr>
        </p:sp>
        <p:sp>
          <p:nvSpPr>
            <p:cNvPr id="36" name="Ellipse 36"/>
            <p:cNvSpPr/>
            <p:nvPr/>
          </p:nvSpPr>
          <p:spPr>
            <a:xfrm>
              <a:off x="9956482" y="4067175"/>
              <a:ext cx="133350" cy="133350"/>
            </a:xfrm>
            <a:prstGeom prst="ellipse">
              <a:avLst/>
            </a:prstGeom>
            <a:solidFill>
              <a:schemeClr val="accent3">
                <a:alpha val="28000"/>
              </a:schemeClr>
            </a:solidFill>
            <a:ln>
              <a:noFill/>
            </a:ln>
          </p:spPr>
        </p:sp>
        <p:sp>
          <p:nvSpPr>
            <p:cNvPr id="37" name="Ellipse 37"/>
            <p:cNvSpPr/>
            <p:nvPr/>
          </p:nvSpPr>
          <p:spPr>
            <a:xfrm>
              <a:off x="9956482" y="4067175"/>
              <a:ext cx="133350" cy="133350"/>
            </a:xfrm>
            <a:prstGeom prst="ellipse">
              <a:avLst/>
            </a:prstGeom>
            <a:solidFill>
              <a:schemeClr val="accent3">
                <a:alpha val="28000"/>
              </a:schemeClr>
            </a:solidFill>
            <a:ln>
              <a:noFill/>
            </a:ln>
          </p:spPr>
        </p:sp>
        <p:sp>
          <p:nvSpPr>
            <p:cNvPr id="38" name="Ellipse 38"/>
            <p:cNvSpPr/>
            <p:nvPr/>
          </p:nvSpPr>
          <p:spPr>
            <a:xfrm>
              <a:off x="9956482" y="4067175"/>
              <a:ext cx="133350" cy="133350"/>
            </a:xfrm>
            <a:prstGeom prst="ellipse">
              <a:avLst/>
            </a:prstGeom>
            <a:solidFill>
              <a:schemeClr val="accent3">
                <a:alpha val="28000"/>
              </a:schemeClr>
            </a:solidFill>
            <a:ln>
              <a:noFill/>
            </a:ln>
          </p:spPr>
        </p:sp>
        <p:sp>
          <p:nvSpPr>
            <p:cNvPr id="39" name="Ellipse 39"/>
            <p:cNvSpPr/>
            <p:nvPr/>
          </p:nvSpPr>
          <p:spPr>
            <a:xfrm>
              <a:off x="9956482" y="4067175"/>
              <a:ext cx="133350" cy="133350"/>
            </a:xfrm>
            <a:prstGeom prst="ellipse">
              <a:avLst/>
            </a:prstGeom>
            <a:solidFill>
              <a:schemeClr val="accent3">
                <a:alpha val="28000"/>
              </a:schemeClr>
            </a:solidFill>
            <a:ln>
              <a:noFill/>
            </a:ln>
          </p:spPr>
        </p:sp>
        <p:sp>
          <p:nvSpPr>
            <p:cNvPr id="40" name="Ellipse 40"/>
            <p:cNvSpPr/>
            <p:nvPr/>
          </p:nvSpPr>
          <p:spPr>
            <a:xfrm>
              <a:off x="9956482" y="4067175"/>
              <a:ext cx="133350" cy="133350"/>
            </a:xfrm>
            <a:prstGeom prst="ellipse">
              <a:avLst/>
            </a:prstGeom>
            <a:solidFill>
              <a:schemeClr val="accent3">
                <a:alpha val="28000"/>
              </a:schemeClr>
            </a:solidFill>
            <a:ln>
              <a:noFill/>
            </a:ln>
          </p:spPr>
        </p:sp>
        <p:sp>
          <p:nvSpPr>
            <p:cNvPr id="41" name="Ellipse 41"/>
            <p:cNvSpPr/>
            <p:nvPr/>
          </p:nvSpPr>
          <p:spPr>
            <a:xfrm>
              <a:off x="9956482" y="4067175"/>
              <a:ext cx="133350" cy="133350"/>
            </a:xfrm>
            <a:prstGeom prst="ellipse">
              <a:avLst/>
            </a:prstGeom>
            <a:solidFill>
              <a:schemeClr val="accent3">
                <a:alpha val="28000"/>
              </a:schemeClr>
            </a:solidFill>
            <a:ln>
              <a:noFill/>
            </a:ln>
          </p:spPr>
        </p:sp>
        <p:sp>
          <p:nvSpPr>
            <p:cNvPr id="42" name="Ellipse 42"/>
            <p:cNvSpPr/>
            <p:nvPr/>
          </p:nvSpPr>
          <p:spPr>
            <a:xfrm>
              <a:off x="10218420" y="4067175"/>
              <a:ext cx="133350" cy="133350"/>
            </a:xfrm>
            <a:prstGeom prst="ellipse">
              <a:avLst/>
            </a:prstGeom>
            <a:solidFill>
              <a:schemeClr val="accent3">
                <a:alpha val="28000"/>
              </a:schemeClr>
            </a:solidFill>
            <a:ln>
              <a:noFill/>
            </a:ln>
          </p:spPr>
        </p:sp>
        <p:sp>
          <p:nvSpPr>
            <p:cNvPr id="43" name="Line 43"/>
            <p:cNvSpPr/>
            <p:nvPr/>
          </p:nvSpPr>
          <p:spPr>
            <a:xfrm>
              <a:off x="7734300" y="4552950"/>
              <a:ext cx="3924300" cy="9525"/>
            </a:xfrm>
            <a:custGeom>
              <a:avLst/>
              <a:gdLst/>
              <a:ahLst/>
              <a:cxnLst/>
              <a:rect l="l" t="t" r="r" b="b"/>
              <a:pathLst>
                <a:path w="3924300" h="9525">
                  <a:moveTo>
                    <a:pt x="0" y="0"/>
                  </a:moveTo>
                  <a:lnTo>
                    <a:pt x="3924300" y="0"/>
                  </a:lnTo>
                </a:path>
              </a:pathLst>
            </a:custGeom>
            <a:noFill/>
            <a:ln w="9525">
              <a:solidFill>
                <a:srgbClr val="667685"/>
              </a:solidFill>
            </a:ln>
          </p:spPr>
        </p:sp>
        <p:sp>
          <p:nvSpPr>
            <p:cNvPr id="44" name="Line 44"/>
            <p:cNvSpPr/>
            <p:nvPr/>
          </p:nvSpPr>
          <p:spPr>
            <a:xfrm>
              <a:off x="7734300" y="4552950"/>
              <a:ext cx="9525" cy="76200"/>
            </a:xfrm>
            <a:custGeom>
              <a:avLst/>
              <a:gdLst/>
              <a:ahLst/>
              <a:cxnLst/>
              <a:rect l="l" t="t" r="r" b="b"/>
              <a:pathLst>
                <a:path w="9525" h="76200">
                  <a:moveTo>
                    <a:pt x="0" y="0"/>
                  </a:moveTo>
                  <a:lnTo>
                    <a:pt x="0" y="76200"/>
                  </a:lnTo>
                </a:path>
              </a:pathLst>
            </a:custGeom>
            <a:noFill/>
            <a:ln w="9525">
              <a:solidFill>
                <a:srgbClr val="667685"/>
              </a:solidFill>
            </a:ln>
          </p:spPr>
        </p:sp>
        <p:sp>
          <p:nvSpPr>
            <p:cNvPr id="45" name="Line 45"/>
            <p:cNvSpPr/>
            <p:nvPr/>
          </p:nvSpPr>
          <p:spPr>
            <a:xfrm>
              <a:off x="8715375" y="4552950"/>
              <a:ext cx="9525" cy="76200"/>
            </a:xfrm>
            <a:custGeom>
              <a:avLst/>
              <a:gdLst/>
              <a:ahLst/>
              <a:cxnLst/>
              <a:rect l="l" t="t" r="r" b="b"/>
              <a:pathLst>
                <a:path w="9525" h="76200">
                  <a:moveTo>
                    <a:pt x="0" y="0"/>
                  </a:moveTo>
                  <a:lnTo>
                    <a:pt x="0" y="76200"/>
                  </a:lnTo>
                </a:path>
              </a:pathLst>
            </a:custGeom>
            <a:noFill/>
            <a:ln w="9525">
              <a:solidFill>
                <a:srgbClr val="667685"/>
              </a:solidFill>
            </a:ln>
          </p:spPr>
        </p:sp>
        <p:sp>
          <p:nvSpPr>
            <p:cNvPr id="46" name="Line 46"/>
            <p:cNvSpPr/>
            <p:nvPr/>
          </p:nvSpPr>
          <p:spPr>
            <a:xfrm>
              <a:off x="9696450" y="4552950"/>
              <a:ext cx="9525" cy="76200"/>
            </a:xfrm>
            <a:custGeom>
              <a:avLst/>
              <a:gdLst/>
              <a:ahLst/>
              <a:cxnLst/>
              <a:rect l="l" t="t" r="r" b="b"/>
              <a:pathLst>
                <a:path w="9525" h="76200">
                  <a:moveTo>
                    <a:pt x="0" y="0"/>
                  </a:moveTo>
                  <a:lnTo>
                    <a:pt x="0" y="76200"/>
                  </a:lnTo>
                </a:path>
              </a:pathLst>
            </a:custGeom>
            <a:noFill/>
            <a:ln w="9525">
              <a:solidFill>
                <a:srgbClr val="667685"/>
              </a:solidFill>
            </a:ln>
          </p:spPr>
        </p:sp>
        <p:sp>
          <p:nvSpPr>
            <p:cNvPr id="47" name="Line 47"/>
            <p:cNvSpPr/>
            <p:nvPr/>
          </p:nvSpPr>
          <p:spPr>
            <a:xfrm>
              <a:off x="10677525" y="4552950"/>
              <a:ext cx="9525" cy="76200"/>
            </a:xfrm>
            <a:custGeom>
              <a:avLst/>
              <a:gdLst/>
              <a:ahLst/>
              <a:cxnLst/>
              <a:rect l="l" t="t" r="r" b="b"/>
              <a:pathLst>
                <a:path w="9525" h="76200">
                  <a:moveTo>
                    <a:pt x="0" y="0"/>
                  </a:moveTo>
                  <a:lnTo>
                    <a:pt x="0" y="76200"/>
                  </a:lnTo>
                </a:path>
              </a:pathLst>
            </a:custGeom>
            <a:noFill/>
            <a:ln w="9525">
              <a:solidFill>
                <a:srgbClr val="667685"/>
              </a:solidFill>
            </a:ln>
          </p:spPr>
        </p:sp>
        <p:sp>
          <p:nvSpPr>
            <p:cNvPr id="48" name="Line 48"/>
            <p:cNvSpPr/>
            <p:nvPr/>
          </p:nvSpPr>
          <p:spPr>
            <a:xfrm>
              <a:off x="11658600" y="4552950"/>
              <a:ext cx="9525" cy="76200"/>
            </a:xfrm>
            <a:custGeom>
              <a:avLst/>
              <a:gdLst/>
              <a:ahLst/>
              <a:cxnLst/>
              <a:rect l="l" t="t" r="r" b="b"/>
              <a:pathLst>
                <a:path w="9525" h="76200">
                  <a:moveTo>
                    <a:pt x="0" y="0"/>
                  </a:moveTo>
                  <a:lnTo>
                    <a:pt x="0" y="76200"/>
                  </a:lnTo>
                </a:path>
              </a:pathLst>
            </a:custGeom>
            <a:noFill/>
            <a:ln w="9525">
              <a:solidFill>
                <a:srgbClr val="667685"/>
              </a:solidFill>
            </a:ln>
          </p:spPr>
        </p:sp>
        <p:sp>
          <p:nvSpPr>
            <p:cNvPr id="49" name="TextBox 49"/>
            <p:cNvSpPr txBox="1"/>
            <p:nvPr/>
          </p:nvSpPr>
          <p:spPr>
            <a:xfrm>
              <a:off x="7728204" y="4690110"/>
              <a:ext cx="456438"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05:00</a:t>
              </a:r>
            </a:p>
          </p:txBody>
        </p:sp>
        <p:sp>
          <p:nvSpPr>
            <p:cNvPr id="50" name="TextBox 50"/>
            <p:cNvSpPr txBox="1"/>
            <p:nvPr/>
          </p:nvSpPr>
          <p:spPr>
            <a:xfrm>
              <a:off x="8487156" y="46901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05:15</a:t>
              </a:r>
            </a:p>
          </p:txBody>
        </p:sp>
        <p:sp>
          <p:nvSpPr>
            <p:cNvPr id="51" name="TextBox 51"/>
            <p:cNvSpPr txBox="1"/>
            <p:nvPr/>
          </p:nvSpPr>
          <p:spPr>
            <a:xfrm>
              <a:off x="9468231" y="46901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05:30</a:t>
              </a:r>
            </a:p>
          </p:txBody>
        </p:sp>
        <p:sp>
          <p:nvSpPr>
            <p:cNvPr id="52" name="TextBox 52"/>
            <p:cNvSpPr txBox="1"/>
            <p:nvPr/>
          </p:nvSpPr>
          <p:spPr>
            <a:xfrm>
              <a:off x="10449306" y="46901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05:45</a:t>
              </a:r>
            </a:p>
          </p:txBody>
        </p:sp>
        <p:sp>
          <p:nvSpPr>
            <p:cNvPr id="53" name="TextBox 53"/>
            <p:cNvSpPr txBox="1"/>
            <p:nvPr/>
          </p:nvSpPr>
          <p:spPr>
            <a:xfrm>
              <a:off x="11208258" y="4690110"/>
              <a:ext cx="456438"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06:00</a:t>
              </a:r>
            </a:p>
          </p:txBody>
        </p:sp>
        <p:sp>
          <p:nvSpPr>
            <p:cNvPr id="54" name="TextBox 54"/>
            <p:cNvSpPr txBox="1"/>
            <p:nvPr/>
          </p:nvSpPr>
          <p:spPr>
            <a:xfrm>
              <a:off x="6889242" y="5073968"/>
              <a:ext cx="4077081" cy="511683"/>
            </a:xfrm>
            <a:prstGeom prst="rect">
              <a:avLst/>
            </a:prstGeom>
            <a:noFill/>
            <a:ln>
              <a:noFill/>
            </a:ln>
          </p:spPr>
          <p:txBody>
            <a:bodyPr wrap="none" lIns="0" tIns="0" rIns="0" bIns="0" anchor="t" anchorCtr="0">
              <a:spAutoFit/>
            </a:bodyPr>
            <a:lstStyle/>
            <a:p>
              <a:pPr algn="l">
                <a:lnSpc>
                  <a:spcPts val="1950"/>
                </a:lnSpc>
              </a:pPr>
              <a:r>
                <a:rPr lang="ja-JP" sz="1350" dirty="0">
                  <a:solidFill>
                    <a:schemeClr val="dk1"/>
                  </a:solidFill>
                  <a:latin typeface="+mn-lt"/>
                  <a:ea typeface="+mn-ea"/>
                  <a:cs typeface="+mn-cs"/>
                </a:rPr>
                <a:t>A は 12 日のうち 10 日が 05:05、2 日が 05:06。</a:t>
              </a:r>
              <a:br/>
              <a:r>
                <a:rPr lang="ja-JP" sz="1350" dirty="0">
                  <a:solidFill>
                    <a:schemeClr val="dk1"/>
                  </a:solidFill>
                  <a:latin typeface="+mn-lt"/>
                  <a:ea typeface="+mn-ea"/>
                  <a:cs typeface="+mn-cs"/>
                </a:rPr>
                <a:t>B は A の 30 分後に、固定インターバルで起動する。</a:t>
              </a:r>
            </a:p>
          </p:txBody>
        </p:sp>
      </p:grpSp>
      <p:grpSp>
        <p:nvGrpSpPr>
          <p:cNvPr id="59" name="Group 59"/>
          <p:cNvGrpSpPr/>
          <p:nvPr/>
        </p:nvGrpSpPr>
        <p:grpSpPr>
          <a:xfrm>
            <a:off x="527304" y="6153150"/>
            <a:ext cx="11137392" cy="314706"/>
            <a:chOff x="527304" y="6153150"/>
            <a:chExt cx="11137392" cy="314706"/>
          </a:xfrm>
        </p:grpSpPr>
        <p:sp>
          <p:nvSpPr>
            <p:cNvPr id="56" name="Line 56"/>
            <p:cNvSpPr/>
            <p:nvPr/>
          </p:nvSpPr>
          <p:spPr>
            <a:xfrm>
              <a:off x="533400" y="61531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57" name="TextBox 57"/>
            <p:cNvSpPr txBox="1"/>
            <p:nvPr/>
          </p:nvSpPr>
          <p:spPr>
            <a:xfrm>
              <a:off x="527304" y="6233160"/>
              <a:ext cx="2919984"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熱源の起動を、どこまで遅らせてよいか</a:t>
              </a:r>
            </a:p>
          </p:txBody>
        </p:sp>
        <p:sp>
          <p:nvSpPr>
            <p:cNvPr id="58" name="TextBox 58"/>
            <p:cNvSpPr txBox="1"/>
            <p:nvPr/>
          </p:nvSpPr>
          <p:spPr>
            <a:xfrm>
              <a:off x="7452360" y="6233160"/>
              <a:ext cx="4212336"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起動時刻と稼働日は実測、電力量は合成データによる試算</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6542" y="730568"/>
            <a:ext cx="11138916" cy="345757"/>
            <a:chOff x="526542" y="730568"/>
            <a:chExt cx="11138916" cy="345757"/>
          </a:xfrm>
        </p:grpSpPr>
        <p:sp>
          <p:nvSpPr>
            <p:cNvPr id="2" name="TextBox 2"/>
            <p:cNvSpPr txBox="1"/>
            <p:nvPr/>
          </p:nvSpPr>
          <p:spPr>
            <a:xfrm>
              <a:off x="526542" y="730568"/>
              <a:ext cx="2085518"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01 現場で起きていること</a:t>
              </a:r>
            </a:p>
          </p:txBody>
        </p:sp>
        <p:sp>
          <p:nvSpPr>
            <p:cNvPr id="3" name="TextBox 3"/>
            <p:cNvSpPr txBox="1"/>
            <p:nvPr/>
          </p:nvSpPr>
          <p:spPr>
            <a:xfrm>
              <a:off x="11042923" y="730568"/>
              <a:ext cx="622535"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03 / 11</a:t>
              </a:r>
            </a:p>
          </p:txBody>
        </p:sp>
        <p:sp>
          <p:nvSpPr>
            <p:cNvPr id="4" name="Line 4"/>
            <p:cNvSpPr/>
            <p:nvPr/>
          </p:nvSpPr>
          <p:spPr>
            <a:xfrm>
              <a:off x="533400" y="1066800"/>
              <a:ext cx="11125200" cy="9525"/>
            </a:xfrm>
            <a:custGeom>
              <a:avLst/>
              <a:gdLst/>
              <a:ahLst/>
              <a:cxnLst/>
              <a:rect l="l" t="t" r="r" b="b"/>
              <a:pathLst>
                <a:path w="11125200" h="9525">
                  <a:moveTo>
                    <a:pt x="0" y="0"/>
                  </a:moveTo>
                  <a:lnTo>
                    <a:pt x="11125200" y="0"/>
                  </a:lnTo>
                </a:path>
              </a:pathLst>
            </a:custGeom>
            <a:noFill/>
            <a:ln w="14288">
              <a:solidFill>
                <a:schemeClr val="accent1"/>
              </a:solidFill>
            </a:ln>
          </p:spPr>
        </p:sp>
      </p:grpSp>
      <p:grpSp>
        <p:nvGrpSpPr>
          <p:cNvPr id="8" name="Group 8"/>
          <p:cNvGrpSpPr/>
          <p:nvPr/>
        </p:nvGrpSpPr>
        <p:grpSpPr>
          <a:xfrm>
            <a:off x="517398" y="1241108"/>
            <a:ext cx="8508492" cy="994409"/>
            <a:chOff x="517398" y="1241108"/>
            <a:chExt cx="8508492" cy="994409"/>
          </a:xfrm>
        </p:grpSpPr>
        <p:sp>
          <p:nvSpPr>
            <p:cNvPr id="6" name="TextBox 6"/>
            <p:cNvSpPr txBox="1"/>
            <p:nvPr/>
          </p:nvSpPr>
          <p:spPr>
            <a:xfrm>
              <a:off x="517398" y="1241108"/>
              <a:ext cx="8308458" cy="616077"/>
            </a:xfrm>
            <a:prstGeom prst="rect">
              <a:avLst/>
            </a:prstGeom>
            <a:noFill/>
            <a:ln>
              <a:noFill/>
            </a:ln>
          </p:spPr>
          <p:txBody>
            <a:bodyPr wrap="none" lIns="0" tIns="0" rIns="0" bIns="0" anchor="t" anchorCtr="0">
              <a:spAutoFit/>
            </a:bodyPr>
            <a:lstStyle/>
            <a:p>
              <a:pPr algn="l"/>
              <a:r>
                <a:rPr lang="ja-JP" sz="3150" b="1" dirty="0">
                  <a:solidFill>
                    <a:schemeClr val="accent1"/>
                  </a:solidFill>
                  <a:latin typeface="+mn-lt"/>
                  <a:ea typeface="+mn-ea"/>
                  <a:cs typeface="+mn-cs"/>
                </a:rPr>
                <a:t>5:05 に起動し、6 時台には冷え切っている</a:t>
              </a:r>
            </a:p>
          </p:txBody>
        </p:sp>
        <p:sp>
          <p:nvSpPr>
            <p:cNvPr id="7" name="TextBox 7"/>
            <p:cNvSpPr txBox="1"/>
            <p:nvPr/>
          </p:nvSpPr>
          <p:spPr>
            <a:xfrm>
              <a:off x="521970" y="1795462"/>
              <a:ext cx="8503920" cy="440055"/>
            </a:xfrm>
            <a:prstGeom prst="rect">
              <a:avLst/>
            </a:prstGeom>
            <a:noFill/>
            <a:ln>
              <a:noFill/>
            </a:ln>
          </p:spPr>
          <p:txBody>
            <a:bodyPr wrap="none" lIns="0" tIns="0" rIns="0" bIns="0" anchor="t" anchorCtr="0">
              <a:spAutoFit/>
            </a:bodyPr>
            <a:lstStyle/>
            <a:p>
              <a:pPr algn="l"/>
              <a:r>
                <a:rPr lang="ja-JP" sz="2250" dirty="0">
                  <a:solidFill>
                    <a:schemeClr val="dk1"/>
                  </a:solidFill>
                  <a:latin typeface="+mn-lt"/>
                  <a:ea typeface="+mn-ea"/>
                  <a:cs typeface="+mn-cs"/>
                </a:rPr>
                <a:t>起動から到達までより、到達してから始業までのほうが長い。</a:t>
              </a:r>
            </a:p>
          </p:txBody>
        </p:sp>
      </p:grpSp>
      <p:grpSp>
        <p:nvGrpSpPr>
          <p:cNvPr id="14" name="Group 14"/>
          <p:cNvGrpSpPr/>
          <p:nvPr/>
        </p:nvGrpSpPr>
        <p:grpSpPr>
          <a:xfrm>
            <a:off x="524256" y="2521268"/>
            <a:ext cx="2416302" cy="3432238"/>
            <a:chOff x="524256" y="2521268"/>
            <a:chExt cx="2416302" cy="3432238"/>
          </a:xfrm>
        </p:grpSpPr>
        <p:sp>
          <p:nvSpPr>
            <p:cNvPr id="9" name="TextBox 9"/>
            <p:cNvSpPr txBox="1"/>
            <p:nvPr/>
          </p:nvSpPr>
          <p:spPr>
            <a:xfrm>
              <a:off x="526542" y="2521268"/>
              <a:ext cx="2251138" cy="511683"/>
            </a:xfrm>
            <a:prstGeom prst="rect">
              <a:avLst/>
            </a:prstGeom>
            <a:noFill/>
            <a:ln>
              <a:noFill/>
            </a:ln>
          </p:spPr>
          <p:txBody>
            <a:bodyPr wrap="none" lIns="0" tIns="0" rIns="0" bIns="0" anchor="t" anchorCtr="0">
              <a:spAutoFit/>
            </a:bodyPr>
            <a:lstStyle/>
            <a:p>
              <a:pPr algn="l">
                <a:lnSpc>
                  <a:spcPts val="1950"/>
                </a:lnSpc>
              </a:pPr>
              <a:r>
                <a:rPr lang="ja-JP" sz="1350" dirty="0">
                  <a:solidFill>
                    <a:schemeClr val="dk1"/>
                  </a:solidFill>
                  <a:latin typeface="+mn-lt"/>
                  <a:ea typeface="+mn-ea"/>
                  <a:cs typeface="+mn-cs"/>
                </a:rPr>
                <a:t>05:05 に起動し、消費電力が</a:t>
              </a:r>
              <a:br/>
              <a:r>
                <a:rPr lang="ja-JP" sz="1350" dirty="0">
                  <a:solidFill>
                    <a:schemeClr val="dk1"/>
                  </a:solidFill>
                  <a:latin typeface="+mn-lt"/>
                  <a:ea typeface="+mn-ea"/>
                  <a:cs typeface="+mn-cs"/>
                </a:rPr>
                <a:t>一気に立ち上がる。</a:t>
              </a:r>
            </a:p>
          </p:txBody>
        </p:sp>
        <p:sp>
          <p:nvSpPr>
            <p:cNvPr id="10" name="TextBox 10"/>
            <p:cNvSpPr txBox="1"/>
            <p:nvPr/>
          </p:nvSpPr>
          <p:spPr>
            <a:xfrm>
              <a:off x="526542" y="3168968"/>
              <a:ext cx="2191131" cy="511683"/>
            </a:xfrm>
            <a:prstGeom prst="rect">
              <a:avLst/>
            </a:prstGeom>
            <a:noFill/>
            <a:ln>
              <a:noFill/>
            </a:ln>
          </p:spPr>
          <p:txBody>
            <a:bodyPr wrap="none" lIns="0" tIns="0" rIns="0" bIns="0" anchor="t" anchorCtr="0">
              <a:spAutoFit/>
            </a:bodyPr>
            <a:lstStyle/>
            <a:p>
              <a:pPr algn="l">
                <a:lnSpc>
                  <a:spcPts val="1950"/>
                </a:lnSpc>
              </a:pPr>
              <a:r>
                <a:rPr lang="ja-JP" sz="1350" dirty="0">
                  <a:solidFill>
                    <a:schemeClr val="dk1"/>
                  </a:solidFill>
                  <a:latin typeface="+mn-lt"/>
                  <a:ea typeface="+mn-ea"/>
                  <a:cs typeface="+mn-cs"/>
                </a:rPr>
                <a:t>6:30〜7:00 には、全系統が</a:t>
              </a:r>
              <a:br/>
              <a:r>
                <a:rPr lang="ja-JP" sz="1350" dirty="0">
                  <a:solidFill>
                    <a:schemeClr val="dk1"/>
                  </a:solidFill>
                  <a:latin typeface="+mn-lt"/>
                  <a:ea typeface="+mn-ea"/>
                  <a:cs typeface="+mn-cs"/>
                </a:rPr>
                <a:t>設定温度へ到達している。</a:t>
              </a:r>
            </a:p>
          </p:txBody>
        </p:sp>
        <p:sp>
          <p:nvSpPr>
            <p:cNvPr id="11" name="TextBox 11"/>
            <p:cNvSpPr txBox="1"/>
            <p:nvPr/>
          </p:nvSpPr>
          <p:spPr>
            <a:xfrm>
              <a:off x="526542" y="3816668"/>
              <a:ext cx="2414016" cy="759333"/>
            </a:xfrm>
            <a:prstGeom prst="rect">
              <a:avLst/>
            </a:prstGeom>
            <a:noFill/>
            <a:ln>
              <a:noFill/>
            </a:ln>
          </p:spPr>
          <p:txBody>
            <a:bodyPr wrap="none" lIns="0" tIns="0" rIns="0" bIns="0" anchor="t" anchorCtr="0">
              <a:spAutoFit/>
            </a:bodyPr>
            <a:lstStyle/>
            <a:p>
              <a:pPr algn="l">
                <a:lnSpc>
                  <a:spcPts val="1950"/>
                </a:lnSpc>
              </a:pPr>
              <a:r>
                <a:rPr lang="ja-JP" sz="1350" dirty="0">
                  <a:solidFill>
                    <a:schemeClr val="dk1"/>
                  </a:solidFill>
                  <a:latin typeface="+mn-lt"/>
                  <a:ea typeface="+mn-ea"/>
                  <a:cs typeface="+mn-cs"/>
                </a:rPr>
                <a:t>そこから 8:00 までの 1 時間</a:t>
              </a:r>
              <a:br/>
              <a:r>
                <a:rPr lang="ja-JP" sz="1350" dirty="0">
                  <a:solidFill>
                    <a:schemeClr val="dk1"/>
                  </a:solidFill>
                  <a:latin typeface="+mn-lt"/>
                  <a:ea typeface="+mn-ea"/>
                  <a:cs typeface="+mn-cs"/>
                </a:rPr>
                <a:t>以上は、冷え切った部屋を保つ</a:t>
              </a:r>
              <a:br/>
              <a:r>
                <a:rPr lang="ja-JP" sz="1350" dirty="0">
                  <a:solidFill>
                    <a:schemeClr val="dk1"/>
                  </a:solidFill>
                  <a:latin typeface="+mn-lt"/>
                  <a:ea typeface="+mn-ea"/>
                  <a:cs typeface="+mn-cs"/>
                </a:rPr>
                <a:t>ためだけの運転が続く。</a:t>
              </a:r>
            </a:p>
          </p:txBody>
        </p:sp>
        <p:sp>
          <p:nvSpPr>
            <p:cNvPr id="12" name="TextBox 12"/>
            <p:cNvSpPr txBox="1"/>
            <p:nvPr/>
          </p:nvSpPr>
          <p:spPr>
            <a:xfrm>
              <a:off x="524256" y="4720590"/>
              <a:ext cx="2304288" cy="713994"/>
            </a:xfrm>
            <a:prstGeom prst="rect">
              <a:avLst/>
            </a:prstGeom>
            <a:noFill/>
            <a:ln>
              <a:noFill/>
            </a:ln>
          </p:spPr>
          <p:txBody>
            <a:bodyPr wrap="none" lIns="0" tIns="0" rIns="0" bIns="0" anchor="t" anchorCtr="0">
              <a:spAutoFit/>
            </a:bodyPr>
            <a:lstStyle/>
            <a:p>
              <a:pPr algn="l">
                <a:lnSpc>
                  <a:spcPts val="2850"/>
                </a:lnSpc>
              </a:pPr>
              <a:r>
                <a:rPr lang="ja-JP" sz="1800" b="1" dirty="0">
                  <a:solidFill>
                    <a:schemeClr val="accent2"/>
                  </a:solidFill>
                  <a:latin typeface="+mn-lt"/>
                  <a:ea typeface="+mn-ea"/>
                  <a:cs typeface="+mn-cs"/>
                </a:rPr>
                <a:t>室温を下げる仕事は、</a:t>
              </a:r>
              <a:br/>
              <a:r>
                <a:rPr lang="ja-JP" sz="1800" b="1" dirty="0">
                  <a:solidFill>
                    <a:schemeClr val="accent2"/>
                  </a:solidFill>
                  <a:latin typeface="+mn-lt"/>
                  <a:ea typeface="+mn-ea"/>
                  <a:cs typeface="+mn-cs"/>
                </a:rPr>
                <a:t>すでに終わっている。</a:t>
              </a:r>
            </a:p>
          </p:txBody>
        </p:sp>
        <p:sp>
          <p:nvSpPr>
            <p:cNvPr id="13" name="TextBox 13"/>
            <p:cNvSpPr txBox="1"/>
            <p:nvPr/>
          </p:nvSpPr>
          <p:spPr>
            <a:xfrm>
              <a:off x="527304" y="5509260"/>
              <a:ext cx="2336292" cy="444246"/>
            </a:xfrm>
            <a:prstGeom prst="rect">
              <a:avLst/>
            </a:prstGeom>
            <a:noFill/>
            <a:ln>
              <a:noFill/>
            </a:ln>
          </p:spPr>
          <p:txBody>
            <a:bodyPr wrap="none" lIns="0" tIns="0" rIns="0" bIns="0" anchor="t" anchorCtr="0">
              <a:spAutoFit/>
            </a:bodyPr>
            <a:lstStyle/>
            <a:p>
              <a:pPr algn="l">
                <a:lnSpc>
                  <a:spcPts val="1650"/>
                </a:lnSpc>
              </a:pPr>
              <a:r>
                <a:rPr lang="ja-JP" sz="1200" dirty="0">
                  <a:solidFill>
                    <a:schemeClr val="accent5"/>
                  </a:solidFill>
                  <a:latin typeface="+mn-lt"/>
                  <a:ea typeface="+mn-ea"/>
                  <a:cs typeface="+mn-cs"/>
                </a:rPr>
                <a:t>図は 2025-08-20 の 1 分値波形。</a:t>
              </a:r>
              <a:br/>
              <a:r>
                <a:rPr lang="ja-JP" sz="1200" dirty="0">
                  <a:solidFill>
                    <a:schemeClr val="accent5"/>
                  </a:solidFill>
                  <a:latin typeface="+mn-lt"/>
                  <a:ea typeface="+mn-ea"/>
                  <a:cs typeface="+mn-cs"/>
                </a:rPr>
                <a:t>合成データによる参考値。</a:t>
              </a:r>
            </a:p>
          </p:txBody>
        </p:sp>
      </p:grpSp>
      <p:grpSp>
        <p:nvGrpSpPr>
          <p:cNvPr id="18" name="Group 18"/>
          <p:cNvGrpSpPr/>
          <p:nvPr/>
        </p:nvGrpSpPr>
        <p:grpSpPr>
          <a:xfrm>
            <a:off x="4095750" y="2305050"/>
            <a:ext cx="7562850" cy="3572256"/>
            <a:chOff x="4095750" y="2305050"/>
            <a:chExt cx="7562850" cy="3572256"/>
          </a:xfrm>
        </p:grpSpPr>
        <p:pic>
          <p:nvPicPr>
            <p:cNvPr id="15" name="Image 15"/>
            <p:cNvPicPr>
              <a:picLocks noChangeAspect="1"/>
            </p:cNvPicPr>
            <p:nvPr/>
          </p:nvPicPr>
          <p:blipFill>
            <a:blip r:embed="rId2"/>
            <a:stretch>
              <a:fillRect/>
            </a:stretch>
          </p:blipFill>
          <p:spPr>
            <a:xfrm>
              <a:off x="4095750" y="2305050"/>
              <a:ext cx="7562850" cy="3558540"/>
            </a:xfrm>
            <a:prstGeom prst="rect">
              <a:avLst/>
            </a:prstGeom>
          </p:spPr>
        </p:pic>
        <p:sp>
          <p:nvSpPr>
            <p:cNvPr id="16" name="TextBox 16"/>
            <p:cNvSpPr txBox="1"/>
            <p:nvPr/>
          </p:nvSpPr>
          <p:spPr>
            <a:xfrm>
              <a:off x="6919341" y="5642610"/>
              <a:ext cx="658368" cy="234696"/>
            </a:xfrm>
            <a:prstGeom prst="rect">
              <a:avLst/>
            </a:prstGeom>
            <a:noFill/>
            <a:ln>
              <a:noFill/>
            </a:ln>
          </p:spPr>
          <p:txBody>
            <a:bodyPr wrap="none" lIns="0" tIns="0" rIns="0" bIns="0" anchor="t" anchorCtr="0">
              <a:spAutoFit/>
            </a:bodyPr>
            <a:lstStyle/>
            <a:p>
              <a:pPr algn="ctr"/>
              <a:r>
                <a:rPr lang="ja-JP" sz="1200" dirty="0">
                  <a:solidFill>
                    <a:schemeClr val="accent2"/>
                  </a:solidFill>
                  <a:latin typeface="+mn-lt"/>
                  <a:ea typeface="+mn-ea"/>
                  <a:cs typeface="+mn-cs"/>
                </a:rPr>
                <a:t>削る対象</a:t>
              </a:r>
            </a:p>
          </p:txBody>
        </p:sp>
        <p:sp>
          <p:nvSpPr>
            <p:cNvPr id="17" name="Line 17"/>
            <p:cNvSpPr/>
            <p:nvPr/>
          </p:nvSpPr>
          <p:spPr>
            <a:xfrm>
              <a:off x="6886575" y="5829300"/>
              <a:ext cx="723900" cy="9525"/>
            </a:xfrm>
            <a:custGeom>
              <a:avLst/>
              <a:gdLst/>
              <a:ahLst/>
              <a:cxnLst/>
              <a:rect l="l" t="t" r="r" b="b"/>
              <a:pathLst>
                <a:path w="723900" h="9525">
                  <a:moveTo>
                    <a:pt x="0" y="0"/>
                  </a:moveTo>
                  <a:lnTo>
                    <a:pt x="723900" y="0"/>
                  </a:lnTo>
                </a:path>
              </a:pathLst>
            </a:custGeom>
            <a:noFill/>
            <a:ln w="19050">
              <a:solidFill>
                <a:schemeClr val="accent2"/>
              </a:solidFill>
            </a:ln>
          </p:spPr>
        </p:sp>
      </p:grpSp>
      <p:grpSp>
        <p:nvGrpSpPr>
          <p:cNvPr id="22" name="Group 22"/>
          <p:cNvGrpSpPr/>
          <p:nvPr/>
        </p:nvGrpSpPr>
        <p:grpSpPr>
          <a:xfrm>
            <a:off x="527304" y="6153150"/>
            <a:ext cx="11137392" cy="314706"/>
            <a:chOff x="527304" y="6153150"/>
            <a:chExt cx="11137392" cy="314706"/>
          </a:xfrm>
        </p:grpSpPr>
        <p:sp>
          <p:nvSpPr>
            <p:cNvPr id="19" name="Line 19"/>
            <p:cNvSpPr/>
            <p:nvPr/>
          </p:nvSpPr>
          <p:spPr>
            <a:xfrm>
              <a:off x="533400" y="61531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20" name="TextBox 20"/>
            <p:cNvSpPr txBox="1"/>
            <p:nvPr/>
          </p:nvSpPr>
          <p:spPr>
            <a:xfrm>
              <a:off x="527304" y="6233160"/>
              <a:ext cx="2919984"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熱源の起動を、どこまで遅らせてよいか</a:t>
              </a:r>
            </a:p>
          </p:txBody>
        </p:sp>
        <p:sp>
          <p:nvSpPr>
            <p:cNvPr id="21" name="TextBox 21"/>
            <p:cNvSpPr txBox="1"/>
            <p:nvPr/>
          </p:nvSpPr>
          <p:spPr>
            <a:xfrm>
              <a:off x="7452360" y="6233160"/>
              <a:ext cx="4212336"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起動時刻と稼働日は実測、電力量は合成データによる試算</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6542" y="730568"/>
            <a:ext cx="11138916" cy="345757"/>
            <a:chOff x="526542" y="730568"/>
            <a:chExt cx="11138916" cy="345757"/>
          </a:xfrm>
        </p:grpSpPr>
        <p:sp>
          <p:nvSpPr>
            <p:cNvPr id="2" name="TextBox 2"/>
            <p:cNvSpPr txBox="1"/>
            <p:nvPr/>
          </p:nvSpPr>
          <p:spPr>
            <a:xfrm>
              <a:off x="526542" y="730568"/>
              <a:ext cx="1358570"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02 どう解いたか</a:t>
              </a:r>
            </a:p>
          </p:txBody>
        </p:sp>
        <p:sp>
          <p:nvSpPr>
            <p:cNvPr id="3" name="TextBox 3"/>
            <p:cNvSpPr txBox="1"/>
            <p:nvPr/>
          </p:nvSpPr>
          <p:spPr>
            <a:xfrm>
              <a:off x="11042923" y="730568"/>
              <a:ext cx="622535"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04 / 11</a:t>
              </a:r>
            </a:p>
          </p:txBody>
        </p:sp>
        <p:sp>
          <p:nvSpPr>
            <p:cNvPr id="4" name="Line 4"/>
            <p:cNvSpPr/>
            <p:nvPr/>
          </p:nvSpPr>
          <p:spPr>
            <a:xfrm>
              <a:off x="533400" y="1066800"/>
              <a:ext cx="11125200" cy="9525"/>
            </a:xfrm>
            <a:custGeom>
              <a:avLst/>
              <a:gdLst/>
              <a:ahLst/>
              <a:cxnLst/>
              <a:rect l="l" t="t" r="r" b="b"/>
              <a:pathLst>
                <a:path w="11125200" h="9525">
                  <a:moveTo>
                    <a:pt x="0" y="0"/>
                  </a:moveTo>
                  <a:lnTo>
                    <a:pt x="11125200" y="0"/>
                  </a:lnTo>
                </a:path>
              </a:pathLst>
            </a:custGeom>
            <a:noFill/>
            <a:ln w="14288">
              <a:solidFill>
                <a:schemeClr val="accent1"/>
              </a:solidFill>
            </a:ln>
          </p:spPr>
        </p:sp>
      </p:grpSp>
      <p:grpSp>
        <p:nvGrpSpPr>
          <p:cNvPr id="8" name="Group 8"/>
          <p:cNvGrpSpPr/>
          <p:nvPr/>
        </p:nvGrpSpPr>
        <p:grpSpPr>
          <a:xfrm>
            <a:off x="517398" y="1241108"/>
            <a:ext cx="9765506" cy="994409"/>
            <a:chOff x="517398" y="1241108"/>
            <a:chExt cx="9765506" cy="994409"/>
          </a:xfrm>
        </p:grpSpPr>
        <p:sp>
          <p:nvSpPr>
            <p:cNvPr id="6" name="TextBox 6"/>
            <p:cNvSpPr txBox="1"/>
            <p:nvPr/>
          </p:nvSpPr>
          <p:spPr>
            <a:xfrm>
              <a:off x="517398" y="1241108"/>
              <a:ext cx="7240905" cy="616077"/>
            </a:xfrm>
            <a:prstGeom prst="rect">
              <a:avLst/>
            </a:prstGeom>
            <a:noFill/>
            <a:ln>
              <a:noFill/>
            </a:ln>
          </p:spPr>
          <p:txBody>
            <a:bodyPr wrap="none" lIns="0" tIns="0" rIns="0" bIns="0" anchor="t" anchorCtr="0">
              <a:spAutoFit/>
            </a:bodyPr>
            <a:lstStyle/>
            <a:p>
              <a:pPr algn="l"/>
              <a:r>
                <a:rPr lang="ja-JP" sz="3150" b="1" dirty="0">
                  <a:solidFill>
                    <a:schemeClr val="accent1"/>
                  </a:solidFill>
                  <a:latin typeface="+mn-lt"/>
                  <a:ea typeface="+mn-ea"/>
                  <a:cs typeface="+mn-cs"/>
                </a:rPr>
                <a:t>起動時刻は、前日の夕方に人が決める</a:t>
              </a:r>
            </a:p>
          </p:txBody>
        </p:sp>
        <p:sp>
          <p:nvSpPr>
            <p:cNvPr id="7" name="TextBox 7"/>
            <p:cNvSpPr txBox="1"/>
            <p:nvPr/>
          </p:nvSpPr>
          <p:spPr>
            <a:xfrm>
              <a:off x="521970" y="1795462"/>
              <a:ext cx="9760934" cy="440055"/>
            </a:xfrm>
            <a:prstGeom prst="rect">
              <a:avLst/>
            </a:prstGeom>
            <a:noFill/>
            <a:ln>
              <a:noFill/>
            </a:ln>
          </p:spPr>
          <p:txBody>
            <a:bodyPr wrap="none" lIns="0" tIns="0" rIns="0" bIns="0" anchor="t" anchorCtr="0">
              <a:spAutoFit/>
            </a:bodyPr>
            <a:lstStyle/>
            <a:p>
              <a:pPr algn="l"/>
              <a:r>
                <a:rPr lang="ja-JP" sz="2250" dirty="0">
                  <a:solidFill>
                    <a:schemeClr val="dk1"/>
                  </a:solidFill>
                  <a:latin typeface="+mn-lt"/>
                  <a:ea typeface="+mn-ea"/>
                  <a:cs typeface="+mn-cs"/>
                </a:rPr>
                <a:t>この 2 つを外すと、どれだけ精度の高いモデルでも現場では使えない。</a:t>
              </a:r>
            </a:p>
          </p:txBody>
        </p:sp>
      </p:grpSp>
      <p:grpSp>
        <p:nvGrpSpPr>
          <p:cNvPr id="19" name="Group 19"/>
          <p:cNvGrpSpPr/>
          <p:nvPr/>
        </p:nvGrpSpPr>
        <p:grpSpPr>
          <a:xfrm>
            <a:off x="521970" y="2445068"/>
            <a:ext cx="10527030" cy="1846516"/>
            <a:chOff x="521970" y="2445068"/>
            <a:chExt cx="10527030" cy="1846516"/>
          </a:xfrm>
        </p:grpSpPr>
        <p:sp>
          <p:nvSpPr>
            <p:cNvPr id="9" name="TextBox 9"/>
            <p:cNvSpPr txBox="1"/>
            <p:nvPr/>
          </p:nvSpPr>
          <p:spPr>
            <a:xfrm>
              <a:off x="526542" y="2445068"/>
              <a:ext cx="2212734" cy="264033"/>
            </a:xfrm>
            <a:prstGeom prst="rect">
              <a:avLst/>
            </a:prstGeom>
            <a:noFill/>
            <a:ln>
              <a:noFill/>
            </a:ln>
          </p:spPr>
          <p:txBody>
            <a:bodyPr wrap="none" lIns="0" tIns="0" rIns="0" bIns="0" anchor="t" anchorCtr="0">
              <a:spAutoFit/>
            </a:bodyPr>
            <a:lstStyle/>
            <a:p>
              <a:pPr algn="l"/>
              <a:r>
                <a:rPr lang="ja-JP" sz="1350" b="1" dirty="0">
                  <a:solidFill>
                    <a:schemeClr val="accent5"/>
                  </a:solidFill>
                  <a:latin typeface="+mn-lt"/>
                  <a:ea typeface="+mn-ea"/>
                  <a:cs typeface="+mn-cs"/>
                </a:rPr>
                <a:t>制約 1 — 決定のタイミング</a:t>
              </a:r>
            </a:p>
          </p:txBody>
        </p:sp>
        <p:sp>
          <p:nvSpPr>
            <p:cNvPr id="10" name="TextBox 10"/>
            <p:cNvSpPr txBox="1"/>
            <p:nvPr/>
          </p:nvSpPr>
          <p:spPr>
            <a:xfrm>
              <a:off x="521970" y="2747962"/>
              <a:ext cx="5474970" cy="440055"/>
            </a:xfrm>
            <a:prstGeom prst="rect">
              <a:avLst/>
            </a:prstGeom>
            <a:noFill/>
            <a:ln>
              <a:noFill/>
            </a:ln>
          </p:spPr>
          <p:txBody>
            <a:bodyPr wrap="none" lIns="0" tIns="0" rIns="0" bIns="0" anchor="t" anchorCtr="0">
              <a:spAutoFit/>
            </a:bodyPr>
            <a:lstStyle/>
            <a:p>
              <a:pPr algn="l"/>
              <a:r>
                <a:rPr lang="ja-JP" sz="2250" dirty="0">
                  <a:solidFill>
                    <a:schemeClr val="dk1"/>
                  </a:solidFill>
                  <a:latin typeface="+mn-lt"/>
                  <a:ea typeface="+mn-ea"/>
                  <a:cs typeface="+mn-cs"/>
                </a:rPr>
                <a:t>起動時刻は、前日の夕方に人が決める。</a:t>
              </a:r>
            </a:p>
          </p:txBody>
        </p:sp>
        <p:sp>
          <p:nvSpPr>
            <p:cNvPr id="11" name="Line 11"/>
            <p:cNvSpPr/>
            <p:nvPr/>
          </p:nvSpPr>
          <p:spPr>
            <a:xfrm>
              <a:off x="1143000" y="3448050"/>
              <a:ext cx="9906000" cy="1"/>
            </a:xfrm>
            <a:prstGeom prst="line">
              <a:avLst/>
            </a:prstGeom>
            <a:noFill/>
            <a:ln w="14288">
              <a:solidFill>
                <a:schemeClr val="accent1"/>
              </a:solidFill>
              <a:tailEnd type="triangle" w="lg" len="lg"/>
            </a:ln>
          </p:spPr>
        </p:sp>
        <p:sp>
          <p:nvSpPr>
            <p:cNvPr id="12" name="Ellipse 12"/>
            <p:cNvSpPr/>
            <p:nvPr/>
          </p:nvSpPr>
          <p:spPr>
            <a:xfrm>
              <a:off x="2219325" y="3381375"/>
              <a:ext cx="133350" cy="133350"/>
            </a:xfrm>
            <a:prstGeom prst="ellipse">
              <a:avLst/>
            </a:prstGeom>
            <a:solidFill>
              <a:schemeClr val="accent1"/>
            </a:solidFill>
            <a:ln>
              <a:noFill/>
            </a:ln>
          </p:spPr>
        </p:sp>
        <p:sp>
          <p:nvSpPr>
            <p:cNvPr id="13" name="TextBox 13"/>
            <p:cNvSpPr txBox="1"/>
            <p:nvPr/>
          </p:nvSpPr>
          <p:spPr>
            <a:xfrm>
              <a:off x="1824800" y="3111818"/>
              <a:ext cx="922401" cy="264033"/>
            </a:xfrm>
            <a:prstGeom prst="rect">
              <a:avLst/>
            </a:prstGeom>
            <a:noFill/>
            <a:ln>
              <a:noFill/>
            </a:ln>
          </p:spPr>
          <p:txBody>
            <a:bodyPr wrap="none" lIns="0" tIns="0" rIns="0" bIns="0" anchor="t" anchorCtr="0">
              <a:spAutoFit/>
            </a:bodyPr>
            <a:lstStyle/>
            <a:p>
              <a:pPr algn="ctr"/>
              <a:r>
                <a:rPr lang="ja-JP" sz="1350" b="1" dirty="0">
                  <a:solidFill>
                    <a:schemeClr val="accent1"/>
                  </a:solidFill>
                  <a:latin typeface="+mn-lt"/>
                  <a:ea typeface="+mn-ea"/>
                  <a:cs typeface="+mn-cs"/>
                </a:rPr>
                <a:t>前日の夕方</a:t>
              </a:r>
            </a:p>
          </p:txBody>
        </p:sp>
        <p:sp>
          <p:nvSpPr>
            <p:cNvPr id="14" name="TextBox 14"/>
            <p:cNvSpPr txBox="1"/>
            <p:nvPr/>
          </p:nvSpPr>
          <p:spPr>
            <a:xfrm>
              <a:off x="1552194" y="3588068"/>
              <a:ext cx="1467612" cy="264033"/>
            </a:xfrm>
            <a:prstGeom prst="rect">
              <a:avLst/>
            </a:prstGeom>
            <a:noFill/>
            <a:ln>
              <a:noFill/>
            </a:ln>
          </p:spPr>
          <p:txBody>
            <a:bodyPr wrap="none" lIns="0" tIns="0" rIns="0" bIns="0" anchor="t" anchorCtr="0">
              <a:spAutoFit/>
            </a:bodyPr>
            <a:lstStyle/>
            <a:p>
              <a:pPr algn="ctr"/>
              <a:r>
                <a:rPr lang="ja-JP" sz="1350" dirty="0">
                  <a:solidFill>
                    <a:schemeClr val="dk1"/>
                  </a:solidFill>
                  <a:latin typeface="+mn-lt"/>
                  <a:ea typeface="+mn-ea"/>
                  <a:cs typeface="+mn-cs"/>
                </a:rPr>
                <a:t>起動時刻を決める</a:t>
              </a:r>
            </a:p>
          </p:txBody>
        </p:sp>
        <p:sp>
          <p:nvSpPr>
            <p:cNvPr id="15" name="Ellipse 15"/>
            <p:cNvSpPr/>
            <p:nvPr/>
          </p:nvSpPr>
          <p:spPr>
            <a:xfrm>
              <a:off x="9458325" y="3381375"/>
              <a:ext cx="133350" cy="133350"/>
            </a:xfrm>
            <a:prstGeom prst="ellipse">
              <a:avLst/>
            </a:prstGeom>
            <a:solidFill>
              <a:schemeClr val="lt1"/>
            </a:solidFill>
            <a:ln w="23812">
              <a:solidFill>
                <a:schemeClr val="accent2"/>
              </a:solidFill>
            </a:ln>
          </p:spPr>
        </p:sp>
        <p:sp>
          <p:nvSpPr>
            <p:cNvPr id="16" name="TextBox 16"/>
            <p:cNvSpPr txBox="1"/>
            <p:nvPr/>
          </p:nvSpPr>
          <p:spPr>
            <a:xfrm>
              <a:off x="9336405" y="3111818"/>
              <a:ext cx="377190" cy="264033"/>
            </a:xfrm>
            <a:prstGeom prst="rect">
              <a:avLst/>
            </a:prstGeom>
            <a:noFill/>
            <a:ln>
              <a:noFill/>
            </a:ln>
          </p:spPr>
          <p:txBody>
            <a:bodyPr wrap="none" lIns="0" tIns="0" rIns="0" bIns="0" anchor="t" anchorCtr="0">
              <a:spAutoFit/>
            </a:bodyPr>
            <a:lstStyle/>
            <a:p>
              <a:pPr algn="ctr"/>
              <a:r>
                <a:rPr lang="ja-JP" sz="1350" b="1" dirty="0">
                  <a:solidFill>
                    <a:schemeClr val="accent2"/>
                  </a:solidFill>
                  <a:latin typeface="+mn-lt"/>
                  <a:ea typeface="+mn-ea"/>
                  <a:cs typeface="+mn-cs"/>
                </a:rPr>
                <a:t>翌朝</a:t>
              </a:r>
            </a:p>
          </p:txBody>
        </p:sp>
        <p:sp>
          <p:nvSpPr>
            <p:cNvPr id="17" name="TextBox 17"/>
            <p:cNvSpPr txBox="1"/>
            <p:nvPr/>
          </p:nvSpPr>
          <p:spPr>
            <a:xfrm>
              <a:off x="8609457" y="3588068"/>
              <a:ext cx="1831086" cy="264033"/>
            </a:xfrm>
            <a:prstGeom prst="rect">
              <a:avLst/>
            </a:prstGeom>
            <a:noFill/>
            <a:ln>
              <a:noFill/>
            </a:ln>
          </p:spPr>
          <p:txBody>
            <a:bodyPr wrap="none" lIns="0" tIns="0" rIns="0" bIns="0" anchor="t" anchorCtr="0">
              <a:spAutoFit/>
            </a:bodyPr>
            <a:lstStyle/>
            <a:p>
              <a:pPr algn="ctr"/>
              <a:r>
                <a:rPr lang="ja-JP" sz="1350" dirty="0">
                  <a:solidFill>
                    <a:schemeClr val="accent2"/>
                  </a:solidFill>
                  <a:latin typeface="+mn-lt"/>
                  <a:ea typeface="+mn-ea"/>
                  <a:cs typeface="+mn-cs"/>
                </a:rPr>
                <a:t>室温はまだ分からない</a:t>
              </a:r>
            </a:p>
          </p:txBody>
        </p:sp>
        <p:sp>
          <p:nvSpPr>
            <p:cNvPr id="18" name="TextBox 18"/>
            <p:cNvSpPr txBox="1"/>
            <p:nvPr/>
          </p:nvSpPr>
          <p:spPr>
            <a:xfrm>
              <a:off x="524256" y="3939540"/>
              <a:ext cx="9468612" cy="352044"/>
            </a:xfrm>
            <a:prstGeom prst="rect">
              <a:avLst/>
            </a:prstGeom>
            <a:noFill/>
            <a:ln>
              <a:noFill/>
            </a:ln>
          </p:spPr>
          <p:txBody>
            <a:bodyPr wrap="none" lIns="0" tIns="0" rIns="0" bIns="0" anchor="t" anchorCtr="0">
              <a:spAutoFit/>
            </a:bodyPr>
            <a:lstStyle/>
            <a:p>
              <a:pPr algn="l"/>
              <a:r>
                <a:rPr lang="ja-JP" sz="1800" dirty="0">
                  <a:solidFill>
                    <a:schemeClr val="dk1"/>
                  </a:solidFill>
                  <a:latin typeface="+mn-lt"/>
                  <a:ea typeface="+mn-ea"/>
                  <a:cs typeface="+mn-cs"/>
                </a:rPr>
                <a:t>だから室温を経由せず、前日に得られる翌日の気温予報から予冷時間を直接推計する。</a:t>
              </a:r>
            </a:p>
          </p:txBody>
        </p:sp>
      </p:grpSp>
      <p:grpSp>
        <p:nvGrpSpPr>
          <p:cNvPr id="28" name="Group 28"/>
          <p:cNvGrpSpPr/>
          <p:nvPr/>
        </p:nvGrpSpPr>
        <p:grpSpPr>
          <a:xfrm>
            <a:off x="524256" y="4533900"/>
            <a:ext cx="11134344" cy="1491234"/>
            <a:chOff x="524256" y="4533900"/>
            <a:chExt cx="11134344" cy="1491234"/>
          </a:xfrm>
        </p:grpSpPr>
        <p:sp>
          <p:nvSpPr>
            <p:cNvPr id="20" name="Line 20"/>
            <p:cNvSpPr/>
            <p:nvPr/>
          </p:nvSpPr>
          <p:spPr>
            <a:xfrm>
              <a:off x="533400" y="453390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21" name="TextBox 21"/>
            <p:cNvSpPr txBox="1"/>
            <p:nvPr/>
          </p:nvSpPr>
          <p:spPr>
            <a:xfrm>
              <a:off x="526542" y="4616768"/>
              <a:ext cx="1667523" cy="264033"/>
            </a:xfrm>
            <a:prstGeom prst="rect">
              <a:avLst/>
            </a:prstGeom>
            <a:noFill/>
            <a:ln>
              <a:noFill/>
            </a:ln>
          </p:spPr>
          <p:txBody>
            <a:bodyPr wrap="none" lIns="0" tIns="0" rIns="0" bIns="0" anchor="t" anchorCtr="0">
              <a:spAutoFit/>
            </a:bodyPr>
            <a:lstStyle/>
            <a:p>
              <a:pPr algn="l"/>
              <a:r>
                <a:rPr lang="ja-JP" sz="1350" b="1" dirty="0">
                  <a:solidFill>
                    <a:schemeClr val="accent5"/>
                  </a:solidFill>
                  <a:latin typeface="+mn-lt"/>
                  <a:ea typeface="+mn-ea"/>
                  <a:cs typeface="+mn-cs"/>
                </a:rPr>
                <a:t>制約 2 — 損失の重さ</a:t>
              </a:r>
            </a:p>
          </p:txBody>
        </p:sp>
        <p:sp>
          <p:nvSpPr>
            <p:cNvPr id="22" name="Line 22"/>
            <p:cNvSpPr/>
            <p:nvPr/>
          </p:nvSpPr>
          <p:spPr>
            <a:xfrm>
              <a:off x="6096000" y="4914900"/>
              <a:ext cx="9525" cy="590550"/>
            </a:xfrm>
            <a:custGeom>
              <a:avLst/>
              <a:gdLst/>
              <a:ahLst/>
              <a:cxnLst/>
              <a:rect l="l" t="t" r="r" b="b"/>
              <a:pathLst>
                <a:path w="9525" h="590550">
                  <a:moveTo>
                    <a:pt x="0" y="0"/>
                  </a:moveTo>
                  <a:lnTo>
                    <a:pt x="0" y="590550"/>
                  </a:lnTo>
                </a:path>
              </a:pathLst>
            </a:custGeom>
            <a:noFill/>
            <a:ln w="9525">
              <a:solidFill>
                <a:schemeClr val="accent6"/>
              </a:solidFill>
            </a:ln>
          </p:spPr>
        </p:sp>
        <p:sp>
          <p:nvSpPr>
            <p:cNvPr id="23" name="TextBox 23"/>
            <p:cNvSpPr txBox="1"/>
            <p:nvPr/>
          </p:nvSpPr>
          <p:spPr>
            <a:xfrm>
              <a:off x="526542" y="4921568"/>
              <a:ext cx="2403558"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未達 — 始業時に冷えていない</a:t>
              </a:r>
            </a:p>
          </p:txBody>
        </p:sp>
        <p:sp>
          <p:nvSpPr>
            <p:cNvPr id="24" name="TextBox 24"/>
            <p:cNvSpPr txBox="1"/>
            <p:nvPr/>
          </p:nvSpPr>
          <p:spPr>
            <a:xfrm>
              <a:off x="524256" y="5215890"/>
              <a:ext cx="3653028" cy="352044"/>
            </a:xfrm>
            <a:prstGeom prst="rect">
              <a:avLst/>
            </a:prstGeom>
            <a:noFill/>
            <a:ln>
              <a:noFill/>
            </a:ln>
          </p:spPr>
          <p:txBody>
            <a:bodyPr wrap="none" lIns="0" tIns="0" rIns="0" bIns="0" anchor="t" anchorCtr="0">
              <a:spAutoFit/>
            </a:bodyPr>
            <a:lstStyle/>
            <a:p>
              <a:pPr algn="l"/>
              <a:r>
                <a:rPr lang="ja-JP" sz="1800" b="1" dirty="0">
                  <a:solidFill>
                    <a:schemeClr val="accent2"/>
                  </a:solidFill>
                  <a:latin typeface="+mn-lt"/>
                  <a:ea typeface="+mn-ea"/>
                  <a:cs typeface="+mn-cs"/>
                </a:rPr>
                <a:t>クレームにつながる。高コスト。</a:t>
              </a:r>
            </a:p>
          </p:txBody>
        </p:sp>
        <p:sp>
          <p:nvSpPr>
            <p:cNvPr id="25" name="TextBox 25"/>
            <p:cNvSpPr txBox="1"/>
            <p:nvPr/>
          </p:nvSpPr>
          <p:spPr>
            <a:xfrm>
              <a:off x="6432042" y="4921568"/>
              <a:ext cx="2767032"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過剰予冷 — 早く冷やしすぎている</a:t>
              </a:r>
            </a:p>
          </p:txBody>
        </p:sp>
        <p:sp>
          <p:nvSpPr>
            <p:cNvPr id="26" name="TextBox 26"/>
            <p:cNvSpPr txBox="1"/>
            <p:nvPr/>
          </p:nvSpPr>
          <p:spPr>
            <a:xfrm>
              <a:off x="6429756" y="5215890"/>
              <a:ext cx="2683764" cy="352044"/>
            </a:xfrm>
            <a:prstGeom prst="rect">
              <a:avLst/>
            </a:prstGeom>
            <a:noFill/>
            <a:ln>
              <a:noFill/>
            </a:ln>
          </p:spPr>
          <p:txBody>
            <a:bodyPr wrap="none" lIns="0" tIns="0" rIns="0" bIns="0" anchor="t" anchorCtr="0">
              <a:spAutoFit/>
            </a:bodyPr>
            <a:lstStyle/>
            <a:p>
              <a:pPr algn="l"/>
              <a:r>
                <a:rPr lang="ja-JP" sz="1800" dirty="0">
                  <a:solidFill>
                    <a:schemeClr val="dk1"/>
                  </a:solidFill>
                  <a:latin typeface="+mn-lt"/>
                  <a:ea typeface="+mn-ea"/>
                  <a:cs typeface="+mn-cs"/>
                </a:rPr>
                <a:t>電力の無駄。低コスト。</a:t>
              </a:r>
            </a:p>
          </p:txBody>
        </p:sp>
        <p:sp>
          <p:nvSpPr>
            <p:cNvPr id="27" name="TextBox 27"/>
            <p:cNvSpPr txBox="1"/>
            <p:nvPr/>
          </p:nvSpPr>
          <p:spPr>
            <a:xfrm>
              <a:off x="524256" y="5673090"/>
              <a:ext cx="8741664" cy="352044"/>
            </a:xfrm>
            <a:prstGeom prst="rect">
              <a:avLst/>
            </a:prstGeom>
            <a:noFill/>
            <a:ln>
              <a:noFill/>
            </a:ln>
          </p:spPr>
          <p:txBody>
            <a:bodyPr wrap="none" lIns="0" tIns="0" rIns="0" bIns="0" anchor="t" anchorCtr="0">
              <a:spAutoFit/>
            </a:bodyPr>
            <a:lstStyle/>
            <a:p>
              <a:pPr algn="l"/>
              <a:r>
                <a:rPr lang="ja-JP" sz="1800" dirty="0">
                  <a:solidFill>
                    <a:schemeClr val="dk1"/>
                  </a:solidFill>
                  <a:latin typeface="+mn-lt"/>
                  <a:ea typeface="+mn-ea"/>
                  <a:cs typeface="+mn-cs"/>
                </a:rPr>
                <a:t>だから予冷時間は中央値ではなく、残差の上側分位で見積もり、安全側に倒す。</a:t>
              </a:r>
            </a:p>
          </p:txBody>
        </p:sp>
      </p:grpSp>
      <p:grpSp>
        <p:nvGrpSpPr>
          <p:cNvPr id="32" name="Group 32"/>
          <p:cNvGrpSpPr/>
          <p:nvPr/>
        </p:nvGrpSpPr>
        <p:grpSpPr>
          <a:xfrm>
            <a:off x="527304" y="6153150"/>
            <a:ext cx="11137392" cy="314706"/>
            <a:chOff x="527304" y="6153150"/>
            <a:chExt cx="11137392" cy="314706"/>
          </a:xfrm>
        </p:grpSpPr>
        <p:sp>
          <p:nvSpPr>
            <p:cNvPr id="29" name="Line 29"/>
            <p:cNvSpPr/>
            <p:nvPr/>
          </p:nvSpPr>
          <p:spPr>
            <a:xfrm>
              <a:off x="533400" y="61531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30" name="TextBox 30"/>
            <p:cNvSpPr txBox="1"/>
            <p:nvPr/>
          </p:nvSpPr>
          <p:spPr>
            <a:xfrm>
              <a:off x="527304" y="6233160"/>
              <a:ext cx="2919984"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熱源の起動を、どこまで遅らせてよいか</a:t>
              </a:r>
            </a:p>
          </p:txBody>
        </p:sp>
        <p:sp>
          <p:nvSpPr>
            <p:cNvPr id="31" name="TextBox 31"/>
            <p:cNvSpPr txBox="1"/>
            <p:nvPr/>
          </p:nvSpPr>
          <p:spPr>
            <a:xfrm>
              <a:off x="7452360" y="6233160"/>
              <a:ext cx="4212336"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起動時刻と稼働日は実測、電力量は合成データによる試算</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6542" y="730568"/>
            <a:ext cx="11138916" cy="345757"/>
            <a:chOff x="526542" y="730568"/>
            <a:chExt cx="11138916" cy="345757"/>
          </a:xfrm>
        </p:grpSpPr>
        <p:sp>
          <p:nvSpPr>
            <p:cNvPr id="2" name="TextBox 2"/>
            <p:cNvSpPr txBox="1"/>
            <p:nvPr/>
          </p:nvSpPr>
          <p:spPr>
            <a:xfrm>
              <a:off x="526542" y="730568"/>
              <a:ext cx="1358570"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02 どう解いたか</a:t>
              </a:r>
            </a:p>
          </p:txBody>
        </p:sp>
        <p:sp>
          <p:nvSpPr>
            <p:cNvPr id="3" name="TextBox 3"/>
            <p:cNvSpPr txBox="1"/>
            <p:nvPr/>
          </p:nvSpPr>
          <p:spPr>
            <a:xfrm>
              <a:off x="11042923" y="730568"/>
              <a:ext cx="622535"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05 / 11</a:t>
              </a:r>
            </a:p>
          </p:txBody>
        </p:sp>
        <p:sp>
          <p:nvSpPr>
            <p:cNvPr id="4" name="Line 4"/>
            <p:cNvSpPr/>
            <p:nvPr/>
          </p:nvSpPr>
          <p:spPr>
            <a:xfrm>
              <a:off x="533400" y="1066800"/>
              <a:ext cx="11125200" cy="9525"/>
            </a:xfrm>
            <a:custGeom>
              <a:avLst/>
              <a:gdLst/>
              <a:ahLst/>
              <a:cxnLst/>
              <a:rect l="l" t="t" r="r" b="b"/>
              <a:pathLst>
                <a:path w="11125200" h="9525">
                  <a:moveTo>
                    <a:pt x="0" y="0"/>
                  </a:moveTo>
                  <a:lnTo>
                    <a:pt x="11125200" y="0"/>
                  </a:lnTo>
                </a:path>
              </a:pathLst>
            </a:custGeom>
            <a:noFill/>
            <a:ln w="14288">
              <a:solidFill>
                <a:schemeClr val="accent1"/>
              </a:solidFill>
            </a:ln>
          </p:spPr>
        </p:sp>
      </p:grpSp>
      <p:grpSp>
        <p:nvGrpSpPr>
          <p:cNvPr id="8" name="Group 8"/>
          <p:cNvGrpSpPr/>
          <p:nvPr/>
        </p:nvGrpSpPr>
        <p:grpSpPr>
          <a:xfrm>
            <a:off x="517398" y="1241108"/>
            <a:ext cx="10325862" cy="994409"/>
            <a:chOff x="517398" y="1241108"/>
            <a:chExt cx="10325862" cy="994409"/>
          </a:xfrm>
        </p:grpSpPr>
        <p:sp>
          <p:nvSpPr>
            <p:cNvPr id="6" name="TextBox 6"/>
            <p:cNvSpPr txBox="1"/>
            <p:nvPr/>
          </p:nvSpPr>
          <p:spPr>
            <a:xfrm>
              <a:off x="517398" y="1241108"/>
              <a:ext cx="8937117" cy="616077"/>
            </a:xfrm>
            <a:prstGeom prst="rect">
              <a:avLst/>
            </a:prstGeom>
            <a:noFill/>
            <a:ln>
              <a:noFill/>
            </a:ln>
          </p:spPr>
          <p:txBody>
            <a:bodyPr wrap="none" lIns="0" tIns="0" rIns="0" bIns="0" anchor="t" anchorCtr="0">
              <a:spAutoFit/>
            </a:bodyPr>
            <a:lstStyle/>
            <a:p>
              <a:pPr algn="l"/>
              <a:r>
                <a:rPr lang="ja-JP" sz="3150" b="1" dirty="0">
                  <a:solidFill>
                    <a:schemeClr val="accent1"/>
                  </a:solidFill>
                  <a:latin typeface="+mn-lt"/>
                  <a:ea typeface="+mn-ea"/>
                  <a:cs typeface="+mn-cs"/>
                </a:rPr>
                <a:t>室温を経由せず、気温予報から予冷時間を読む</a:t>
              </a:r>
            </a:p>
          </p:txBody>
        </p:sp>
        <p:sp>
          <p:nvSpPr>
            <p:cNvPr id="7" name="TextBox 7"/>
            <p:cNvSpPr txBox="1"/>
            <p:nvPr/>
          </p:nvSpPr>
          <p:spPr>
            <a:xfrm>
              <a:off x="521970" y="1795462"/>
              <a:ext cx="10321290" cy="440055"/>
            </a:xfrm>
            <a:prstGeom prst="rect">
              <a:avLst/>
            </a:prstGeom>
            <a:noFill/>
            <a:ln>
              <a:noFill/>
            </a:ln>
          </p:spPr>
          <p:txBody>
            <a:bodyPr wrap="none" lIns="0" tIns="0" rIns="0" bIns="0" anchor="t" anchorCtr="0">
              <a:spAutoFit/>
            </a:bodyPr>
            <a:lstStyle/>
            <a:p>
              <a:pPr algn="l"/>
              <a:r>
                <a:rPr lang="ja-JP" sz="2250" dirty="0">
                  <a:solidFill>
                    <a:schemeClr val="dk1"/>
                  </a:solidFill>
                  <a:latin typeface="+mn-lt"/>
                  <a:ea typeface="+mn-ea"/>
                  <a:cs typeface="+mn-cs"/>
                </a:rPr>
                <a:t>モデルが出すのは素の予冷時間。現場に渡す値には、安全側の余裕を積む。</a:t>
              </a:r>
            </a:p>
          </p:txBody>
        </p:sp>
      </p:grpSp>
      <p:grpSp>
        <p:nvGrpSpPr>
          <p:cNvPr id="12" name="Group 12"/>
          <p:cNvGrpSpPr/>
          <p:nvPr/>
        </p:nvGrpSpPr>
        <p:grpSpPr>
          <a:xfrm>
            <a:off x="521970" y="2445068"/>
            <a:ext cx="9503474" cy="930783"/>
            <a:chOff x="521970" y="2445068"/>
            <a:chExt cx="9503474" cy="930783"/>
          </a:xfrm>
        </p:grpSpPr>
        <p:sp>
          <p:nvSpPr>
            <p:cNvPr id="9" name="TextBox 9"/>
            <p:cNvSpPr txBox="1"/>
            <p:nvPr/>
          </p:nvSpPr>
          <p:spPr>
            <a:xfrm>
              <a:off x="526542" y="2445068"/>
              <a:ext cx="740664" cy="264033"/>
            </a:xfrm>
            <a:prstGeom prst="rect">
              <a:avLst/>
            </a:prstGeom>
            <a:noFill/>
            <a:ln>
              <a:noFill/>
            </a:ln>
          </p:spPr>
          <p:txBody>
            <a:bodyPr wrap="none" lIns="0" tIns="0" rIns="0" bIns="0" anchor="t" anchorCtr="0">
              <a:spAutoFit/>
            </a:bodyPr>
            <a:lstStyle/>
            <a:p>
              <a:pPr algn="l"/>
              <a:r>
                <a:rPr lang="ja-JP" sz="1350" b="1" dirty="0">
                  <a:solidFill>
                    <a:schemeClr val="accent5"/>
                  </a:solidFill>
                  <a:latin typeface="+mn-lt"/>
                  <a:ea typeface="+mn-ea"/>
                  <a:cs typeface="+mn-cs"/>
                </a:rPr>
                <a:t>推計の形</a:t>
              </a:r>
            </a:p>
          </p:txBody>
        </p:sp>
        <p:sp>
          <p:nvSpPr>
            <p:cNvPr id="10" name="TextBox 10"/>
            <p:cNvSpPr txBox="1"/>
            <p:nvPr/>
          </p:nvSpPr>
          <p:spPr>
            <a:xfrm>
              <a:off x="521970" y="2728912"/>
              <a:ext cx="9503474" cy="440055"/>
            </a:xfrm>
            <a:prstGeom prst="rect">
              <a:avLst/>
            </a:prstGeom>
            <a:noFill/>
            <a:ln>
              <a:noFill/>
            </a:ln>
          </p:spPr>
          <p:txBody>
            <a:bodyPr wrap="none" lIns="0" tIns="0" rIns="0" bIns="0" anchor="t" anchorCtr="0">
              <a:spAutoFit/>
            </a:bodyPr>
            <a:lstStyle/>
            <a:p>
              <a:pPr algn="l"/>
              <a:r>
                <a:rPr lang="ja-JP" sz="2250" dirty="0">
                  <a:solidFill>
                    <a:schemeClr val="accent1"/>
                  </a:solidFill>
                  <a:latin typeface="+mn-lt"/>
                  <a:ea typeface="+mn-ea"/>
                  <a:cs typeface="+mn-cs"/>
                </a:rPr>
                <a:t xml:space="preserve">必要な予冷時間 ＝ f（起動時の外気温, 設定温度）＋ </a:t>
              </a:r>
              <a:r>
                <a:rPr lang="ja-JP" sz="2250" b="1" dirty="0">
                  <a:solidFill>
                    <a:schemeClr val="accent2"/>
                  </a:solidFill>
                  <a:latin typeface="+mn-lt"/>
                  <a:ea typeface="+mn-ea"/>
                  <a:cs typeface="+mn-cs"/>
                </a:rPr>
                <a:t>安全側マージン</a:t>
              </a:r>
            </a:p>
          </p:txBody>
        </p:sp>
        <p:sp>
          <p:nvSpPr>
            <p:cNvPr id="11" name="TextBox 11"/>
            <p:cNvSpPr txBox="1"/>
            <p:nvPr/>
          </p:nvSpPr>
          <p:spPr>
            <a:xfrm>
              <a:off x="526542" y="3111818"/>
              <a:ext cx="6556248"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単位は分。入力は前日に得られる気温予報と設定温度だけで、室温は使わない。</a:t>
              </a:r>
            </a:p>
          </p:txBody>
        </p:sp>
      </p:grpSp>
      <p:grpSp>
        <p:nvGrpSpPr>
          <p:cNvPr id="29" name="Group 29"/>
          <p:cNvGrpSpPr/>
          <p:nvPr/>
        </p:nvGrpSpPr>
        <p:grpSpPr>
          <a:xfrm>
            <a:off x="524256" y="3626168"/>
            <a:ext cx="11134344" cy="1070038"/>
            <a:chOff x="524256" y="3626168"/>
            <a:chExt cx="11134344" cy="1070038"/>
          </a:xfrm>
        </p:grpSpPr>
        <p:sp>
          <p:nvSpPr>
            <p:cNvPr id="13" name="TextBox 13"/>
            <p:cNvSpPr txBox="1"/>
            <p:nvPr/>
          </p:nvSpPr>
          <p:spPr>
            <a:xfrm>
              <a:off x="526542" y="3626168"/>
              <a:ext cx="1649349" cy="264033"/>
            </a:xfrm>
            <a:prstGeom prst="rect">
              <a:avLst/>
            </a:prstGeom>
            <a:noFill/>
            <a:ln>
              <a:noFill/>
            </a:ln>
          </p:spPr>
          <p:txBody>
            <a:bodyPr wrap="none" lIns="0" tIns="0" rIns="0" bIns="0" anchor="t" anchorCtr="0">
              <a:spAutoFit/>
            </a:bodyPr>
            <a:lstStyle/>
            <a:p>
              <a:pPr algn="l"/>
              <a:r>
                <a:rPr lang="ja-JP" sz="1350" b="1" dirty="0">
                  <a:solidFill>
                    <a:schemeClr val="accent5"/>
                  </a:solidFill>
                  <a:latin typeface="+mn-lt"/>
                  <a:ea typeface="+mn-ea"/>
                  <a:cs typeface="+mn-cs"/>
                </a:rPr>
                <a:t>現場に渡す値の内訳</a:t>
              </a:r>
            </a:p>
          </p:txBody>
        </p:sp>
        <p:sp>
          <p:nvSpPr>
            <p:cNvPr id="14" name="Line 14"/>
            <p:cNvSpPr/>
            <p:nvPr/>
          </p:nvSpPr>
          <p:spPr>
            <a:xfrm>
              <a:off x="533400" y="4019550"/>
              <a:ext cx="2466975" cy="9525"/>
            </a:xfrm>
            <a:custGeom>
              <a:avLst/>
              <a:gdLst/>
              <a:ahLst/>
              <a:cxnLst/>
              <a:rect l="l" t="t" r="r" b="b"/>
              <a:pathLst>
                <a:path w="2466975" h="9525">
                  <a:moveTo>
                    <a:pt x="0" y="0"/>
                  </a:moveTo>
                  <a:lnTo>
                    <a:pt x="2466975" y="0"/>
                  </a:lnTo>
                </a:path>
              </a:pathLst>
            </a:custGeom>
            <a:noFill/>
            <a:ln w="38100">
              <a:solidFill>
                <a:schemeClr val="accent1"/>
              </a:solidFill>
            </a:ln>
          </p:spPr>
        </p:sp>
        <p:sp>
          <p:nvSpPr>
            <p:cNvPr id="15" name="TextBox 15"/>
            <p:cNvSpPr txBox="1"/>
            <p:nvPr/>
          </p:nvSpPr>
          <p:spPr>
            <a:xfrm>
              <a:off x="524256" y="4149090"/>
              <a:ext cx="1229868" cy="352044"/>
            </a:xfrm>
            <a:prstGeom prst="rect">
              <a:avLst/>
            </a:prstGeom>
            <a:noFill/>
            <a:ln>
              <a:noFill/>
            </a:ln>
          </p:spPr>
          <p:txBody>
            <a:bodyPr wrap="none" lIns="0" tIns="0" rIns="0" bIns="0" anchor="t" anchorCtr="0">
              <a:spAutoFit/>
            </a:bodyPr>
            <a:lstStyle/>
            <a:p>
              <a:pPr algn="l"/>
              <a:r>
                <a:rPr lang="ja-JP" sz="1800" dirty="0">
                  <a:solidFill>
                    <a:schemeClr val="dk1"/>
                  </a:solidFill>
                  <a:latin typeface="+mn-lt"/>
                  <a:ea typeface="+mn-ea"/>
                  <a:cs typeface="+mn-cs"/>
                </a:rPr>
                <a:t>モデル出力</a:t>
              </a:r>
            </a:p>
          </p:txBody>
        </p:sp>
        <p:sp>
          <p:nvSpPr>
            <p:cNvPr id="16" name="TextBox 16"/>
            <p:cNvSpPr txBox="1"/>
            <p:nvPr/>
          </p:nvSpPr>
          <p:spPr>
            <a:xfrm>
              <a:off x="527304" y="4461510"/>
              <a:ext cx="1789176"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気温と設定温度から算出</a:t>
              </a:r>
            </a:p>
          </p:txBody>
        </p:sp>
        <p:sp>
          <p:nvSpPr>
            <p:cNvPr id="17" name="TextBox 17"/>
            <p:cNvSpPr txBox="1"/>
            <p:nvPr/>
          </p:nvSpPr>
          <p:spPr>
            <a:xfrm>
              <a:off x="3079623" y="4149090"/>
              <a:ext cx="260604" cy="352044"/>
            </a:xfrm>
            <a:prstGeom prst="rect">
              <a:avLst/>
            </a:prstGeom>
            <a:noFill/>
            <a:ln>
              <a:noFill/>
            </a:ln>
          </p:spPr>
          <p:txBody>
            <a:bodyPr wrap="none" lIns="0" tIns="0" rIns="0" bIns="0" anchor="t" anchorCtr="0">
              <a:spAutoFit/>
            </a:bodyPr>
            <a:lstStyle/>
            <a:p>
              <a:pPr algn="ctr"/>
              <a:r>
                <a:rPr lang="ja-JP" sz="1800" b="1" dirty="0">
                  <a:solidFill>
                    <a:schemeClr val="accent5"/>
                  </a:solidFill>
                  <a:latin typeface="+mn-lt"/>
                  <a:ea typeface="+mn-ea"/>
                  <a:cs typeface="+mn-cs"/>
                </a:rPr>
                <a:t>＋</a:t>
              </a:r>
            </a:p>
          </p:txBody>
        </p:sp>
        <p:sp>
          <p:nvSpPr>
            <p:cNvPr id="18" name="Line 18"/>
            <p:cNvSpPr/>
            <p:nvPr/>
          </p:nvSpPr>
          <p:spPr>
            <a:xfrm>
              <a:off x="3419475" y="4019550"/>
              <a:ext cx="2466975" cy="9525"/>
            </a:xfrm>
            <a:custGeom>
              <a:avLst/>
              <a:gdLst/>
              <a:ahLst/>
              <a:cxnLst/>
              <a:rect l="l" t="t" r="r" b="b"/>
              <a:pathLst>
                <a:path w="2466975" h="9525">
                  <a:moveTo>
                    <a:pt x="0" y="0"/>
                  </a:moveTo>
                  <a:lnTo>
                    <a:pt x="2466975" y="0"/>
                  </a:lnTo>
                </a:path>
              </a:pathLst>
            </a:custGeom>
            <a:noFill/>
            <a:ln w="38100">
              <a:solidFill>
                <a:schemeClr val="accent3"/>
              </a:solidFill>
            </a:ln>
          </p:spPr>
        </p:sp>
        <p:sp>
          <p:nvSpPr>
            <p:cNvPr id="19" name="TextBox 19"/>
            <p:cNvSpPr txBox="1"/>
            <p:nvPr/>
          </p:nvSpPr>
          <p:spPr>
            <a:xfrm>
              <a:off x="3410331" y="4149090"/>
              <a:ext cx="1714500" cy="352044"/>
            </a:xfrm>
            <a:prstGeom prst="rect">
              <a:avLst/>
            </a:prstGeom>
            <a:noFill/>
            <a:ln>
              <a:noFill/>
            </a:ln>
          </p:spPr>
          <p:txBody>
            <a:bodyPr wrap="none" lIns="0" tIns="0" rIns="0" bIns="0" anchor="t" anchorCtr="0">
              <a:spAutoFit/>
            </a:bodyPr>
            <a:lstStyle/>
            <a:p>
              <a:pPr algn="l"/>
              <a:r>
                <a:rPr lang="ja-JP" sz="1800" dirty="0">
                  <a:solidFill>
                    <a:schemeClr val="dk1"/>
                  </a:solidFill>
                  <a:latin typeface="+mn-lt"/>
                  <a:ea typeface="+mn-ea"/>
                  <a:cs typeface="+mn-cs"/>
                </a:rPr>
                <a:t>安心保証の余裕</a:t>
              </a:r>
            </a:p>
          </p:txBody>
        </p:sp>
        <p:sp>
          <p:nvSpPr>
            <p:cNvPr id="20" name="TextBox 20"/>
            <p:cNvSpPr txBox="1"/>
            <p:nvPr/>
          </p:nvSpPr>
          <p:spPr>
            <a:xfrm>
              <a:off x="3413379" y="4461510"/>
              <a:ext cx="1538783"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残差の上側 95% 分位</a:t>
              </a:r>
            </a:p>
          </p:txBody>
        </p:sp>
        <p:sp>
          <p:nvSpPr>
            <p:cNvPr id="21" name="TextBox 21"/>
            <p:cNvSpPr txBox="1"/>
            <p:nvPr/>
          </p:nvSpPr>
          <p:spPr>
            <a:xfrm>
              <a:off x="5965698" y="4149090"/>
              <a:ext cx="260604" cy="352044"/>
            </a:xfrm>
            <a:prstGeom prst="rect">
              <a:avLst/>
            </a:prstGeom>
            <a:noFill/>
            <a:ln>
              <a:noFill/>
            </a:ln>
          </p:spPr>
          <p:txBody>
            <a:bodyPr wrap="none" lIns="0" tIns="0" rIns="0" bIns="0" anchor="t" anchorCtr="0">
              <a:spAutoFit/>
            </a:bodyPr>
            <a:lstStyle/>
            <a:p>
              <a:pPr algn="ctr"/>
              <a:r>
                <a:rPr lang="ja-JP" sz="1800" b="1" dirty="0">
                  <a:solidFill>
                    <a:schemeClr val="accent5"/>
                  </a:solidFill>
                  <a:latin typeface="+mn-lt"/>
                  <a:ea typeface="+mn-ea"/>
                  <a:cs typeface="+mn-cs"/>
                </a:rPr>
                <a:t>＋</a:t>
              </a:r>
            </a:p>
          </p:txBody>
        </p:sp>
        <p:sp>
          <p:nvSpPr>
            <p:cNvPr id="22" name="Line 22"/>
            <p:cNvSpPr/>
            <p:nvPr/>
          </p:nvSpPr>
          <p:spPr>
            <a:xfrm>
              <a:off x="6305550" y="4019550"/>
              <a:ext cx="2466975" cy="9525"/>
            </a:xfrm>
            <a:custGeom>
              <a:avLst/>
              <a:gdLst/>
              <a:ahLst/>
              <a:cxnLst/>
              <a:rect l="l" t="t" r="r" b="b"/>
              <a:pathLst>
                <a:path w="2466975" h="9525">
                  <a:moveTo>
                    <a:pt x="0" y="0"/>
                  </a:moveTo>
                  <a:lnTo>
                    <a:pt x="2466975" y="0"/>
                  </a:lnTo>
                </a:path>
              </a:pathLst>
            </a:custGeom>
            <a:noFill/>
            <a:ln w="38100">
              <a:solidFill>
                <a:schemeClr val="accent3">
                  <a:alpha val="50000"/>
                </a:schemeClr>
              </a:solidFill>
            </a:ln>
          </p:spPr>
        </p:sp>
        <p:sp>
          <p:nvSpPr>
            <p:cNvPr id="23" name="TextBox 23"/>
            <p:cNvSpPr txBox="1"/>
            <p:nvPr/>
          </p:nvSpPr>
          <p:spPr>
            <a:xfrm>
              <a:off x="6296406" y="4149090"/>
              <a:ext cx="1472184" cy="352044"/>
            </a:xfrm>
            <a:prstGeom prst="rect">
              <a:avLst/>
            </a:prstGeom>
            <a:noFill/>
            <a:ln>
              <a:noFill/>
            </a:ln>
          </p:spPr>
          <p:txBody>
            <a:bodyPr wrap="none" lIns="0" tIns="0" rIns="0" bIns="0" anchor="t" anchorCtr="0">
              <a:spAutoFit/>
            </a:bodyPr>
            <a:lstStyle/>
            <a:p>
              <a:pPr algn="l"/>
              <a:r>
                <a:rPr lang="ja-JP" sz="1800" dirty="0">
                  <a:solidFill>
                    <a:schemeClr val="dk1"/>
                  </a:solidFill>
                  <a:latin typeface="+mn-lt"/>
                  <a:ea typeface="+mn-ea"/>
                  <a:cs typeface="+mn-cs"/>
                </a:rPr>
                <a:t>予報の外れ分</a:t>
              </a:r>
            </a:p>
          </p:txBody>
        </p:sp>
        <p:sp>
          <p:nvSpPr>
            <p:cNvPr id="24" name="TextBox 24"/>
            <p:cNvSpPr txBox="1"/>
            <p:nvPr/>
          </p:nvSpPr>
          <p:spPr>
            <a:xfrm>
              <a:off x="6299454" y="4461510"/>
              <a:ext cx="1385316"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1.5℃ 相当を上乗せ</a:t>
              </a:r>
            </a:p>
          </p:txBody>
        </p:sp>
        <p:sp>
          <p:nvSpPr>
            <p:cNvPr id="25" name="TextBox 25"/>
            <p:cNvSpPr txBox="1"/>
            <p:nvPr/>
          </p:nvSpPr>
          <p:spPr>
            <a:xfrm>
              <a:off x="8851773" y="4149090"/>
              <a:ext cx="260604" cy="352044"/>
            </a:xfrm>
            <a:prstGeom prst="rect">
              <a:avLst/>
            </a:prstGeom>
            <a:noFill/>
            <a:ln>
              <a:noFill/>
            </a:ln>
          </p:spPr>
          <p:txBody>
            <a:bodyPr wrap="none" lIns="0" tIns="0" rIns="0" bIns="0" anchor="t" anchorCtr="0">
              <a:spAutoFit/>
            </a:bodyPr>
            <a:lstStyle/>
            <a:p>
              <a:pPr algn="ctr"/>
              <a:r>
                <a:rPr lang="ja-JP" sz="1800" b="1" dirty="0">
                  <a:solidFill>
                    <a:schemeClr val="accent5"/>
                  </a:solidFill>
                  <a:latin typeface="+mn-lt"/>
                  <a:ea typeface="+mn-ea"/>
                  <a:cs typeface="+mn-cs"/>
                </a:rPr>
                <a:t>＋</a:t>
              </a:r>
            </a:p>
          </p:txBody>
        </p:sp>
        <p:sp>
          <p:nvSpPr>
            <p:cNvPr id="26" name="Line 26"/>
            <p:cNvSpPr/>
            <p:nvPr/>
          </p:nvSpPr>
          <p:spPr>
            <a:xfrm>
              <a:off x="9191625" y="4019550"/>
              <a:ext cx="2466975" cy="9525"/>
            </a:xfrm>
            <a:custGeom>
              <a:avLst/>
              <a:gdLst/>
              <a:ahLst/>
              <a:cxnLst/>
              <a:rect l="l" t="t" r="r" b="b"/>
              <a:pathLst>
                <a:path w="2466975" h="9525">
                  <a:moveTo>
                    <a:pt x="0" y="0"/>
                  </a:moveTo>
                  <a:lnTo>
                    <a:pt x="2466975" y="0"/>
                  </a:lnTo>
                </a:path>
              </a:pathLst>
            </a:custGeom>
            <a:noFill/>
            <a:ln w="38100">
              <a:solidFill>
                <a:schemeClr val="accent2"/>
              </a:solidFill>
            </a:ln>
          </p:spPr>
        </p:sp>
        <p:sp>
          <p:nvSpPr>
            <p:cNvPr id="27" name="TextBox 27"/>
            <p:cNvSpPr txBox="1"/>
            <p:nvPr/>
          </p:nvSpPr>
          <p:spPr>
            <a:xfrm>
              <a:off x="9182481" y="4149090"/>
              <a:ext cx="1956816" cy="352044"/>
            </a:xfrm>
            <a:prstGeom prst="rect">
              <a:avLst/>
            </a:prstGeom>
            <a:noFill/>
            <a:ln>
              <a:noFill/>
            </a:ln>
          </p:spPr>
          <p:txBody>
            <a:bodyPr wrap="none" lIns="0" tIns="0" rIns="0" bIns="0" anchor="t" anchorCtr="0">
              <a:spAutoFit/>
            </a:bodyPr>
            <a:lstStyle/>
            <a:p>
              <a:pPr algn="l"/>
              <a:r>
                <a:rPr lang="ja-JP" sz="1800" dirty="0">
                  <a:solidFill>
                    <a:schemeClr val="dk1"/>
                  </a:solidFill>
                  <a:latin typeface="+mn-lt"/>
                  <a:ea typeface="+mn-ea"/>
                  <a:cs typeface="+mn-cs"/>
                </a:rPr>
                <a:t>休み明けの上乗せ</a:t>
              </a:r>
            </a:p>
          </p:txBody>
        </p:sp>
        <p:sp>
          <p:nvSpPr>
            <p:cNvPr id="28" name="TextBox 28"/>
            <p:cNvSpPr txBox="1"/>
            <p:nvPr/>
          </p:nvSpPr>
          <p:spPr>
            <a:xfrm>
              <a:off x="9185529" y="4461510"/>
              <a:ext cx="1304544"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休み明けの日だけ</a:t>
              </a:r>
            </a:p>
          </p:txBody>
        </p:sp>
      </p:grpSp>
      <p:grpSp>
        <p:nvGrpSpPr>
          <p:cNvPr id="34" name="Group 34"/>
          <p:cNvGrpSpPr/>
          <p:nvPr/>
        </p:nvGrpSpPr>
        <p:grpSpPr>
          <a:xfrm>
            <a:off x="526542" y="5105400"/>
            <a:ext cx="11132058" cy="823151"/>
            <a:chOff x="526542" y="5105400"/>
            <a:chExt cx="11132058" cy="823151"/>
          </a:xfrm>
        </p:grpSpPr>
        <p:sp>
          <p:nvSpPr>
            <p:cNvPr id="30" name="Line 30"/>
            <p:cNvSpPr/>
            <p:nvPr/>
          </p:nvSpPr>
          <p:spPr>
            <a:xfrm>
              <a:off x="533400" y="510540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31" name="Line 31"/>
            <p:cNvSpPr/>
            <p:nvPr/>
          </p:nvSpPr>
          <p:spPr>
            <a:xfrm>
              <a:off x="6096000" y="5219700"/>
              <a:ext cx="9525" cy="666750"/>
            </a:xfrm>
            <a:custGeom>
              <a:avLst/>
              <a:gdLst/>
              <a:ahLst/>
              <a:cxnLst/>
              <a:rect l="l" t="t" r="r" b="b"/>
              <a:pathLst>
                <a:path w="9525" h="666750">
                  <a:moveTo>
                    <a:pt x="0" y="0"/>
                  </a:moveTo>
                  <a:lnTo>
                    <a:pt x="0" y="666750"/>
                  </a:lnTo>
                </a:path>
              </a:pathLst>
            </a:custGeom>
            <a:noFill/>
            <a:ln w="9525">
              <a:solidFill>
                <a:schemeClr val="accent6"/>
              </a:solidFill>
            </a:ln>
          </p:spPr>
        </p:sp>
        <p:sp>
          <p:nvSpPr>
            <p:cNvPr id="32" name="TextBox 32"/>
            <p:cNvSpPr txBox="1"/>
            <p:nvPr/>
          </p:nvSpPr>
          <p:spPr>
            <a:xfrm>
              <a:off x="526542" y="5207318"/>
              <a:ext cx="3271266" cy="7212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安心保証 95% と予報の外れ幅 1.5℃ は</a:t>
              </a:r>
              <a:br/>
              <a:r>
                <a:rPr lang="ja-JP" sz="1350" dirty="0">
                  <a:solidFill>
                    <a:schemeClr val="dk1"/>
                  </a:solidFill>
                  <a:latin typeface="+mn-lt"/>
                  <a:ea typeface="+mn-ea"/>
                  <a:cs typeface="+mn-cs"/>
                </a:rPr>
                <a:t>画面で選ばせず固定している。毎回選ばせ</a:t>
              </a:r>
              <a:br/>
              <a:r>
                <a:rPr lang="ja-JP" sz="1350" dirty="0">
                  <a:solidFill>
                    <a:schemeClr val="dk1"/>
                  </a:solidFill>
                  <a:latin typeface="+mn-lt"/>
                  <a:ea typeface="+mn-ea"/>
                  <a:cs typeface="+mn-cs"/>
                </a:rPr>
                <a:t>ると判断がぶれ、再現性が失われる。</a:t>
              </a:r>
            </a:p>
          </p:txBody>
        </p:sp>
        <p:sp>
          <p:nvSpPr>
            <p:cNvPr id="33" name="TextBox 33"/>
            <p:cNvSpPr txBox="1"/>
            <p:nvPr/>
          </p:nvSpPr>
          <p:spPr>
            <a:xfrm>
              <a:off x="6432042" y="5207318"/>
              <a:ext cx="4814316" cy="7212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内訳を分けて表示するのは、どこが効いて時刻が決まったかを</a:t>
              </a:r>
              <a:br/>
              <a:r>
                <a:rPr lang="ja-JP" sz="1350" dirty="0">
                  <a:solidFill>
                    <a:schemeClr val="dk1"/>
                  </a:solidFill>
                  <a:latin typeface="+mn-lt"/>
                  <a:ea typeface="+mn-ea"/>
                  <a:cs typeface="+mn-cs"/>
                </a:rPr>
                <a:t>BM が自分で確認できるようにするため。</a:t>
              </a:r>
              <a:br/>
              <a:r>
                <a:rPr lang="ja-JP" sz="1350" dirty="0">
                  <a:solidFill>
                    <a:schemeClr val="dk1"/>
                  </a:solidFill>
                  <a:latin typeface="+mn-lt"/>
                  <a:ea typeface="+mn-ea"/>
                  <a:cs typeface="+mn-cs"/>
                </a:rPr>
                <a:t>係数は models/precool_curve.json から読み込む。</a:t>
              </a:r>
            </a:p>
          </p:txBody>
        </p:sp>
      </p:grpSp>
      <p:grpSp>
        <p:nvGrpSpPr>
          <p:cNvPr id="38" name="Group 38"/>
          <p:cNvGrpSpPr/>
          <p:nvPr/>
        </p:nvGrpSpPr>
        <p:grpSpPr>
          <a:xfrm>
            <a:off x="527304" y="6153150"/>
            <a:ext cx="11137392" cy="314706"/>
            <a:chOff x="527304" y="6153150"/>
            <a:chExt cx="11137392" cy="314706"/>
          </a:xfrm>
        </p:grpSpPr>
        <p:sp>
          <p:nvSpPr>
            <p:cNvPr id="35" name="Line 35"/>
            <p:cNvSpPr/>
            <p:nvPr/>
          </p:nvSpPr>
          <p:spPr>
            <a:xfrm>
              <a:off x="533400" y="61531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36" name="TextBox 36"/>
            <p:cNvSpPr txBox="1"/>
            <p:nvPr/>
          </p:nvSpPr>
          <p:spPr>
            <a:xfrm>
              <a:off x="527304" y="6233160"/>
              <a:ext cx="2919984"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熱源の起動を、どこまで遅らせてよいか</a:t>
              </a:r>
            </a:p>
          </p:txBody>
        </p:sp>
        <p:sp>
          <p:nvSpPr>
            <p:cNvPr id="37" name="TextBox 37"/>
            <p:cNvSpPr txBox="1"/>
            <p:nvPr/>
          </p:nvSpPr>
          <p:spPr>
            <a:xfrm>
              <a:off x="7452360" y="6233160"/>
              <a:ext cx="4212336"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起動時刻と稼働日は実測、電力量は合成データによる試算</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6542" y="730568"/>
            <a:ext cx="11138916" cy="345757"/>
            <a:chOff x="526542" y="730568"/>
            <a:chExt cx="11138916" cy="345757"/>
          </a:xfrm>
        </p:grpSpPr>
        <p:sp>
          <p:nvSpPr>
            <p:cNvPr id="2" name="TextBox 2"/>
            <p:cNvSpPr txBox="1"/>
            <p:nvPr/>
          </p:nvSpPr>
          <p:spPr>
            <a:xfrm>
              <a:off x="526542" y="730568"/>
              <a:ext cx="1358570"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02 どう解いたか</a:t>
              </a:r>
            </a:p>
          </p:txBody>
        </p:sp>
        <p:sp>
          <p:nvSpPr>
            <p:cNvPr id="3" name="TextBox 3"/>
            <p:cNvSpPr txBox="1"/>
            <p:nvPr/>
          </p:nvSpPr>
          <p:spPr>
            <a:xfrm>
              <a:off x="11042923" y="730568"/>
              <a:ext cx="622535"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06 / 11</a:t>
              </a:r>
            </a:p>
          </p:txBody>
        </p:sp>
        <p:sp>
          <p:nvSpPr>
            <p:cNvPr id="4" name="Line 4"/>
            <p:cNvSpPr/>
            <p:nvPr/>
          </p:nvSpPr>
          <p:spPr>
            <a:xfrm>
              <a:off x="533400" y="1066800"/>
              <a:ext cx="11125200" cy="9525"/>
            </a:xfrm>
            <a:custGeom>
              <a:avLst/>
              <a:gdLst/>
              <a:ahLst/>
              <a:cxnLst/>
              <a:rect l="l" t="t" r="r" b="b"/>
              <a:pathLst>
                <a:path w="11125200" h="9525">
                  <a:moveTo>
                    <a:pt x="0" y="0"/>
                  </a:moveTo>
                  <a:lnTo>
                    <a:pt x="11125200" y="0"/>
                  </a:lnTo>
                </a:path>
              </a:pathLst>
            </a:custGeom>
            <a:noFill/>
            <a:ln w="14288">
              <a:solidFill>
                <a:schemeClr val="accent1"/>
              </a:solidFill>
            </a:ln>
          </p:spPr>
        </p:sp>
      </p:grpSp>
      <p:grpSp>
        <p:nvGrpSpPr>
          <p:cNvPr id="8" name="Group 8"/>
          <p:cNvGrpSpPr/>
          <p:nvPr/>
        </p:nvGrpSpPr>
        <p:grpSpPr>
          <a:xfrm>
            <a:off x="517398" y="1241108"/>
            <a:ext cx="9114282" cy="994409"/>
            <a:chOff x="517398" y="1241108"/>
            <a:chExt cx="9114282" cy="994409"/>
          </a:xfrm>
        </p:grpSpPr>
        <p:sp>
          <p:nvSpPr>
            <p:cNvPr id="6" name="TextBox 6"/>
            <p:cNvSpPr txBox="1"/>
            <p:nvPr/>
          </p:nvSpPr>
          <p:spPr>
            <a:xfrm>
              <a:off x="517398" y="1241108"/>
              <a:ext cx="7664958" cy="616077"/>
            </a:xfrm>
            <a:prstGeom prst="rect">
              <a:avLst/>
            </a:prstGeom>
            <a:noFill/>
            <a:ln>
              <a:noFill/>
            </a:ln>
          </p:spPr>
          <p:txBody>
            <a:bodyPr wrap="none" lIns="0" tIns="0" rIns="0" bIns="0" anchor="t" anchorCtr="0">
              <a:spAutoFit/>
            </a:bodyPr>
            <a:lstStyle/>
            <a:p>
              <a:pPr algn="l"/>
              <a:r>
                <a:rPr lang="ja-JP" sz="3150" b="1" dirty="0">
                  <a:solidFill>
                    <a:schemeClr val="accent1"/>
                  </a:solidFill>
                  <a:latin typeface="+mn-lt"/>
                  <a:ea typeface="+mn-ea"/>
                  <a:cs typeface="+mn-cs"/>
                </a:rPr>
                <a:t>休日明けを混ぜず、直線も引かなかった</a:t>
              </a:r>
            </a:p>
          </p:txBody>
        </p:sp>
        <p:sp>
          <p:nvSpPr>
            <p:cNvPr id="7" name="TextBox 7"/>
            <p:cNvSpPr txBox="1"/>
            <p:nvPr/>
          </p:nvSpPr>
          <p:spPr>
            <a:xfrm>
              <a:off x="521970" y="1795462"/>
              <a:ext cx="9109710" cy="440055"/>
            </a:xfrm>
            <a:prstGeom prst="rect">
              <a:avLst/>
            </a:prstGeom>
            <a:noFill/>
            <a:ln>
              <a:noFill/>
            </a:ln>
          </p:spPr>
          <p:txBody>
            <a:bodyPr wrap="none" lIns="0" tIns="0" rIns="0" bIns="0" anchor="t" anchorCtr="0">
              <a:spAutoFit/>
            </a:bodyPr>
            <a:lstStyle/>
            <a:p>
              <a:pPr algn="l"/>
              <a:r>
                <a:rPr lang="ja-JP" sz="2250" dirty="0">
                  <a:solidFill>
                    <a:schemeClr val="dk1"/>
                  </a:solidFill>
                  <a:latin typeface="+mn-lt"/>
                  <a:ea typeface="+mn-ea"/>
                  <a:cs typeface="+mn-cs"/>
                </a:rPr>
                <a:t>同じ外気温でも別の現象で、通常平日だけでも外気温の幅が狭い。</a:t>
              </a:r>
            </a:p>
          </p:txBody>
        </p:sp>
      </p:grpSp>
      <p:grpSp>
        <p:nvGrpSpPr>
          <p:cNvPr id="44" name="Group 44"/>
          <p:cNvGrpSpPr/>
          <p:nvPr/>
        </p:nvGrpSpPr>
        <p:grpSpPr>
          <a:xfrm>
            <a:off x="984656" y="2366010"/>
            <a:ext cx="6635344" cy="3454146"/>
            <a:chOff x="984656" y="2366010"/>
            <a:chExt cx="6635344" cy="3454146"/>
          </a:xfrm>
        </p:grpSpPr>
        <p:sp>
          <p:nvSpPr>
            <p:cNvPr id="9" name="TextBox 9"/>
            <p:cNvSpPr txBox="1"/>
            <p:nvPr/>
          </p:nvSpPr>
          <p:spPr>
            <a:xfrm>
              <a:off x="1327404" y="2366010"/>
              <a:ext cx="1369162"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所要予冷時間 [分]</a:t>
              </a:r>
            </a:p>
          </p:txBody>
        </p:sp>
        <p:grpSp>
          <p:nvGrpSpPr>
            <p:cNvPr id="39" name="Group 39"/>
            <p:cNvGrpSpPr/>
            <p:nvPr/>
          </p:nvGrpSpPr>
          <p:grpSpPr>
            <a:xfrm>
              <a:off x="984656" y="2571750"/>
              <a:ext cx="6635344" cy="3076956"/>
              <a:chOff x="984656" y="2571750"/>
              <a:chExt cx="6635344" cy="3076956"/>
            </a:xfrm>
          </p:grpSpPr>
          <p:sp>
            <p:nvSpPr>
              <p:cNvPr id="10" name="Line 10"/>
              <p:cNvSpPr/>
              <p:nvPr/>
            </p:nvSpPr>
            <p:spPr>
              <a:xfrm>
                <a:off x="1333500" y="2734628"/>
                <a:ext cx="6286500" cy="9525"/>
              </a:xfrm>
              <a:custGeom>
                <a:avLst/>
                <a:gdLst/>
                <a:ahLst/>
                <a:cxnLst/>
                <a:rect l="l" t="t" r="r" b="b"/>
                <a:pathLst>
                  <a:path w="6286500" h="9525">
                    <a:moveTo>
                      <a:pt x="0" y="0"/>
                    </a:moveTo>
                    <a:lnTo>
                      <a:pt x="6286500" y="0"/>
                    </a:lnTo>
                  </a:path>
                </a:pathLst>
              </a:custGeom>
              <a:noFill/>
              <a:ln w="9525">
                <a:solidFill>
                  <a:schemeClr val="accent6"/>
                </a:solidFill>
              </a:ln>
            </p:spPr>
          </p:sp>
          <p:sp>
            <p:nvSpPr>
              <p:cNvPr id="11" name="Line 11"/>
              <p:cNvSpPr/>
              <p:nvPr/>
            </p:nvSpPr>
            <p:spPr>
              <a:xfrm>
                <a:off x="1333500" y="3384232"/>
                <a:ext cx="6286500" cy="9525"/>
              </a:xfrm>
              <a:custGeom>
                <a:avLst/>
                <a:gdLst/>
                <a:ahLst/>
                <a:cxnLst/>
                <a:rect l="l" t="t" r="r" b="b"/>
                <a:pathLst>
                  <a:path w="6286500" h="9525">
                    <a:moveTo>
                      <a:pt x="0" y="0"/>
                    </a:moveTo>
                    <a:lnTo>
                      <a:pt x="6286500" y="0"/>
                    </a:lnTo>
                  </a:path>
                </a:pathLst>
              </a:custGeom>
              <a:noFill/>
              <a:ln w="9525">
                <a:solidFill>
                  <a:schemeClr val="accent6"/>
                </a:solidFill>
              </a:ln>
            </p:spPr>
          </p:sp>
          <p:sp>
            <p:nvSpPr>
              <p:cNvPr id="12" name="Line 12"/>
              <p:cNvSpPr/>
              <p:nvPr/>
            </p:nvSpPr>
            <p:spPr>
              <a:xfrm>
                <a:off x="1333500" y="4033838"/>
                <a:ext cx="6286500" cy="9525"/>
              </a:xfrm>
              <a:custGeom>
                <a:avLst/>
                <a:gdLst/>
                <a:ahLst/>
                <a:cxnLst/>
                <a:rect l="l" t="t" r="r" b="b"/>
                <a:pathLst>
                  <a:path w="6286500" h="9525">
                    <a:moveTo>
                      <a:pt x="0" y="0"/>
                    </a:moveTo>
                    <a:lnTo>
                      <a:pt x="6286500" y="0"/>
                    </a:lnTo>
                  </a:path>
                </a:pathLst>
              </a:custGeom>
              <a:noFill/>
              <a:ln w="9525">
                <a:solidFill>
                  <a:schemeClr val="accent6"/>
                </a:solidFill>
              </a:ln>
            </p:spPr>
          </p:sp>
          <p:sp>
            <p:nvSpPr>
              <p:cNvPr id="13" name="Line 13"/>
              <p:cNvSpPr/>
              <p:nvPr/>
            </p:nvSpPr>
            <p:spPr>
              <a:xfrm>
                <a:off x="1333500" y="4684395"/>
                <a:ext cx="6286500" cy="9525"/>
              </a:xfrm>
              <a:custGeom>
                <a:avLst/>
                <a:gdLst/>
                <a:ahLst/>
                <a:cxnLst/>
                <a:rect l="l" t="t" r="r" b="b"/>
                <a:pathLst>
                  <a:path w="6286500" h="9525">
                    <a:moveTo>
                      <a:pt x="0" y="0"/>
                    </a:moveTo>
                    <a:lnTo>
                      <a:pt x="6286500" y="0"/>
                    </a:lnTo>
                  </a:path>
                </a:pathLst>
              </a:custGeom>
              <a:noFill/>
              <a:ln w="9525">
                <a:solidFill>
                  <a:schemeClr val="accent6"/>
                </a:solidFill>
              </a:ln>
            </p:spPr>
          </p:sp>
          <p:sp>
            <p:nvSpPr>
              <p:cNvPr id="14" name="Line 14"/>
              <p:cNvSpPr/>
              <p:nvPr/>
            </p:nvSpPr>
            <p:spPr>
              <a:xfrm>
                <a:off x="1333500" y="2571750"/>
                <a:ext cx="9525" cy="2762250"/>
              </a:xfrm>
              <a:custGeom>
                <a:avLst/>
                <a:gdLst/>
                <a:ahLst/>
                <a:cxnLst/>
                <a:rect l="l" t="t" r="r" b="b"/>
                <a:pathLst>
                  <a:path w="9525" h="2762250">
                    <a:moveTo>
                      <a:pt x="0" y="0"/>
                    </a:moveTo>
                    <a:lnTo>
                      <a:pt x="0" y="2762250"/>
                    </a:lnTo>
                  </a:path>
                </a:pathLst>
              </a:custGeom>
              <a:noFill/>
              <a:ln w="9525">
                <a:solidFill>
                  <a:srgbClr val="667685"/>
                </a:solidFill>
              </a:ln>
            </p:spPr>
          </p:sp>
          <p:sp>
            <p:nvSpPr>
              <p:cNvPr id="15" name="Line 15"/>
              <p:cNvSpPr/>
              <p:nvPr/>
            </p:nvSpPr>
            <p:spPr>
              <a:xfrm>
                <a:off x="1333500" y="5334000"/>
                <a:ext cx="6286500" cy="9525"/>
              </a:xfrm>
              <a:custGeom>
                <a:avLst/>
                <a:gdLst/>
                <a:ahLst/>
                <a:cxnLst/>
                <a:rect l="l" t="t" r="r" b="b"/>
                <a:pathLst>
                  <a:path w="6286500" h="9525">
                    <a:moveTo>
                      <a:pt x="0" y="0"/>
                    </a:moveTo>
                    <a:lnTo>
                      <a:pt x="6286500" y="0"/>
                    </a:lnTo>
                  </a:path>
                </a:pathLst>
              </a:custGeom>
              <a:noFill/>
              <a:ln w="9525">
                <a:solidFill>
                  <a:srgbClr val="667685"/>
                </a:solidFill>
              </a:ln>
            </p:spPr>
          </p:sp>
          <p:sp>
            <p:nvSpPr>
              <p:cNvPr id="16" name="TextBox 16"/>
              <p:cNvSpPr txBox="1"/>
              <p:nvPr/>
            </p:nvSpPr>
            <p:spPr>
              <a:xfrm>
                <a:off x="1162355" y="5252085"/>
                <a:ext cx="101041"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a:t>
                </a:r>
              </a:p>
            </p:txBody>
          </p:sp>
          <p:sp>
            <p:nvSpPr>
              <p:cNvPr id="17" name="TextBox 17"/>
              <p:cNvSpPr txBox="1"/>
              <p:nvPr/>
            </p:nvSpPr>
            <p:spPr>
              <a:xfrm>
                <a:off x="1073506" y="460248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40</a:t>
                </a:r>
              </a:p>
            </p:txBody>
          </p:sp>
          <p:sp>
            <p:nvSpPr>
              <p:cNvPr id="18" name="TextBox 18"/>
              <p:cNvSpPr txBox="1"/>
              <p:nvPr/>
            </p:nvSpPr>
            <p:spPr>
              <a:xfrm>
                <a:off x="1073506" y="3951922"/>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80</a:t>
                </a:r>
              </a:p>
            </p:txBody>
          </p:sp>
          <p:sp>
            <p:nvSpPr>
              <p:cNvPr id="19" name="TextBox 19"/>
              <p:cNvSpPr txBox="1"/>
              <p:nvPr/>
            </p:nvSpPr>
            <p:spPr>
              <a:xfrm>
                <a:off x="984656" y="3302318"/>
                <a:ext cx="27874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120</a:t>
                </a:r>
              </a:p>
            </p:txBody>
          </p:sp>
          <p:sp>
            <p:nvSpPr>
              <p:cNvPr id="20" name="TextBox 20"/>
              <p:cNvSpPr txBox="1"/>
              <p:nvPr/>
            </p:nvSpPr>
            <p:spPr>
              <a:xfrm>
                <a:off x="984656" y="2652712"/>
                <a:ext cx="27874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160</a:t>
                </a:r>
              </a:p>
            </p:txBody>
          </p:sp>
          <p:sp>
            <p:nvSpPr>
              <p:cNvPr id="21" name="TextBox 21"/>
              <p:cNvSpPr txBox="1"/>
              <p:nvPr/>
            </p:nvSpPr>
            <p:spPr>
              <a:xfrm>
                <a:off x="1238555" y="5414010"/>
                <a:ext cx="189890"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20</a:t>
                </a:r>
              </a:p>
            </p:txBody>
          </p:sp>
          <p:sp>
            <p:nvSpPr>
              <p:cNvPr id="22" name="TextBox 22"/>
              <p:cNvSpPr txBox="1"/>
              <p:nvPr/>
            </p:nvSpPr>
            <p:spPr>
              <a:xfrm>
                <a:off x="2076755" y="5414010"/>
                <a:ext cx="189890"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22</a:t>
                </a:r>
              </a:p>
            </p:txBody>
          </p:sp>
          <p:sp>
            <p:nvSpPr>
              <p:cNvPr id="23" name="TextBox 23"/>
              <p:cNvSpPr txBox="1"/>
              <p:nvPr/>
            </p:nvSpPr>
            <p:spPr>
              <a:xfrm>
                <a:off x="2914955" y="5414010"/>
                <a:ext cx="189890"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24</a:t>
                </a:r>
              </a:p>
            </p:txBody>
          </p:sp>
          <p:sp>
            <p:nvSpPr>
              <p:cNvPr id="24" name="TextBox 24"/>
              <p:cNvSpPr txBox="1"/>
              <p:nvPr/>
            </p:nvSpPr>
            <p:spPr>
              <a:xfrm>
                <a:off x="3753155" y="5414010"/>
                <a:ext cx="189890"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26</a:t>
                </a:r>
              </a:p>
            </p:txBody>
          </p:sp>
          <p:sp>
            <p:nvSpPr>
              <p:cNvPr id="25" name="TextBox 25"/>
              <p:cNvSpPr txBox="1"/>
              <p:nvPr/>
            </p:nvSpPr>
            <p:spPr>
              <a:xfrm>
                <a:off x="4591355" y="5414010"/>
                <a:ext cx="189890"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28</a:t>
                </a:r>
              </a:p>
            </p:txBody>
          </p:sp>
          <p:sp>
            <p:nvSpPr>
              <p:cNvPr id="26" name="TextBox 26"/>
              <p:cNvSpPr txBox="1"/>
              <p:nvPr/>
            </p:nvSpPr>
            <p:spPr>
              <a:xfrm>
                <a:off x="5429555" y="5414010"/>
                <a:ext cx="189890"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30</a:t>
                </a:r>
              </a:p>
            </p:txBody>
          </p:sp>
          <p:sp>
            <p:nvSpPr>
              <p:cNvPr id="27" name="TextBox 27"/>
              <p:cNvSpPr txBox="1"/>
              <p:nvPr/>
            </p:nvSpPr>
            <p:spPr>
              <a:xfrm>
                <a:off x="6267755" y="5414010"/>
                <a:ext cx="189890"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32</a:t>
                </a:r>
              </a:p>
            </p:txBody>
          </p:sp>
          <p:sp>
            <p:nvSpPr>
              <p:cNvPr id="28" name="TextBox 28"/>
              <p:cNvSpPr txBox="1"/>
              <p:nvPr/>
            </p:nvSpPr>
            <p:spPr>
              <a:xfrm>
                <a:off x="7105955" y="5414010"/>
                <a:ext cx="189890"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34</a:t>
                </a:r>
              </a:p>
            </p:txBody>
          </p:sp>
          <p:sp>
            <p:nvSpPr>
              <p:cNvPr id="29" name="Rectangle 29"/>
              <p:cNvSpPr/>
              <p:nvPr/>
            </p:nvSpPr>
            <p:spPr>
              <a:xfrm>
                <a:off x="2800350" y="2571750"/>
                <a:ext cx="670560" cy="2762250"/>
              </a:xfrm>
              <a:prstGeom prst="rect">
                <a:avLst/>
              </a:prstGeom>
              <a:solidFill>
                <a:schemeClr val="accent1">
                  <a:alpha val="7000"/>
                </a:schemeClr>
              </a:solidFill>
              <a:ln>
                <a:noFill/>
              </a:ln>
            </p:spPr>
          </p:sp>
          <p:sp>
            <p:nvSpPr>
              <p:cNvPr id="30" name="Line 30"/>
              <p:cNvSpPr/>
              <p:nvPr/>
            </p:nvSpPr>
            <p:spPr>
              <a:xfrm>
                <a:off x="1333500" y="4749165"/>
                <a:ext cx="6286500" cy="9525"/>
              </a:xfrm>
              <a:custGeom>
                <a:avLst/>
                <a:gdLst/>
                <a:ahLst/>
                <a:cxnLst/>
                <a:rect l="l" t="t" r="r" b="b"/>
                <a:pathLst>
                  <a:path w="6286500" h="9525">
                    <a:moveTo>
                      <a:pt x="0" y="0"/>
                    </a:moveTo>
                    <a:lnTo>
                      <a:pt x="6286500" y="0"/>
                    </a:lnTo>
                  </a:path>
                </a:pathLst>
              </a:custGeom>
              <a:noFill/>
              <a:ln w="28575">
                <a:solidFill>
                  <a:schemeClr val="accent1"/>
                </a:solidFill>
              </a:ln>
            </p:spPr>
          </p:sp>
          <p:sp>
            <p:nvSpPr>
              <p:cNvPr id="31" name="Ellipse 31"/>
              <p:cNvSpPr/>
              <p:nvPr/>
            </p:nvSpPr>
            <p:spPr>
              <a:xfrm>
                <a:off x="2733675" y="4551998"/>
                <a:ext cx="133350" cy="133350"/>
              </a:xfrm>
              <a:prstGeom prst="ellipse">
                <a:avLst/>
              </a:prstGeom>
              <a:solidFill>
                <a:schemeClr val="accent3"/>
              </a:solidFill>
              <a:ln w="19050">
                <a:solidFill>
                  <a:srgbClr val="FFFFFF"/>
                </a:solidFill>
              </a:ln>
            </p:spPr>
          </p:sp>
          <p:sp>
            <p:nvSpPr>
              <p:cNvPr id="32" name="Ellipse 32"/>
              <p:cNvSpPr/>
              <p:nvPr/>
            </p:nvSpPr>
            <p:spPr>
              <a:xfrm>
                <a:off x="2733675" y="5234940"/>
                <a:ext cx="133350" cy="133350"/>
              </a:xfrm>
              <a:prstGeom prst="ellipse">
                <a:avLst/>
              </a:prstGeom>
              <a:solidFill>
                <a:schemeClr val="accent3"/>
              </a:solidFill>
              <a:ln w="19050">
                <a:solidFill>
                  <a:srgbClr val="FFFFFF"/>
                </a:solidFill>
              </a:ln>
            </p:spPr>
          </p:sp>
          <p:sp>
            <p:nvSpPr>
              <p:cNvPr id="33" name="Ellipse 33"/>
              <p:cNvSpPr/>
              <p:nvPr/>
            </p:nvSpPr>
            <p:spPr>
              <a:xfrm>
                <a:off x="3152775" y="4438650"/>
                <a:ext cx="133350" cy="133350"/>
              </a:xfrm>
              <a:prstGeom prst="ellipse">
                <a:avLst/>
              </a:prstGeom>
              <a:solidFill>
                <a:schemeClr val="accent3"/>
              </a:solidFill>
              <a:ln w="19050">
                <a:solidFill>
                  <a:srgbClr val="FFFFFF"/>
                </a:solidFill>
              </a:ln>
            </p:spPr>
          </p:sp>
          <p:sp>
            <p:nvSpPr>
              <p:cNvPr id="34" name="Ellipse 34"/>
              <p:cNvSpPr/>
              <p:nvPr/>
            </p:nvSpPr>
            <p:spPr>
              <a:xfrm>
                <a:off x="3173730" y="4812030"/>
                <a:ext cx="133350" cy="133350"/>
              </a:xfrm>
              <a:prstGeom prst="ellipse">
                <a:avLst/>
              </a:prstGeom>
              <a:solidFill>
                <a:schemeClr val="accent3"/>
              </a:solidFill>
              <a:ln w="19050">
                <a:solidFill>
                  <a:srgbClr val="FFFFFF"/>
                </a:solidFill>
              </a:ln>
            </p:spPr>
          </p:sp>
          <p:sp>
            <p:nvSpPr>
              <p:cNvPr id="35" name="Ellipse 35"/>
              <p:cNvSpPr/>
              <p:nvPr/>
            </p:nvSpPr>
            <p:spPr>
              <a:xfrm>
                <a:off x="3299460" y="4390072"/>
                <a:ext cx="133350" cy="133350"/>
              </a:xfrm>
              <a:prstGeom prst="ellipse">
                <a:avLst/>
              </a:prstGeom>
              <a:solidFill>
                <a:schemeClr val="accent3"/>
              </a:solidFill>
              <a:ln w="19050">
                <a:solidFill>
                  <a:srgbClr val="FFFFFF"/>
                </a:solidFill>
              </a:ln>
            </p:spPr>
          </p:sp>
          <p:sp>
            <p:nvSpPr>
              <p:cNvPr id="36" name="Ellipse 36"/>
              <p:cNvSpPr/>
              <p:nvPr/>
            </p:nvSpPr>
            <p:spPr>
              <a:xfrm>
                <a:off x="3425190" y="4877752"/>
                <a:ext cx="133350" cy="133350"/>
              </a:xfrm>
              <a:prstGeom prst="ellipse">
                <a:avLst/>
              </a:prstGeom>
              <a:solidFill>
                <a:schemeClr val="accent3"/>
              </a:solidFill>
              <a:ln w="19050">
                <a:solidFill>
                  <a:srgbClr val="FFFFFF"/>
                </a:solidFill>
              </a:ln>
            </p:spPr>
          </p:sp>
          <p:sp>
            <p:nvSpPr>
              <p:cNvPr id="37" name="Rectangle 37"/>
              <p:cNvSpPr/>
              <p:nvPr/>
            </p:nvSpPr>
            <p:spPr>
              <a:xfrm>
                <a:off x="2633662" y="2688908"/>
                <a:ext cx="123825" cy="123825"/>
              </a:xfrm>
              <a:prstGeom prst="rect">
                <a:avLst/>
              </a:prstGeom>
              <a:solidFill>
                <a:schemeClr val="accent2"/>
              </a:solidFill>
              <a:ln w="19050">
                <a:solidFill>
                  <a:srgbClr val="FFFFFF"/>
                </a:solidFill>
              </a:ln>
            </p:spPr>
          </p:sp>
          <p:sp>
            <p:nvSpPr>
              <p:cNvPr id="38" name="Rectangle 38"/>
              <p:cNvSpPr/>
              <p:nvPr/>
            </p:nvSpPr>
            <p:spPr>
              <a:xfrm>
                <a:off x="4121468" y="2688908"/>
                <a:ext cx="123825" cy="123825"/>
              </a:xfrm>
              <a:prstGeom prst="rect">
                <a:avLst/>
              </a:prstGeom>
              <a:solidFill>
                <a:schemeClr val="accent2"/>
              </a:solidFill>
              <a:ln w="19050">
                <a:solidFill>
                  <a:srgbClr val="FFFFFF"/>
                </a:solidFill>
              </a:ln>
            </p:spPr>
          </p:sp>
        </p:grpSp>
        <p:sp>
          <p:nvSpPr>
            <p:cNvPr id="40" name="TextBox 40"/>
            <p:cNvSpPr txBox="1"/>
            <p:nvPr/>
          </p:nvSpPr>
          <p:spPr>
            <a:xfrm>
              <a:off x="4327779" y="2661285"/>
              <a:ext cx="1248004" cy="234696"/>
            </a:xfrm>
            <a:prstGeom prst="rect">
              <a:avLst/>
            </a:prstGeom>
            <a:noFill/>
            <a:ln>
              <a:noFill/>
            </a:ln>
          </p:spPr>
          <p:txBody>
            <a:bodyPr wrap="none" lIns="0" tIns="0" rIns="0" bIns="0" anchor="t" anchorCtr="0">
              <a:spAutoFit/>
            </a:bodyPr>
            <a:lstStyle/>
            <a:p>
              <a:pPr algn="l"/>
              <a:r>
                <a:rPr lang="ja-JP" sz="1200" dirty="0">
                  <a:solidFill>
                    <a:schemeClr val="accent2"/>
                  </a:solidFill>
                  <a:latin typeface="+mn-lt"/>
                  <a:ea typeface="+mn-ea"/>
                  <a:cs typeface="+mn-cs"/>
                </a:rPr>
                <a:t>休日明け（n=2）</a:t>
              </a:r>
            </a:p>
          </p:txBody>
        </p:sp>
        <p:sp>
          <p:nvSpPr>
            <p:cNvPr id="41" name="TextBox 41"/>
            <p:cNvSpPr txBox="1"/>
            <p:nvPr/>
          </p:nvSpPr>
          <p:spPr>
            <a:xfrm>
              <a:off x="3613404" y="4347210"/>
              <a:ext cx="1248004" cy="234696"/>
            </a:xfrm>
            <a:prstGeom prst="rect">
              <a:avLst/>
            </a:prstGeom>
            <a:noFill/>
            <a:ln>
              <a:noFill/>
            </a:ln>
          </p:spPr>
          <p:txBody>
            <a:bodyPr wrap="none" lIns="0" tIns="0" rIns="0" bIns="0" anchor="t" anchorCtr="0">
              <a:spAutoFit/>
            </a:bodyPr>
            <a:lstStyle/>
            <a:p>
              <a:pPr algn="l"/>
              <a:r>
                <a:rPr lang="ja-JP" sz="1200" dirty="0">
                  <a:solidFill>
                    <a:schemeClr val="accent3"/>
                  </a:solidFill>
                  <a:latin typeface="+mn-lt"/>
                  <a:ea typeface="+mn-ea"/>
                  <a:cs typeface="+mn-cs"/>
                </a:rPr>
                <a:t>通常平日（n=6）</a:t>
              </a:r>
            </a:p>
          </p:txBody>
        </p:sp>
        <p:sp>
          <p:nvSpPr>
            <p:cNvPr id="42" name="TextBox 42"/>
            <p:cNvSpPr txBox="1"/>
            <p:nvPr/>
          </p:nvSpPr>
          <p:spPr>
            <a:xfrm>
              <a:off x="5518404" y="4556760"/>
              <a:ext cx="1902257" cy="234696"/>
            </a:xfrm>
            <a:prstGeom prst="rect">
              <a:avLst/>
            </a:prstGeom>
            <a:noFill/>
            <a:ln>
              <a:noFill/>
            </a:ln>
          </p:spPr>
          <p:txBody>
            <a:bodyPr wrap="none" lIns="0" tIns="0" rIns="0" bIns="0" anchor="t" anchorCtr="0">
              <a:spAutoFit/>
            </a:bodyPr>
            <a:lstStyle/>
            <a:p>
              <a:pPr algn="l"/>
              <a:r>
                <a:rPr lang="ja-JP" sz="1200" dirty="0">
                  <a:solidFill>
                    <a:schemeClr val="accent1"/>
                  </a:solidFill>
                  <a:latin typeface="+mn-lt"/>
                  <a:ea typeface="+mn-ea"/>
                  <a:cs typeface="+mn-cs"/>
                </a:rPr>
                <a:t>モデル予測線（約 36 分）</a:t>
              </a:r>
            </a:p>
          </p:txBody>
        </p:sp>
        <p:sp>
          <p:nvSpPr>
            <p:cNvPr id="43" name="TextBox 43"/>
            <p:cNvSpPr txBox="1"/>
            <p:nvPr/>
          </p:nvSpPr>
          <p:spPr>
            <a:xfrm>
              <a:off x="3666973" y="5585460"/>
              <a:ext cx="1619555"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起動時刻の外気温 [℃]</a:t>
              </a:r>
            </a:p>
          </p:txBody>
        </p:sp>
      </p:grpSp>
      <p:grpSp>
        <p:nvGrpSpPr>
          <p:cNvPr id="46" name="Group 46"/>
          <p:cNvGrpSpPr/>
          <p:nvPr/>
        </p:nvGrpSpPr>
        <p:grpSpPr>
          <a:xfrm>
            <a:off x="527304" y="5833110"/>
            <a:ext cx="6207404" cy="234696"/>
            <a:chOff x="527304" y="5833110"/>
            <a:chExt cx="6207404" cy="234696"/>
          </a:xfrm>
        </p:grpSpPr>
        <p:sp>
          <p:nvSpPr>
            <p:cNvPr id="45" name="TextBox 45"/>
            <p:cNvSpPr txBox="1"/>
            <p:nvPr/>
          </p:nvSpPr>
          <p:spPr>
            <a:xfrm>
              <a:off x="527304" y="5833110"/>
              <a:ext cx="6207404"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淡い帯は学習に使った外気温の範囲。休み明けは予報外気温を +2.0℃ で読み替える。</a:t>
              </a:r>
            </a:p>
          </p:txBody>
        </p:sp>
      </p:grpSp>
      <p:grpSp>
        <p:nvGrpSpPr>
          <p:cNvPr id="54" name="Group 54"/>
          <p:cNvGrpSpPr/>
          <p:nvPr/>
        </p:nvGrpSpPr>
        <p:grpSpPr>
          <a:xfrm>
            <a:off x="8144256" y="2521268"/>
            <a:ext cx="2930652" cy="3407283"/>
            <a:chOff x="8144256" y="2521268"/>
            <a:chExt cx="2930652" cy="3407283"/>
          </a:xfrm>
        </p:grpSpPr>
        <p:sp>
          <p:nvSpPr>
            <p:cNvPr id="47" name="TextBox 47"/>
            <p:cNvSpPr txBox="1"/>
            <p:nvPr/>
          </p:nvSpPr>
          <p:spPr>
            <a:xfrm>
              <a:off x="8146542" y="2521268"/>
              <a:ext cx="1467612" cy="264033"/>
            </a:xfrm>
            <a:prstGeom prst="rect">
              <a:avLst/>
            </a:prstGeom>
            <a:noFill/>
            <a:ln>
              <a:noFill/>
            </a:ln>
          </p:spPr>
          <p:txBody>
            <a:bodyPr wrap="none" lIns="0" tIns="0" rIns="0" bIns="0" anchor="t" anchorCtr="0">
              <a:spAutoFit/>
            </a:bodyPr>
            <a:lstStyle/>
            <a:p>
              <a:pPr algn="l"/>
              <a:r>
                <a:rPr lang="ja-JP" sz="1350" b="1" dirty="0">
                  <a:solidFill>
                    <a:schemeClr val="accent5"/>
                  </a:solidFill>
                  <a:latin typeface="+mn-lt"/>
                  <a:ea typeface="+mn-ea"/>
                  <a:cs typeface="+mn-cs"/>
                </a:rPr>
                <a:t>学習で守ったこと</a:t>
              </a:r>
            </a:p>
          </p:txBody>
        </p:sp>
        <p:sp>
          <p:nvSpPr>
            <p:cNvPr id="48" name="TextBox 48"/>
            <p:cNvSpPr txBox="1"/>
            <p:nvPr/>
          </p:nvSpPr>
          <p:spPr>
            <a:xfrm>
              <a:off x="8144256" y="2872740"/>
              <a:ext cx="2199132" cy="352044"/>
            </a:xfrm>
            <a:prstGeom prst="rect">
              <a:avLst/>
            </a:prstGeom>
            <a:noFill/>
            <a:ln>
              <a:noFill/>
            </a:ln>
          </p:spPr>
          <p:txBody>
            <a:bodyPr wrap="none" lIns="0" tIns="0" rIns="0" bIns="0" anchor="t" anchorCtr="0">
              <a:spAutoFit/>
            </a:bodyPr>
            <a:lstStyle/>
            <a:p>
              <a:pPr algn="l"/>
              <a:r>
                <a:rPr lang="ja-JP" sz="1800" dirty="0">
                  <a:solidFill>
                    <a:schemeClr val="accent1"/>
                  </a:solidFill>
                  <a:latin typeface="+mn-lt"/>
                  <a:ea typeface="+mn-ea"/>
                  <a:cs typeface="+mn-cs"/>
                </a:rPr>
                <a:t>休日明けを分離した</a:t>
              </a:r>
            </a:p>
          </p:txBody>
        </p:sp>
        <p:sp>
          <p:nvSpPr>
            <p:cNvPr id="49" name="TextBox 49"/>
            <p:cNvSpPr txBox="1"/>
            <p:nvPr/>
          </p:nvSpPr>
          <p:spPr>
            <a:xfrm>
              <a:off x="8146542" y="3188018"/>
              <a:ext cx="2474024" cy="7212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通常平日 33.8 分に対し、休日</a:t>
              </a:r>
              <a:br/>
              <a:r>
                <a:rPr lang="ja-JP" sz="1350" dirty="0">
                  <a:solidFill>
                    <a:schemeClr val="dk1"/>
                  </a:solidFill>
                  <a:latin typeface="+mn-lt"/>
                  <a:ea typeface="+mn-ea"/>
                  <a:cs typeface="+mn-cs"/>
                </a:rPr>
                <a:t>明けは 159.0 分。混ぜると通常</a:t>
              </a:r>
              <a:br/>
              <a:r>
                <a:rPr lang="ja-JP" sz="1350" dirty="0">
                  <a:solidFill>
                    <a:schemeClr val="dk1"/>
                  </a:solidFill>
                  <a:latin typeface="+mn-lt"/>
                  <a:ea typeface="+mn-ea"/>
                  <a:cs typeface="+mn-cs"/>
                </a:rPr>
                <a:t>平日を過大に見積もる。</a:t>
              </a:r>
            </a:p>
          </p:txBody>
        </p:sp>
        <p:sp>
          <p:nvSpPr>
            <p:cNvPr id="50" name="TextBox 50"/>
            <p:cNvSpPr txBox="1"/>
            <p:nvPr/>
          </p:nvSpPr>
          <p:spPr>
            <a:xfrm>
              <a:off x="8144256" y="3996690"/>
              <a:ext cx="2199132" cy="352044"/>
            </a:xfrm>
            <a:prstGeom prst="rect">
              <a:avLst/>
            </a:prstGeom>
            <a:noFill/>
            <a:ln>
              <a:noFill/>
            </a:ln>
          </p:spPr>
          <p:txBody>
            <a:bodyPr wrap="none" lIns="0" tIns="0" rIns="0" bIns="0" anchor="t" anchorCtr="0">
              <a:spAutoFit/>
            </a:bodyPr>
            <a:lstStyle/>
            <a:p>
              <a:pPr algn="l"/>
              <a:r>
                <a:rPr lang="ja-JP" sz="1800" dirty="0">
                  <a:solidFill>
                    <a:schemeClr val="accent1"/>
                  </a:solidFill>
                  <a:latin typeface="+mn-lt"/>
                  <a:ea typeface="+mn-ea"/>
                  <a:cs typeface="+mn-cs"/>
                </a:rPr>
                <a:t>直線を引かなかった</a:t>
              </a:r>
            </a:p>
          </p:txBody>
        </p:sp>
        <p:sp>
          <p:nvSpPr>
            <p:cNvPr id="51" name="TextBox 51"/>
            <p:cNvSpPr txBox="1"/>
            <p:nvPr/>
          </p:nvSpPr>
          <p:spPr>
            <a:xfrm>
              <a:off x="8146542" y="4311968"/>
              <a:ext cx="2928366" cy="7212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外気温幅が 23.5〜25.1℃ と狭い。</a:t>
              </a:r>
              <a:br/>
              <a:r>
                <a:rPr lang="ja-JP" sz="1350" dirty="0">
                  <a:solidFill>
                    <a:schemeClr val="dk1"/>
                  </a:solidFill>
                  <a:latin typeface="+mn-lt"/>
                  <a:ea typeface="+mn-ea"/>
                  <a:cs typeface="+mn-cs"/>
                </a:rPr>
                <a:t>傾きを持たせず、ほぼ水平な予測線</a:t>
              </a:r>
              <a:br/>
              <a:r>
                <a:rPr lang="ja-JP" sz="1350" dirty="0">
                  <a:solidFill>
                    <a:schemeClr val="dk1"/>
                  </a:solidFill>
                  <a:latin typeface="+mn-lt"/>
                  <a:ea typeface="+mn-ea"/>
                  <a:cs typeface="+mn-cs"/>
                </a:rPr>
                <a:t>にとどめ、範囲外は外挿と警告する。</a:t>
              </a:r>
            </a:p>
          </p:txBody>
        </p:sp>
        <p:sp>
          <p:nvSpPr>
            <p:cNvPr id="52" name="TextBox 52"/>
            <p:cNvSpPr txBox="1"/>
            <p:nvPr/>
          </p:nvSpPr>
          <p:spPr>
            <a:xfrm>
              <a:off x="8144256" y="5120640"/>
              <a:ext cx="2258568" cy="352044"/>
            </a:xfrm>
            <a:prstGeom prst="rect">
              <a:avLst/>
            </a:prstGeom>
            <a:noFill/>
            <a:ln>
              <a:noFill/>
            </a:ln>
          </p:spPr>
          <p:txBody>
            <a:bodyPr wrap="none" lIns="0" tIns="0" rIns="0" bIns="0" anchor="t" anchorCtr="0">
              <a:spAutoFit/>
            </a:bodyPr>
            <a:lstStyle/>
            <a:p>
              <a:pPr algn="l"/>
              <a:r>
                <a:rPr lang="ja-JP" sz="1800" dirty="0">
                  <a:solidFill>
                    <a:schemeClr val="accent1"/>
                  </a:solidFill>
                  <a:latin typeface="+mn-lt"/>
                  <a:ea typeface="+mn-ea"/>
                  <a:cs typeface="+mn-cs"/>
                </a:rPr>
                <a:t>LOO-MAE で選んだ</a:t>
              </a:r>
            </a:p>
          </p:txBody>
        </p:sp>
        <p:sp>
          <p:nvSpPr>
            <p:cNvPr id="53" name="TextBox 53"/>
            <p:cNvSpPr txBox="1"/>
            <p:nvPr/>
          </p:nvSpPr>
          <p:spPr>
            <a:xfrm>
              <a:off x="8146542" y="5435918"/>
              <a:ext cx="2585466" cy="4926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湿度を足しても改善は 0.02 分。</a:t>
              </a:r>
              <a:br/>
              <a:r>
                <a:rPr lang="ja-JP" sz="1350" dirty="0">
                  <a:solidFill>
                    <a:schemeClr val="dk1"/>
                  </a:solidFill>
                  <a:latin typeface="+mn-lt"/>
                  <a:ea typeface="+mn-ea"/>
                  <a:cs typeface="+mn-cs"/>
                </a:rPr>
                <a:t>保守性から温度差主体を採った。</a:t>
              </a:r>
            </a:p>
          </p:txBody>
        </p:sp>
      </p:grpSp>
      <p:grpSp>
        <p:nvGrpSpPr>
          <p:cNvPr id="58" name="Group 58"/>
          <p:cNvGrpSpPr/>
          <p:nvPr/>
        </p:nvGrpSpPr>
        <p:grpSpPr>
          <a:xfrm>
            <a:off x="527304" y="6153150"/>
            <a:ext cx="11137392" cy="314706"/>
            <a:chOff x="527304" y="6153150"/>
            <a:chExt cx="11137392" cy="314706"/>
          </a:xfrm>
        </p:grpSpPr>
        <p:sp>
          <p:nvSpPr>
            <p:cNvPr id="55" name="Line 55"/>
            <p:cNvSpPr/>
            <p:nvPr/>
          </p:nvSpPr>
          <p:spPr>
            <a:xfrm>
              <a:off x="533400" y="61531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56" name="TextBox 56"/>
            <p:cNvSpPr txBox="1"/>
            <p:nvPr/>
          </p:nvSpPr>
          <p:spPr>
            <a:xfrm>
              <a:off x="527304" y="6233160"/>
              <a:ext cx="2919984"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熱源の起動を、どこまで遅らせてよいか</a:t>
              </a:r>
            </a:p>
          </p:txBody>
        </p:sp>
        <p:sp>
          <p:nvSpPr>
            <p:cNvPr id="57" name="TextBox 57"/>
            <p:cNvSpPr txBox="1"/>
            <p:nvPr/>
          </p:nvSpPr>
          <p:spPr>
            <a:xfrm>
              <a:off x="7452360" y="6233160"/>
              <a:ext cx="4212336"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起動時刻と稼働日は実測、電力量は合成データによる試算</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6542" y="730568"/>
            <a:ext cx="11138916" cy="345757"/>
            <a:chOff x="526542" y="730568"/>
            <a:chExt cx="11138916" cy="345757"/>
          </a:xfrm>
        </p:grpSpPr>
        <p:sp>
          <p:nvSpPr>
            <p:cNvPr id="2" name="TextBox 2"/>
            <p:cNvSpPr txBox="1"/>
            <p:nvPr/>
          </p:nvSpPr>
          <p:spPr>
            <a:xfrm>
              <a:off x="526542" y="730568"/>
              <a:ext cx="1903781"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03 何が確かめられたか</a:t>
              </a:r>
            </a:p>
          </p:txBody>
        </p:sp>
        <p:sp>
          <p:nvSpPr>
            <p:cNvPr id="3" name="TextBox 3"/>
            <p:cNvSpPr txBox="1"/>
            <p:nvPr/>
          </p:nvSpPr>
          <p:spPr>
            <a:xfrm>
              <a:off x="11042923" y="730568"/>
              <a:ext cx="622535"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07 / 11</a:t>
              </a:r>
            </a:p>
          </p:txBody>
        </p:sp>
        <p:sp>
          <p:nvSpPr>
            <p:cNvPr id="4" name="Line 4"/>
            <p:cNvSpPr/>
            <p:nvPr/>
          </p:nvSpPr>
          <p:spPr>
            <a:xfrm>
              <a:off x="533400" y="1066800"/>
              <a:ext cx="11125200" cy="9525"/>
            </a:xfrm>
            <a:custGeom>
              <a:avLst/>
              <a:gdLst/>
              <a:ahLst/>
              <a:cxnLst/>
              <a:rect l="l" t="t" r="r" b="b"/>
              <a:pathLst>
                <a:path w="11125200" h="9525">
                  <a:moveTo>
                    <a:pt x="0" y="0"/>
                  </a:moveTo>
                  <a:lnTo>
                    <a:pt x="11125200" y="0"/>
                  </a:lnTo>
                </a:path>
              </a:pathLst>
            </a:custGeom>
            <a:noFill/>
            <a:ln w="14288">
              <a:solidFill>
                <a:schemeClr val="accent1"/>
              </a:solidFill>
            </a:ln>
          </p:spPr>
        </p:sp>
      </p:grpSp>
      <p:grpSp>
        <p:nvGrpSpPr>
          <p:cNvPr id="8" name="Group 8"/>
          <p:cNvGrpSpPr/>
          <p:nvPr/>
        </p:nvGrpSpPr>
        <p:grpSpPr>
          <a:xfrm>
            <a:off x="517398" y="1241108"/>
            <a:ext cx="8553926" cy="994409"/>
            <a:chOff x="517398" y="1241108"/>
            <a:chExt cx="8553926" cy="994409"/>
          </a:xfrm>
        </p:grpSpPr>
        <p:sp>
          <p:nvSpPr>
            <p:cNvPr id="6" name="TextBox 6"/>
            <p:cNvSpPr txBox="1"/>
            <p:nvPr/>
          </p:nvSpPr>
          <p:spPr>
            <a:xfrm>
              <a:off x="517398" y="1241108"/>
              <a:ext cx="8151559" cy="616077"/>
            </a:xfrm>
            <a:prstGeom prst="rect">
              <a:avLst/>
            </a:prstGeom>
            <a:noFill/>
            <a:ln>
              <a:noFill/>
            </a:ln>
          </p:spPr>
          <p:txBody>
            <a:bodyPr wrap="none" lIns="0" tIns="0" rIns="0" bIns="0" anchor="t" anchorCtr="0">
              <a:spAutoFit/>
            </a:bodyPr>
            <a:lstStyle/>
            <a:p>
              <a:pPr algn="l"/>
              <a:r>
                <a:rPr lang="ja-JP" sz="3150" b="1" dirty="0">
                  <a:solidFill>
                    <a:schemeClr val="accent1"/>
                  </a:solidFill>
                  <a:latin typeface="+mn-lt"/>
                  <a:ea typeface="+mn-ea"/>
                  <a:cs typeface="+mn-cs"/>
                </a:rPr>
                <a:t>平日実働 9 日、全日 8:00 までに到達した</a:t>
              </a:r>
            </a:p>
          </p:txBody>
        </p:sp>
        <p:sp>
          <p:nvSpPr>
            <p:cNvPr id="7" name="TextBox 7"/>
            <p:cNvSpPr txBox="1"/>
            <p:nvPr/>
          </p:nvSpPr>
          <p:spPr>
            <a:xfrm>
              <a:off x="521970" y="1795462"/>
              <a:ext cx="8549354" cy="440055"/>
            </a:xfrm>
            <a:prstGeom prst="rect">
              <a:avLst/>
            </a:prstGeom>
            <a:noFill/>
            <a:ln>
              <a:noFill/>
            </a:ln>
          </p:spPr>
          <p:txBody>
            <a:bodyPr wrap="none" lIns="0" tIns="0" rIns="0" bIns="0" anchor="t" anchorCtr="0">
              <a:spAutoFit/>
            </a:bodyPr>
            <a:lstStyle/>
            <a:p>
              <a:pPr algn="l"/>
              <a:r>
                <a:rPr lang="ja-JP" sz="2250" dirty="0">
                  <a:solidFill>
                    <a:schemeClr val="dk1"/>
                  </a:solidFill>
                  <a:latin typeface="+mn-lt"/>
                  <a:ea typeface="+mn-ea"/>
                  <a:cs typeface="+mn-cs"/>
                </a:rPr>
                <a:t>平日実働 9 日間に学習済みモデルを当て、現行運用と比べた。</a:t>
              </a:r>
            </a:p>
          </p:txBody>
        </p:sp>
      </p:grpSp>
      <p:grpSp>
        <p:nvGrpSpPr>
          <p:cNvPr id="12" name="Group 12"/>
          <p:cNvGrpSpPr/>
          <p:nvPr/>
        </p:nvGrpSpPr>
        <p:grpSpPr>
          <a:xfrm>
            <a:off x="9502323" y="2406968"/>
            <a:ext cx="2175327" cy="1546288"/>
            <a:chOff x="9502323" y="2406968"/>
            <a:chExt cx="2175327" cy="1546288"/>
          </a:xfrm>
        </p:grpSpPr>
        <p:sp>
          <p:nvSpPr>
            <p:cNvPr id="9" name="TextBox 9"/>
            <p:cNvSpPr txBox="1"/>
            <p:nvPr/>
          </p:nvSpPr>
          <p:spPr>
            <a:xfrm>
              <a:off x="10652188" y="2406968"/>
              <a:ext cx="1013270"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8:00 到達率</a:t>
              </a:r>
            </a:p>
          </p:txBody>
        </p:sp>
        <p:sp>
          <p:nvSpPr>
            <p:cNvPr id="10" name="TextBox 10"/>
            <p:cNvSpPr txBox="1"/>
            <p:nvPr/>
          </p:nvSpPr>
          <p:spPr>
            <a:xfrm>
              <a:off x="9502323" y="2710815"/>
              <a:ext cx="2175327" cy="1219200"/>
            </a:xfrm>
            <a:prstGeom prst="rect">
              <a:avLst/>
            </a:prstGeom>
            <a:noFill/>
            <a:ln>
              <a:noFill/>
            </a:ln>
          </p:spPr>
          <p:txBody>
            <a:bodyPr wrap="none" lIns="0" tIns="0" rIns="0" bIns="0" anchor="t" anchorCtr="0">
              <a:spAutoFit/>
            </a:bodyPr>
            <a:lstStyle/>
            <a:p>
              <a:pPr algn="r"/>
              <a:r>
                <a:rPr lang="ja-JP" sz="6300" b="1" dirty="0">
                  <a:solidFill>
                    <a:schemeClr val="accent1"/>
                  </a:solidFill>
                  <a:latin typeface="+mn-lt"/>
                  <a:ea typeface="+mn-ea"/>
                  <a:cs typeface="+mn-cs"/>
                </a:rPr>
                <a:t>100%</a:t>
              </a:r>
            </a:p>
          </p:txBody>
        </p:sp>
        <p:sp>
          <p:nvSpPr>
            <p:cNvPr id="11" name="TextBox 11"/>
            <p:cNvSpPr txBox="1"/>
            <p:nvPr/>
          </p:nvSpPr>
          <p:spPr>
            <a:xfrm>
              <a:off x="9770516" y="3718560"/>
              <a:ext cx="189418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8/19〜8/22, 8/25〜8/29</a:t>
              </a:r>
            </a:p>
          </p:txBody>
        </p:sp>
      </p:grpSp>
      <p:grpSp>
        <p:nvGrpSpPr>
          <p:cNvPr id="80" name="Group 80"/>
          <p:cNvGrpSpPr/>
          <p:nvPr/>
        </p:nvGrpSpPr>
        <p:grpSpPr>
          <a:xfrm>
            <a:off x="527304" y="2461260"/>
            <a:ext cx="8435721" cy="3473196"/>
            <a:chOff x="527304" y="2461260"/>
            <a:chExt cx="8435721" cy="3473196"/>
          </a:xfrm>
        </p:grpSpPr>
        <p:sp>
          <p:nvSpPr>
            <p:cNvPr id="13" name="Rectangle 13"/>
            <p:cNvSpPr/>
            <p:nvPr/>
          </p:nvSpPr>
          <p:spPr>
            <a:xfrm>
              <a:off x="1809750" y="2476500"/>
              <a:ext cx="152400" cy="114300"/>
            </a:xfrm>
            <a:prstGeom prst="rect">
              <a:avLst/>
            </a:prstGeom>
            <a:solidFill>
              <a:schemeClr val="accent1">
                <a:alpha val="10000"/>
              </a:schemeClr>
            </a:solidFill>
            <a:ln>
              <a:noFill/>
            </a:ln>
          </p:spPr>
        </p:sp>
        <p:sp>
          <p:nvSpPr>
            <p:cNvPr id="14" name="TextBox 14"/>
            <p:cNvSpPr txBox="1"/>
            <p:nvPr/>
          </p:nvSpPr>
          <p:spPr>
            <a:xfrm>
              <a:off x="2032254" y="2461260"/>
              <a:ext cx="1627632"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削減した過剰予冷区間</a:t>
              </a:r>
            </a:p>
          </p:txBody>
        </p:sp>
        <p:sp>
          <p:nvSpPr>
            <p:cNvPr id="15" name="Rectangle 15"/>
            <p:cNvSpPr/>
            <p:nvPr/>
          </p:nvSpPr>
          <p:spPr>
            <a:xfrm>
              <a:off x="3905250" y="2476500"/>
              <a:ext cx="152400" cy="114300"/>
            </a:xfrm>
            <a:prstGeom prst="rect">
              <a:avLst/>
            </a:prstGeom>
            <a:solidFill>
              <a:schemeClr val="accent3"/>
            </a:solidFill>
            <a:ln>
              <a:noFill/>
            </a:ln>
          </p:spPr>
        </p:sp>
        <p:sp>
          <p:nvSpPr>
            <p:cNvPr id="16" name="TextBox 16"/>
            <p:cNvSpPr txBox="1"/>
            <p:nvPr/>
          </p:nvSpPr>
          <p:spPr>
            <a:xfrm>
              <a:off x="4127754" y="2461260"/>
              <a:ext cx="1627632"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最適運転（通常平日）</a:t>
              </a:r>
            </a:p>
          </p:txBody>
        </p:sp>
        <p:sp>
          <p:nvSpPr>
            <p:cNvPr id="17" name="Rectangle 17"/>
            <p:cNvSpPr/>
            <p:nvPr/>
          </p:nvSpPr>
          <p:spPr>
            <a:xfrm>
              <a:off x="6000750" y="2476500"/>
              <a:ext cx="152400" cy="114300"/>
            </a:xfrm>
            <a:prstGeom prst="rect">
              <a:avLst/>
            </a:prstGeom>
            <a:solidFill>
              <a:schemeClr val="accent2"/>
            </a:solidFill>
            <a:ln>
              <a:noFill/>
            </a:ln>
          </p:spPr>
        </p:sp>
        <p:sp>
          <p:nvSpPr>
            <p:cNvPr id="18" name="TextBox 18"/>
            <p:cNvSpPr txBox="1"/>
            <p:nvPr/>
          </p:nvSpPr>
          <p:spPr>
            <a:xfrm>
              <a:off x="6223254" y="2461260"/>
              <a:ext cx="1627632"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最適運転（休日明け）</a:t>
              </a:r>
            </a:p>
          </p:txBody>
        </p:sp>
        <p:sp>
          <p:nvSpPr>
            <p:cNvPr id="19" name="Ellipse 19"/>
            <p:cNvSpPr/>
            <p:nvPr/>
          </p:nvSpPr>
          <p:spPr>
            <a:xfrm>
              <a:off x="8124825" y="2486025"/>
              <a:ext cx="95250" cy="95250"/>
            </a:xfrm>
            <a:prstGeom prst="ellipse">
              <a:avLst/>
            </a:prstGeom>
            <a:solidFill>
              <a:schemeClr val="lt1"/>
            </a:solidFill>
            <a:ln w="19050">
              <a:solidFill>
                <a:schemeClr val="accent1"/>
              </a:solidFill>
            </a:ln>
          </p:spPr>
        </p:sp>
        <p:sp>
          <p:nvSpPr>
            <p:cNvPr id="20" name="TextBox 20"/>
            <p:cNvSpPr txBox="1"/>
            <p:nvPr/>
          </p:nvSpPr>
          <p:spPr>
            <a:xfrm>
              <a:off x="8299704" y="2461260"/>
              <a:ext cx="658368"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到達時刻</a:t>
              </a:r>
            </a:p>
          </p:txBody>
        </p:sp>
        <p:grpSp>
          <p:nvGrpSpPr>
            <p:cNvPr id="61" name="Group 61"/>
            <p:cNvGrpSpPr/>
            <p:nvPr/>
          </p:nvGrpSpPr>
          <p:grpSpPr>
            <a:xfrm>
              <a:off x="527304" y="2737485"/>
              <a:ext cx="8426196" cy="2663190"/>
              <a:chOff x="527304" y="2737485"/>
              <a:chExt cx="8426196" cy="2663190"/>
            </a:xfrm>
          </p:grpSpPr>
          <p:sp>
            <p:nvSpPr>
              <p:cNvPr id="21" name="Line 21"/>
              <p:cNvSpPr/>
              <p:nvPr/>
            </p:nvSpPr>
            <p:spPr>
              <a:xfrm>
                <a:off x="1980248" y="2743200"/>
                <a:ext cx="9525" cy="2514600"/>
              </a:xfrm>
              <a:custGeom>
                <a:avLst/>
                <a:gdLst/>
                <a:ahLst/>
                <a:cxnLst/>
                <a:rect l="l" t="t" r="r" b="b"/>
                <a:pathLst>
                  <a:path w="9525" h="2514600">
                    <a:moveTo>
                      <a:pt x="0" y="0"/>
                    </a:moveTo>
                    <a:lnTo>
                      <a:pt x="0" y="2514600"/>
                    </a:lnTo>
                  </a:path>
                </a:pathLst>
              </a:custGeom>
              <a:noFill/>
              <a:ln w="9525">
                <a:solidFill>
                  <a:srgbClr val="667685"/>
                </a:solidFill>
                <a:prstDash val="dash"/>
              </a:ln>
            </p:spPr>
          </p:sp>
          <p:sp>
            <p:nvSpPr>
              <p:cNvPr id="22" name="Line 22"/>
              <p:cNvSpPr/>
              <p:nvPr/>
            </p:nvSpPr>
            <p:spPr>
              <a:xfrm>
                <a:off x="7933372" y="2743200"/>
                <a:ext cx="9525" cy="2514600"/>
              </a:xfrm>
              <a:custGeom>
                <a:avLst/>
                <a:gdLst/>
                <a:ahLst/>
                <a:cxnLst/>
                <a:rect l="l" t="t" r="r" b="b"/>
                <a:pathLst>
                  <a:path w="9525" h="2514600">
                    <a:moveTo>
                      <a:pt x="0" y="0"/>
                    </a:moveTo>
                    <a:lnTo>
                      <a:pt x="0" y="2514600"/>
                    </a:lnTo>
                  </a:path>
                </a:pathLst>
              </a:custGeom>
              <a:noFill/>
              <a:ln w="19050">
                <a:solidFill>
                  <a:schemeClr val="accent2"/>
                </a:solidFill>
              </a:ln>
            </p:spPr>
          </p:sp>
          <p:sp>
            <p:nvSpPr>
              <p:cNvPr id="23" name="Line 23"/>
              <p:cNvSpPr/>
              <p:nvPr/>
            </p:nvSpPr>
            <p:spPr>
              <a:xfrm>
                <a:off x="1809750" y="5391150"/>
                <a:ext cx="7143750" cy="9525"/>
              </a:xfrm>
              <a:custGeom>
                <a:avLst/>
                <a:gdLst/>
                <a:ahLst/>
                <a:cxnLst/>
                <a:rect l="l" t="t" r="r" b="b"/>
                <a:pathLst>
                  <a:path w="7143750" h="9525">
                    <a:moveTo>
                      <a:pt x="0" y="0"/>
                    </a:moveTo>
                    <a:lnTo>
                      <a:pt x="7143750" y="0"/>
                    </a:lnTo>
                  </a:path>
                </a:pathLst>
              </a:custGeom>
              <a:noFill/>
              <a:ln w="9525">
                <a:solidFill>
                  <a:srgbClr val="667685"/>
                </a:solidFill>
              </a:ln>
            </p:spPr>
          </p:sp>
          <p:sp>
            <p:nvSpPr>
              <p:cNvPr id="24" name="TextBox 24"/>
              <p:cNvSpPr txBox="1"/>
              <p:nvPr/>
            </p:nvSpPr>
            <p:spPr>
              <a:xfrm>
                <a:off x="527304" y="2737485"/>
                <a:ext cx="795680" cy="234696"/>
              </a:xfrm>
              <a:prstGeom prst="rect">
                <a:avLst/>
              </a:prstGeom>
              <a:noFill/>
              <a:ln>
                <a:noFill/>
              </a:ln>
            </p:spPr>
            <p:txBody>
              <a:bodyPr wrap="none" lIns="0" tIns="0" rIns="0" bIns="0" anchor="t" anchorCtr="0">
                <a:spAutoFit/>
              </a:bodyPr>
              <a:lstStyle/>
              <a:p>
                <a:pPr algn="l"/>
                <a:r>
                  <a:rPr lang="ja-JP" sz="1200" dirty="0">
                    <a:solidFill>
                      <a:schemeClr val="dk1"/>
                    </a:solidFill>
                    <a:latin typeface="+mn-lt"/>
                    <a:ea typeface="+mn-ea"/>
                    <a:cs typeface="+mn-cs"/>
                  </a:rPr>
                  <a:t>08/19(火)</a:t>
                </a:r>
              </a:p>
            </p:txBody>
          </p:sp>
          <p:sp>
            <p:nvSpPr>
              <p:cNvPr id="25" name="Rectangle 25"/>
              <p:cNvSpPr/>
              <p:nvPr/>
            </p:nvSpPr>
            <p:spPr>
              <a:xfrm>
                <a:off x="1980248" y="2743200"/>
                <a:ext cx="4150042" cy="152400"/>
              </a:xfrm>
              <a:prstGeom prst="rect">
                <a:avLst/>
              </a:prstGeom>
              <a:solidFill>
                <a:schemeClr val="accent1">
                  <a:alpha val="10000"/>
                </a:schemeClr>
              </a:solidFill>
              <a:ln>
                <a:noFill/>
              </a:ln>
            </p:spPr>
          </p:sp>
          <p:sp>
            <p:nvSpPr>
              <p:cNvPr id="26" name="Rectangle 26"/>
              <p:cNvSpPr/>
              <p:nvPr/>
            </p:nvSpPr>
            <p:spPr>
              <a:xfrm>
                <a:off x="6130290" y="2743200"/>
                <a:ext cx="1700212" cy="152400"/>
              </a:xfrm>
              <a:prstGeom prst="rect">
                <a:avLst/>
              </a:prstGeom>
              <a:solidFill>
                <a:schemeClr val="accent3"/>
              </a:solidFill>
              <a:ln>
                <a:noFill/>
              </a:ln>
            </p:spPr>
          </p:sp>
          <p:sp>
            <p:nvSpPr>
              <p:cNvPr id="27" name="Ellipse 27"/>
              <p:cNvSpPr/>
              <p:nvPr/>
            </p:nvSpPr>
            <p:spPr>
              <a:xfrm>
                <a:off x="7782878" y="2771775"/>
                <a:ext cx="95250" cy="95250"/>
              </a:xfrm>
              <a:prstGeom prst="ellipse">
                <a:avLst/>
              </a:prstGeom>
              <a:solidFill>
                <a:schemeClr val="lt1"/>
              </a:solidFill>
              <a:ln w="19050">
                <a:solidFill>
                  <a:schemeClr val="accent1"/>
                </a:solidFill>
              </a:ln>
            </p:spPr>
          </p:sp>
          <p:sp>
            <p:nvSpPr>
              <p:cNvPr id="28" name="TextBox 28"/>
              <p:cNvSpPr txBox="1"/>
              <p:nvPr/>
            </p:nvSpPr>
            <p:spPr>
              <a:xfrm>
                <a:off x="527304" y="3023235"/>
                <a:ext cx="795680" cy="234696"/>
              </a:xfrm>
              <a:prstGeom prst="rect">
                <a:avLst/>
              </a:prstGeom>
              <a:noFill/>
              <a:ln>
                <a:noFill/>
              </a:ln>
            </p:spPr>
            <p:txBody>
              <a:bodyPr wrap="none" lIns="0" tIns="0" rIns="0" bIns="0" anchor="t" anchorCtr="0">
                <a:spAutoFit/>
              </a:bodyPr>
              <a:lstStyle/>
              <a:p>
                <a:pPr algn="l"/>
                <a:r>
                  <a:rPr lang="ja-JP" sz="1200" dirty="0">
                    <a:solidFill>
                      <a:schemeClr val="dk1"/>
                    </a:solidFill>
                    <a:latin typeface="+mn-lt"/>
                    <a:ea typeface="+mn-ea"/>
                    <a:cs typeface="+mn-cs"/>
                  </a:rPr>
                  <a:t>08/20(水)</a:t>
                </a:r>
              </a:p>
            </p:txBody>
          </p:sp>
          <p:sp>
            <p:nvSpPr>
              <p:cNvPr id="29" name="Rectangle 29"/>
              <p:cNvSpPr/>
              <p:nvPr/>
            </p:nvSpPr>
            <p:spPr>
              <a:xfrm>
                <a:off x="1980248" y="3028950"/>
                <a:ext cx="4150042" cy="152400"/>
              </a:xfrm>
              <a:prstGeom prst="rect">
                <a:avLst/>
              </a:prstGeom>
              <a:solidFill>
                <a:schemeClr val="accent1">
                  <a:alpha val="10000"/>
                </a:schemeClr>
              </a:solidFill>
              <a:ln>
                <a:noFill/>
              </a:ln>
            </p:spPr>
          </p:sp>
          <p:sp>
            <p:nvSpPr>
              <p:cNvPr id="30" name="Rectangle 30"/>
              <p:cNvSpPr/>
              <p:nvPr/>
            </p:nvSpPr>
            <p:spPr>
              <a:xfrm>
                <a:off x="6130290" y="3028950"/>
                <a:ext cx="1700212" cy="152400"/>
              </a:xfrm>
              <a:prstGeom prst="rect">
                <a:avLst/>
              </a:prstGeom>
              <a:solidFill>
                <a:schemeClr val="accent3"/>
              </a:solidFill>
              <a:ln>
                <a:noFill/>
              </a:ln>
            </p:spPr>
          </p:sp>
          <p:sp>
            <p:nvSpPr>
              <p:cNvPr id="31" name="Ellipse 31"/>
              <p:cNvSpPr/>
              <p:nvPr/>
            </p:nvSpPr>
            <p:spPr>
              <a:xfrm>
                <a:off x="7782878" y="3057525"/>
                <a:ext cx="95250" cy="95250"/>
              </a:xfrm>
              <a:prstGeom prst="ellipse">
                <a:avLst/>
              </a:prstGeom>
              <a:solidFill>
                <a:schemeClr val="lt1"/>
              </a:solidFill>
              <a:ln w="19050">
                <a:solidFill>
                  <a:schemeClr val="accent1"/>
                </a:solidFill>
              </a:ln>
            </p:spPr>
          </p:sp>
          <p:sp>
            <p:nvSpPr>
              <p:cNvPr id="32" name="TextBox 32"/>
              <p:cNvSpPr txBox="1"/>
              <p:nvPr/>
            </p:nvSpPr>
            <p:spPr>
              <a:xfrm>
                <a:off x="527304" y="3308985"/>
                <a:ext cx="795680" cy="234696"/>
              </a:xfrm>
              <a:prstGeom prst="rect">
                <a:avLst/>
              </a:prstGeom>
              <a:noFill/>
              <a:ln>
                <a:noFill/>
              </a:ln>
            </p:spPr>
            <p:txBody>
              <a:bodyPr wrap="none" lIns="0" tIns="0" rIns="0" bIns="0" anchor="t" anchorCtr="0">
                <a:spAutoFit/>
              </a:bodyPr>
              <a:lstStyle/>
              <a:p>
                <a:pPr algn="l"/>
                <a:r>
                  <a:rPr lang="ja-JP" sz="1200" dirty="0">
                    <a:solidFill>
                      <a:schemeClr val="dk1"/>
                    </a:solidFill>
                    <a:latin typeface="+mn-lt"/>
                    <a:ea typeface="+mn-ea"/>
                    <a:cs typeface="+mn-cs"/>
                  </a:rPr>
                  <a:t>08/21(木)</a:t>
                </a:r>
              </a:p>
            </p:txBody>
          </p:sp>
          <p:sp>
            <p:nvSpPr>
              <p:cNvPr id="33" name="Rectangle 33"/>
              <p:cNvSpPr/>
              <p:nvPr/>
            </p:nvSpPr>
            <p:spPr>
              <a:xfrm>
                <a:off x="1980248" y="3314700"/>
                <a:ext cx="4150042" cy="152400"/>
              </a:xfrm>
              <a:prstGeom prst="rect">
                <a:avLst/>
              </a:prstGeom>
              <a:solidFill>
                <a:schemeClr val="accent1">
                  <a:alpha val="10000"/>
                </a:schemeClr>
              </a:solidFill>
              <a:ln>
                <a:noFill/>
              </a:ln>
            </p:spPr>
          </p:sp>
          <p:sp>
            <p:nvSpPr>
              <p:cNvPr id="34" name="Rectangle 34"/>
              <p:cNvSpPr/>
              <p:nvPr/>
            </p:nvSpPr>
            <p:spPr>
              <a:xfrm>
                <a:off x="6130290" y="3314700"/>
                <a:ext cx="1700212" cy="152400"/>
              </a:xfrm>
              <a:prstGeom prst="rect">
                <a:avLst/>
              </a:prstGeom>
              <a:solidFill>
                <a:schemeClr val="accent3"/>
              </a:solidFill>
              <a:ln>
                <a:noFill/>
              </a:ln>
            </p:spPr>
          </p:sp>
          <p:sp>
            <p:nvSpPr>
              <p:cNvPr id="35" name="Ellipse 35"/>
              <p:cNvSpPr/>
              <p:nvPr/>
            </p:nvSpPr>
            <p:spPr>
              <a:xfrm>
                <a:off x="7782878" y="3343275"/>
                <a:ext cx="95250" cy="95250"/>
              </a:xfrm>
              <a:prstGeom prst="ellipse">
                <a:avLst/>
              </a:prstGeom>
              <a:solidFill>
                <a:schemeClr val="lt1"/>
              </a:solidFill>
              <a:ln w="19050">
                <a:solidFill>
                  <a:schemeClr val="accent1"/>
                </a:solidFill>
              </a:ln>
            </p:spPr>
          </p:sp>
          <p:sp>
            <p:nvSpPr>
              <p:cNvPr id="36" name="TextBox 36"/>
              <p:cNvSpPr txBox="1"/>
              <p:nvPr/>
            </p:nvSpPr>
            <p:spPr>
              <a:xfrm>
                <a:off x="527304" y="3594735"/>
                <a:ext cx="795680" cy="234696"/>
              </a:xfrm>
              <a:prstGeom prst="rect">
                <a:avLst/>
              </a:prstGeom>
              <a:noFill/>
              <a:ln>
                <a:noFill/>
              </a:ln>
            </p:spPr>
            <p:txBody>
              <a:bodyPr wrap="none" lIns="0" tIns="0" rIns="0" bIns="0" anchor="t" anchorCtr="0">
                <a:spAutoFit/>
              </a:bodyPr>
              <a:lstStyle/>
              <a:p>
                <a:pPr algn="l"/>
                <a:r>
                  <a:rPr lang="ja-JP" sz="1200" dirty="0">
                    <a:solidFill>
                      <a:schemeClr val="dk1"/>
                    </a:solidFill>
                    <a:latin typeface="+mn-lt"/>
                    <a:ea typeface="+mn-ea"/>
                    <a:cs typeface="+mn-cs"/>
                  </a:rPr>
                  <a:t>08/22(金)</a:t>
                </a:r>
              </a:p>
            </p:txBody>
          </p:sp>
          <p:sp>
            <p:nvSpPr>
              <p:cNvPr id="37" name="Rectangle 37"/>
              <p:cNvSpPr/>
              <p:nvPr/>
            </p:nvSpPr>
            <p:spPr>
              <a:xfrm>
                <a:off x="1980248" y="3600450"/>
                <a:ext cx="4150042" cy="152400"/>
              </a:xfrm>
              <a:prstGeom prst="rect">
                <a:avLst/>
              </a:prstGeom>
              <a:solidFill>
                <a:schemeClr val="accent1">
                  <a:alpha val="10000"/>
                </a:schemeClr>
              </a:solidFill>
              <a:ln>
                <a:noFill/>
              </a:ln>
            </p:spPr>
          </p:sp>
          <p:sp>
            <p:nvSpPr>
              <p:cNvPr id="38" name="Rectangle 38"/>
              <p:cNvSpPr/>
              <p:nvPr/>
            </p:nvSpPr>
            <p:spPr>
              <a:xfrm>
                <a:off x="6130290" y="3600450"/>
                <a:ext cx="1700212" cy="152400"/>
              </a:xfrm>
              <a:prstGeom prst="rect">
                <a:avLst/>
              </a:prstGeom>
              <a:solidFill>
                <a:schemeClr val="accent3"/>
              </a:solidFill>
              <a:ln>
                <a:noFill/>
              </a:ln>
            </p:spPr>
          </p:sp>
          <p:sp>
            <p:nvSpPr>
              <p:cNvPr id="39" name="Ellipse 39"/>
              <p:cNvSpPr/>
              <p:nvPr/>
            </p:nvSpPr>
            <p:spPr>
              <a:xfrm>
                <a:off x="7782878" y="3629025"/>
                <a:ext cx="95250" cy="95250"/>
              </a:xfrm>
              <a:prstGeom prst="ellipse">
                <a:avLst/>
              </a:prstGeom>
              <a:solidFill>
                <a:schemeClr val="lt1"/>
              </a:solidFill>
              <a:ln w="19050">
                <a:solidFill>
                  <a:schemeClr val="accent1"/>
                </a:solidFill>
              </a:ln>
            </p:spPr>
          </p:sp>
          <p:sp>
            <p:nvSpPr>
              <p:cNvPr id="40" name="TextBox 40"/>
              <p:cNvSpPr txBox="1"/>
              <p:nvPr/>
            </p:nvSpPr>
            <p:spPr>
              <a:xfrm>
                <a:off x="527304" y="3880485"/>
                <a:ext cx="795680" cy="234696"/>
              </a:xfrm>
              <a:prstGeom prst="rect">
                <a:avLst/>
              </a:prstGeom>
              <a:noFill/>
              <a:ln>
                <a:noFill/>
              </a:ln>
            </p:spPr>
            <p:txBody>
              <a:bodyPr wrap="none" lIns="0" tIns="0" rIns="0" bIns="0" anchor="t" anchorCtr="0">
                <a:spAutoFit/>
              </a:bodyPr>
              <a:lstStyle/>
              <a:p>
                <a:pPr algn="l"/>
                <a:r>
                  <a:rPr lang="ja-JP" sz="1200" dirty="0">
                    <a:solidFill>
                      <a:schemeClr val="accent2"/>
                    </a:solidFill>
                    <a:latin typeface="+mn-lt"/>
                    <a:ea typeface="+mn-ea"/>
                    <a:cs typeface="+mn-cs"/>
                  </a:rPr>
                  <a:t>08/25(月)</a:t>
                </a:r>
              </a:p>
            </p:txBody>
          </p:sp>
          <p:sp>
            <p:nvSpPr>
              <p:cNvPr id="41" name="Rectangle 41"/>
              <p:cNvSpPr/>
              <p:nvPr/>
            </p:nvSpPr>
            <p:spPr>
              <a:xfrm>
                <a:off x="1980248" y="3886200"/>
                <a:ext cx="4150042" cy="152400"/>
              </a:xfrm>
              <a:prstGeom prst="rect">
                <a:avLst/>
              </a:prstGeom>
              <a:solidFill>
                <a:schemeClr val="accent1">
                  <a:alpha val="10000"/>
                </a:schemeClr>
              </a:solidFill>
              <a:ln>
                <a:noFill/>
              </a:ln>
            </p:spPr>
          </p:sp>
          <p:sp>
            <p:nvSpPr>
              <p:cNvPr id="42" name="Rectangle 42"/>
              <p:cNvSpPr/>
              <p:nvPr/>
            </p:nvSpPr>
            <p:spPr>
              <a:xfrm>
                <a:off x="6130290" y="3886200"/>
                <a:ext cx="1700212" cy="152400"/>
              </a:xfrm>
              <a:prstGeom prst="rect">
                <a:avLst/>
              </a:prstGeom>
              <a:solidFill>
                <a:schemeClr val="accent2"/>
              </a:solidFill>
              <a:ln>
                <a:noFill/>
              </a:ln>
            </p:spPr>
          </p:sp>
          <p:sp>
            <p:nvSpPr>
              <p:cNvPr id="43" name="Ellipse 43"/>
              <p:cNvSpPr/>
              <p:nvPr/>
            </p:nvSpPr>
            <p:spPr>
              <a:xfrm>
                <a:off x="7782878" y="3914775"/>
                <a:ext cx="95250" cy="95250"/>
              </a:xfrm>
              <a:prstGeom prst="ellipse">
                <a:avLst/>
              </a:prstGeom>
              <a:solidFill>
                <a:schemeClr val="lt1"/>
              </a:solidFill>
              <a:ln w="19050">
                <a:solidFill>
                  <a:schemeClr val="accent1"/>
                </a:solidFill>
              </a:ln>
            </p:spPr>
          </p:sp>
          <p:sp>
            <p:nvSpPr>
              <p:cNvPr id="44" name="TextBox 44"/>
              <p:cNvSpPr txBox="1"/>
              <p:nvPr/>
            </p:nvSpPr>
            <p:spPr>
              <a:xfrm>
                <a:off x="8090154" y="3880485"/>
                <a:ext cx="658368" cy="234696"/>
              </a:xfrm>
              <a:prstGeom prst="rect">
                <a:avLst/>
              </a:prstGeom>
              <a:noFill/>
              <a:ln>
                <a:noFill/>
              </a:ln>
            </p:spPr>
            <p:txBody>
              <a:bodyPr wrap="none" lIns="0" tIns="0" rIns="0" bIns="0" anchor="t" anchorCtr="0">
                <a:spAutoFit/>
              </a:bodyPr>
              <a:lstStyle/>
              <a:p>
                <a:pPr algn="l"/>
                <a:r>
                  <a:rPr lang="ja-JP" sz="1200" dirty="0">
                    <a:solidFill>
                      <a:schemeClr val="accent2"/>
                    </a:solidFill>
                    <a:latin typeface="+mn-lt"/>
                    <a:ea typeface="+mn-ea"/>
                    <a:cs typeface="+mn-cs"/>
                  </a:rPr>
                  <a:t>休日明け</a:t>
                </a:r>
              </a:p>
            </p:txBody>
          </p:sp>
          <p:sp>
            <p:nvSpPr>
              <p:cNvPr id="45" name="TextBox 45"/>
              <p:cNvSpPr txBox="1"/>
              <p:nvPr/>
            </p:nvSpPr>
            <p:spPr>
              <a:xfrm>
                <a:off x="527304" y="4166235"/>
                <a:ext cx="795680" cy="234696"/>
              </a:xfrm>
              <a:prstGeom prst="rect">
                <a:avLst/>
              </a:prstGeom>
              <a:noFill/>
              <a:ln>
                <a:noFill/>
              </a:ln>
            </p:spPr>
            <p:txBody>
              <a:bodyPr wrap="none" lIns="0" tIns="0" rIns="0" bIns="0" anchor="t" anchorCtr="0">
                <a:spAutoFit/>
              </a:bodyPr>
              <a:lstStyle/>
              <a:p>
                <a:pPr algn="l"/>
                <a:r>
                  <a:rPr lang="ja-JP" sz="1200" dirty="0">
                    <a:solidFill>
                      <a:schemeClr val="dk1"/>
                    </a:solidFill>
                    <a:latin typeface="+mn-lt"/>
                    <a:ea typeface="+mn-ea"/>
                    <a:cs typeface="+mn-cs"/>
                  </a:rPr>
                  <a:t>08/26(火)</a:t>
                </a:r>
              </a:p>
            </p:txBody>
          </p:sp>
          <p:sp>
            <p:nvSpPr>
              <p:cNvPr id="46" name="Rectangle 46"/>
              <p:cNvSpPr/>
              <p:nvPr/>
            </p:nvSpPr>
            <p:spPr>
              <a:xfrm>
                <a:off x="1980248" y="4171950"/>
                <a:ext cx="4150042" cy="152400"/>
              </a:xfrm>
              <a:prstGeom prst="rect">
                <a:avLst/>
              </a:prstGeom>
              <a:solidFill>
                <a:schemeClr val="accent1">
                  <a:alpha val="10000"/>
                </a:schemeClr>
              </a:solidFill>
              <a:ln>
                <a:noFill/>
              </a:ln>
            </p:spPr>
          </p:sp>
          <p:sp>
            <p:nvSpPr>
              <p:cNvPr id="47" name="Rectangle 47"/>
              <p:cNvSpPr/>
              <p:nvPr/>
            </p:nvSpPr>
            <p:spPr>
              <a:xfrm>
                <a:off x="6130290" y="4171950"/>
                <a:ext cx="1700212" cy="152400"/>
              </a:xfrm>
              <a:prstGeom prst="rect">
                <a:avLst/>
              </a:prstGeom>
              <a:solidFill>
                <a:schemeClr val="accent3"/>
              </a:solidFill>
              <a:ln>
                <a:noFill/>
              </a:ln>
            </p:spPr>
          </p:sp>
          <p:sp>
            <p:nvSpPr>
              <p:cNvPr id="48" name="Ellipse 48"/>
              <p:cNvSpPr/>
              <p:nvPr/>
            </p:nvSpPr>
            <p:spPr>
              <a:xfrm>
                <a:off x="7782878" y="4200525"/>
                <a:ext cx="95250" cy="95250"/>
              </a:xfrm>
              <a:prstGeom prst="ellipse">
                <a:avLst/>
              </a:prstGeom>
              <a:solidFill>
                <a:schemeClr val="lt1"/>
              </a:solidFill>
              <a:ln w="19050">
                <a:solidFill>
                  <a:schemeClr val="accent1"/>
                </a:solidFill>
              </a:ln>
            </p:spPr>
          </p:sp>
          <p:sp>
            <p:nvSpPr>
              <p:cNvPr id="49" name="TextBox 49"/>
              <p:cNvSpPr txBox="1"/>
              <p:nvPr/>
            </p:nvSpPr>
            <p:spPr>
              <a:xfrm>
                <a:off x="527304" y="4451985"/>
                <a:ext cx="795680" cy="234696"/>
              </a:xfrm>
              <a:prstGeom prst="rect">
                <a:avLst/>
              </a:prstGeom>
              <a:noFill/>
              <a:ln>
                <a:noFill/>
              </a:ln>
            </p:spPr>
            <p:txBody>
              <a:bodyPr wrap="none" lIns="0" tIns="0" rIns="0" bIns="0" anchor="t" anchorCtr="0">
                <a:spAutoFit/>
              </a:bodyPr>
              <a:lstStyle/>
              <a:p>
                <a:pPr algn="l"/>
                <a:r>
                  <a:rPr lang="ja-JP" sz="1200" dirty="0">
                    <a:solidFill>
                      <a:schemeClr val="dk1"/>
                    </a:solidFill>
                    <a:latin typeface="+mn-lt"/>
                    <a:ea typeface="+mn-ea"/>
                    <a:cs typeface="+mn-cs"/>
                  </a:rPr>
                  <a:t>08/27(水)</a:t>
                </a:r>
              </a:p>
            </p:txBody>
          </p:sp>
          <p:sp>
            <p:nvSpPr>
              <p:cNvPr id="50" name="Rectangle 50"/>
              <p:cNvSpPr/>
              <p:nvPr/>
            </p:nvSpPr>
            <p:spPr>
              <a:xfrm>
                <a:off x="1980248" y="4457700"/>
                <a:ext cx="4150042" cy="152400"/>
              </a:xfrm>
              <a:prstGeom prst="rect">
                <a:avLst/>
              </a:prstGeom>
              <a:solidFill>
                <a:schemeClr val="accent1">
                  <a:alpha val="10000"/>
                </a:schemeClr>
              </a:solidFill>
              <a:ln>
                <a:noFill/>
              </a:ln>
            </p:spPr>
          </p:sp>
          <p:sp>
            <p:nvSpPr>
              <p:cNvPr id="51" name="Rectangle 51"/>
              <p:cNvSpPr/>
              <p:nvPr/>
            </p:nvSpPr>
            <p:spPr>
              <a:xfrm>
                <a:off x="6130290" y="4457700"/>
                <a:ext cx="1700212" cy="152400"/>
              </a:xfrm>
              <a:prstGeom prst="rect">
                <a:avLst/>
              </a:prstGeom>
              <a:solidFill>
                <a:schemeClr val="accent3"/>
              </a:solidFill>
              <a:ln>
                <a:noFill/>
              </a:ln>
            </p:spPr>
          </p:sp>
          <p:sp>
            <p:nvSpPr>
              <p:cNvPr id="52" name="Ellipse 52"/>
              <p:cNvSpPr/>
              <p:nvPr/>
            </p:nvSpPr>
            <p:spPr>
              <a:xfrm>
                <a:off x="7782878" y="4486275"/>
                <a:ext cx="95250" cy="95250"/>
              </a:xfrm>
              <a:prstGeom prst="ellipse">
                <a:avLst/>
              </a:prstGeom>
              <a:solidFill>
                <a:schemeClr val="lt1"/>
              </a:solidFill>
              <a:ln w="19050">
                <a:solidFill>
                  <a:schemeClr val="accent1"/>
                </a:solidFill>
              </a:ln>
            </p:spPr>
          </p:sp>
          <p:sp>
            <p:nvSpPr>
              <p:cNvPr id="53" name="TextBox 53"/>
              <p:cNvSpPr txBox="1"/>
              <p:nvPr/>
            </p:nvSpPr>
            <p:spPr>
              <a:xfrm>
                <a:off x="527304" y="4737735"/>
                <a:ext cx="795680" cy="234696"/>
              </a:xfrm>
              <a:prstGeom prst="rect">
                <a:avLst/>
              </a:prstGeom>
              <a:noFill/>
              <a:ln>
                <a:noFill/>
              </a:ln>
            </p:spPr>
            <p:txBody>
              <a:bodyPr wrap="none" lIns="0" tIns="0" rIns="0" bIns="0" anchor="t" anchorCtr="0">
                <a:spAutoFit/>
              </a:bodyPr>
              <a:lstStyle/>
              <a:p>
                <a:pPr algn="l"/>
                <a:r>
                  <a:rPr lang="ja-JP" sz="1200" dirty="0">
                    <a:solidFill>
                      <a:schemeClr val="dk1"/>
                    </a:solidFill>
                    <a:latin typeface="+mn-lt"/>
                    <a:ea typeface="+mn-ea"/>
                    <a:cs typeface="+mn-cs"/>
                  </a:rPr>
                  <a:t>08/28(木)</a:t>
                </a:r>
              </a:p>
            </p:txBody>
          </p:sp>
          <p:sp>
            <p:nvSpPr>
              <p:cNvPr id="54" name="Rectangle 54"/>
              <p:cNvSpPr/>
              <p:nvPr/>
            </p:nvSpPr>
            <p:spPr>
              <a:xfrm>
                <a:off x="1980248" y="4743450"/>
                <a:ext cx="4150042" cy="152400"/>
              </a:xfrm>
              <a:prstGeom prst="rect">
                <a:avLst/>
              </a:prstGeom>
              <a:solidFill>
                <a:schemeClr val="accent1">
                  <a:alpha val="10000"/>
                </a:schemeClr>
              </a:solidFill>
              <a:ln>
                <a:noFill/>
              </a:ln>
            </p:spPr>
          </p:sp>
          <p:sp>
            <p:nvSpPr>
              <p:cNvPr id="55" name="Rectangle 55"/>
              <p:cNvSpPr/>
              <p:nvPr/>
            </p:nvSpPr>
            <p:spPr>
              <a:xfrm>
                <a:off x="6130290" y="4743450"/>
                <a:ext cx="1700212" cy="152400"/>
              </a:xfrm>
              <a:prstGeom prst="rect">
                <a:avLst/>
              </a:prstGeom>
              <a:solidFill>
                <a:schemeClr val="accent3"/>
              </a:solidFill>
              <a:ln>
                <a:noFill/>
              </a:ln>
            </p:spPr>
          </p:sp>
          <p:sp>
            <p:nvSpPr>
              <p:cNvPr id="56" name="Ellipse 56"/>
              <p:cNvSpPr/>
              <p:nvPr/>
            </p:nvSpPr>
            <p:spPr>
              <a:xfrm>
                <a:off x="7782878" y="4772025"/>
                <a:ext cx="95250" cy="95250"/>
              </a:xfrm>
              <a:prstGeom prst="ellipse">
                <a:avLst/>
              </a:prstGeom>
              <a:solidFill>
                <a:schemeClr val="lt1"/>
              </a:solidFill>
              <a:ln w="19050">
                <a:solidFill>
                  <a:schemeClr val="accent1"/>
                </a:solidFill>
              </a:ln>
            </p:spPr>
          </p:sp>
          <p:sp>
            <p:nvSpPr>
              <p:cNvPr id="57" name="TextBox 57"/>
              <p:cNvSpPr txBox="1"/>
              <p:nvPr/>
            </p:nvSpPr>
            <p:spPr>
              <a:xfrm>
                <a:off x="527304" y="5023485"/>
                <a:ext cx="795680" cy="234696"/>
              </a:xfrm>
              <a:prstGeom prst="rect">
                <a:avLst/>
              </a:prstGeom>
              <a:noFill/>
              <a:ln>
                <a:noFill/>
              </a:ln>
            </p:spPr>
            <p:txBody>
              <a:bodyPr wrap="none" lIns="0" tIns="0" rIns="0" bIns="0" anchor="t" anchorCtr="0">
                <a:spAutoFit/>
              </a:bodyPr>
              <a:lstStyle/>
              <a:p>
                <a:pPr algn="l"/>
                <a:r>
                  <a:rPr lang="ja-JP" sz="1200" dirty="0">
                    <a:solidFill>
                      <a:schemeClr val="dk1"/>
                    </a:solidFill>
                    <a:latin typeface="+mn-lt"/>
                    <a:ea typeface="+mn-ea"/>
                    <a:cs typeface="+mn-cs"/>
                  </a:rPr>
                  <a:t>08/29(金)</a:t>
                </a:r>
              </a:p>
            </p:txBody>
          </p:sp>
          <p:sp>
            <p:nvSpPr>
              <p:cNvPr id="58" name="Rectangle 58"/>
              <p:cNvSpPr/>
              <p:nvPr/>
            </p:nvSpPr>
            <p:spPr>
              <a:xfrm>
                <a:off x="1980248" y="5029200"/>
                <a:ext cx="4150042" cy="152400"/>
              </a:xfrm>
              <a:prstGeom prst="rect">
                <a:avLst/>
              </a:prstGeom>
              <a:solidFill>
                <a:schemeClr val="accent1">
                  <a:alpha val="10000"/>
                </a:schemeClr>
              </a:solidFill>
              <a:ln>
                <a:noFill/>
              </a:ln>
            </p:spPr>
          </p:sp>
          <p:sp>
            <p:nvSpPr>
              <p:cNvPr id="59" name="Rectangle 59"/>
              <p:cNvSpPr/>
              <p:nvPr/>
            </p:nvSpPr>
            <p:spPr>
              <a:xfrm>
                <a:off x="6130290" y="5029200"/>
                <a:ext cx="1700212" cy="152400"/>
              </a:xfrm>
              <a:prstGeom prst="rect">
                <a:avLst/>
              </a:prstGeom>
              <a:solidFill>
                <a:schemeClr val="accent3"/>
              </a:solidFill>
              <a:ln>
                <a:noFill/>
              </a:ln>
            </p:spPr>
          </p:sp>
          <p:sp>
            <p:nvSpPr>
              <p:cNvPr id="60" name="Ellipse 60"/>
              <p:cNvSpPr/>
              <p:nvPr/>
            </p:nvSpPr>
            <p:spPr>
              <a:xfrm>
                <a:off x="7782878" y="5057775"/>
                <a:ext cx="95250" cy="95250"/>
              </a:xfrm>
              <a:prstGeom prst="ellipse">
                <a:avLst/>
              </a:prstGeom>
              <a:solidFill>
                <a:schemeClr val="lt1"/>
              </a:solidFill>
              <a:ln w="19050">
                <a:solidFill>
                  <a:schemeClr val="accent1"/>
                </a:solidFill>
              </a:ln>
            </p:spPr>
          </p:sp>
        </p:grpSp>
        <p:sp>
          <p:nvSpPr>
            <p:cNvPr id="62" name="Line 62"/>
            <p:cNvSpPr/>
            <p:nvPr/>
          </p:nvSpPr>
          <p:spPr>
            <a:xfrm>
              <a:off x="1809750" y="5391150"/>
              <a:ext cx="9525" cy="57150"/>
            </a:xfrm>
            <a:custGeom>
              <a:avLst/>
              <a:gdLst/>
              <a:ahLst/>
              <a:cxnLst/>
              <a:rect l="l" t="t" r="r" b="b"/>
              <a:pathLst>
                <a:path w="9525" h="57150">
                  <a:moveTo>
                    <a:pt x="0" y="0"/>
                  </a:moveTo>
                  <a:lnTo>
                    <a:pt x="0" y="57150"/>
                  </a:lnTo>
                </a:path>
              </a:pathLst>
            </a:custGeom>
            <a:noFill/>
            <a:ln w="9525">
              <a:solidFill>
                <a:srgbClr val="667685"/>
              </a:solidFill>
            </a:ln>
          </p:spPr>
        </p:sp>
        <p:sp>
          <p:nvSpPr>
            <p:cNvPr id="63" name="Line 63"/>
            <p:cNvSpPr/>
            <p:nvPr/>
          </p:nvSpPr>
          <p:spPr>
            <a:xfrm>
              <a:off x="2829878" y="5391150"/>
              <a:ext cx="9525" cy="57150"/>
            </a:xfrm>
            <a:custGeom>
              <a:avLst/>
              <a:gdLst/>
              <a:ahLst/>
              <a:cxnLst/>
              <a:rect l="l" t="t" r="r" b="b"/>
              <a:pathLst>
                <a:path w="9525" h="57150">
                  <a:moveTo>
                    <a:pt x="0" y="0"/>
                  </a:moveTo>
                  <a:lnTo>
                    <a:pt x="0" y="57150"/>
                  </a:lnTo>
                </a:path>
              </a:pathLst>
            </a:custGeom>
            <a:noFill/>
            <a:ln w="9525">
              <a:solidFill>
                <a:srgbClr val="667685"/>
              </a:solidFill>
            </a:ln>
          </p:spPr>
        </p:sp>
        <p:sp>
          <p:nvSpPr>
            <p:cNvPr id="64" name="Line 64"/>
            <p:cNvSpPr/>
            <p:nvPr/>
          </p:nvSpPr>
          <p:spPr>
            <a:xfrm>
              <a:off x="3850958" y="5391150"/>
              <a:ext cx="9525" cy="57150"/>
            </a:xfrm>
            <a:custGeom>
              <a:avLst/>
              <a:gdLst/>
              <a:ahLst/>
              <a:cxnLst/>
              <a:rect l="l" t="t" r="r" b="b"/>
              <a:pathLst>
                <a:path w="9525" h="57150">
                  <a:moveTo>
                    <a:pt x="0" y="0"/>
                  </a:moveTo>
                  <a:lnTo>
                    <a:pt x="0" y="57150"/>
                  </a:lnTo>
                </a:path>
              </a:pathLst>
            </a:custGeom>
            <a:noFill/>
            <a:ln w="9525">
              <a:solidFill>
                <a:srgbClr val="667685"/>
              </a:solidFill>
            </a:ln>
          </p:spPr>
        </p:sp>
        <p:sp>
          <p:nvSpPr>
            <p:cNvPr id="65" name="Line 65"/>
            <p:cNvSpPr/>
            <p:nvPr/>
          </p:nvSpPr>
          <p:spPr>
            <a:xfrm>
              <a:off x="4871085" y="5391150"/>
              <a:ext cx="9525" cy="57150"/>
            </a:xfrm>
            <a:custGeom>
              <a:avLst/>
              <a:gdLst/>
              <a:ahLst/>
              <a:cxnLst/>
              <a:rect l="l" t="t" r="r" b="b"/>
              <a:pathLst>
                <a:path w="9525" h="57150">
                  <a:moveTo>
                    <a:pt x="0" y="0"/>
                  </a:moveTo>
                  <a:lnTo>
                    <a:pt x="0" y="57150"/>
                  </a:lnTo>
                </a:path>
              </a:pathLst>
            </a:custGeom>
            <a:noFill/>
            <a:ln w="9525">
              <a:solidFill>
                <a:srgbClr val="667685"/>
              </a:solidFill>
            </a:ln>
          </p:spPr>
        </p:sp>
        <p:sp>
          <p:nvSpPr>
            <p:cNvPr id="66" name="Line 66"/>
            <p:cNvSpPr/>
            <p:nvPr/>
          </p:nvSpPr>
          <p:spPr>
            <a:xfrm>
              <a:off x="5892165" y="5391150"/>
              <a:ext cx="9525" cy="57150"/>
            </a:xfrm>
            <a:custGeom>
              <a:avLst/>
              <a:gdLst/>
              <a:ahLst/>
              <a:cxnLst/>
              <a:rect l="l" t="t" r="r" b="b"/>
              <a:pathLst>
                <a:path w="9525" h="57150">
                  <a:moveTo>
                    <a:pt x="0" y="0"/>
                  </a:moveTo>
                  <a:lnTo>
                    <a:pt x="0" y="57150"/>
                  </a:lnTo>
                </a:path>
              </a:pathLst>
            </a:custGeom>
            <a:noFill/>
            <a:ln w="9525">
              <a:solidFill>
                <a:srgbClr val="667685"/>
              </a:solidFill>
            </a:ln>
          </p:spPr>
        </p:sp>
        <p:sp>
          <p:nvSpPr>
            <p:cNvPr id="67" name="Line 67"/>
            <p:cNvSpPr/>
            <p:nvPr/>
          </p:nvSpPr>
          <p:spPr>
            <a:xfrm>
              <a:off x="6912292" y="5391150"/>
              <a:ext cx="9525" cy="57150"/>
            </a:xfrm>
            <a:custGeom>
              <a:avLst/>
              <a:gdLst/>
              <a:ahLst/>
              <a:cxnLst/>
              <a:rect l="l" t="t" r="r" b="b"/>
              <a:pathLst>
                <a:path w="9525" h="57150">
                  <a:moveTo>
                    <a:pt x="0" y="0"/>
                  </a:moveTo>
                  <a:lnTo>
                    <a:pt x="0" y="57150"/>
                  </a:lnTo>
                </a:path>
              </a:pathLst>
            </a:custGeom>
            <a:noFill/>
            <a:ln w="9525">
              <a:solidFill>
                <a:srgbClr val="667685"/>
              </a:solidFill>
            </a:ln>
          </p:spPr>
        </p:sp>
        <p:sp>
          <p:nvSpPr>
            <p:cNvPr id="68" name="Line 68"/>
            <p:cNvSpPr/>
            <p:nvPr/>
          </p:nvSpPr>
          <p:spPr>
            <a:xfrm>
              <a:off x="7933372" y="5391150"/>
              <a:ext cx="9525" cy="57150"/>
            </a:xfrm>
            <a:custGeom>
              <a:avLst/>
              <a:gdLst/>
              <a:ahLst/>
              <a:cxnLst/>
              <a:rect l="l" t="t" r="r" b="b"/>
              <a:pathLst>
                <a:path w="9525" h="57150">
                  <a:moveTo>
                    <a:pt x="0" y="0"/>
                  </a:moveTo>
                  <a:lnTo>
                    <a:pt x="0" y="57150"/>
                  </a:lnTo>
                </a:path>
              </a:pathLst>
            </a:custGeom>
            <a:noFill/>
            <a:ln w="9525">
              <a:solidFill>
                <a:srgbClr val="667685"/>
              </a:solidFill>
            </a:ln>
          </p:spPr>
        </p:sp>
        <p:sp>
          <p:nvSpPr>
            <p:cNvPr id="69" name="Line 69"/>
            <p:cNvSpPr/>
            <p:nvPr/>
          </p:nvSpPr>
          <p:spPr>
            <a:xfrm>
              <a:off x="8953500" y="5391150"/>
              <a:ext cx="9525" cy="57150"/>
            </a:xfrm>
            <a:custGeom>
              <a:avLst/>
              <a:gdLst/>
              <a:ahLst/>
              <a:cxnLst/>
              <a:rect l="l" t="t" r="r" b="b"/>
              <a:pathLst>
                <a:path w="9525" h="57150">
                  <a:moveTo>
                    <a:pt x="0" y="0"/>
                  </a:moveTo>
                  <a:lnTo>
                    <a:pt x="0" y="57150"/>
                  </a:lnTo>
                </a:path>
              </a:pathLst>
            </a:custGeom>
            <a:noFill/>
            <a:ln w="9525">
              <a:solidFill>
                <a:srgbClr val="667685"/>
              </a:solidFill>
            </a:ln>
          </p:spPr>
        </p:sp>
        <p:sp>
          <p:nvSpPr>
            <p:cNvPr id="70" name="TextBox 70"/>
            <p:cNvSpPr txBox="1"/>
            <p:nvPr/>
          </p:nvSpPr>
          <p:spPr>
            <a:xfrm>
              <a:off x="1581531" y="54902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05:00</a:t>
              </a:r>
            </a:p>
          </p:txBody>
        </p:sp>
        <p:sp>
          <p:nvSpPr>
            <p:cNvPr id="71" name="TextBox 71"/>
            <p:cNvSpPr txBox="1"/>
            <p:nvPr/>
          </p:nvSpPr>
          <p:spPr>
            <a:xfrm>
              <a:off x="2601659" y="54902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05:30</a:t>
              </a:r>
            </a:p>
          </p:txBody>
        </p:sp>
        <p:sp>
          <p:nvSpPr>
            <p:cNvPr id="72" name="TextBox 72"/>
            <p:cNvSpPr txBox="1"/>
            <p:nvPr/>
          </p:nvSpPr>
          <p:spPr>
            <a:xfrm>
              <a:off x="3622739" y="54902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06:00</a:t>
              </a:r>
            </a:p>
          </p:txBody>
        </p:sp>
        <p:sp>
          <p:nvSpPr>
            <p:cNvPr id="73" name="TextBox 73"/>
            <p:cNvSpPr txBox="1"/>
            <p:nvPr/>
          </p:nvSpPr>
          <p:spPr>
            <a:xfrm>
              <a:off x="4642866" y="54902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06:30</a:t>
              </a:r>
            </a:p>
          </p:txBody>
        </p:sp>
        <p:sp>
          <p:nvSpPr>
            <p:cNvPr id="74" name="TextBox 74"/>
            <p:cNvSpPr txBox="1"/>
            <p:nvPr/>
          </p:nvSpPr>
          <p:spPr>
            <a:xfrm>
              <a:off x="5663946" y="54902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07:00</a:t>
              </a:r>
            </a:p>
          </p:txBody>
        </p:sp>
        <p:sp>
          <p:nvSpPr>
            <p:cNvPr id="75" name="TextBox 75"/>
            <p:cNvSpPr txBox="1"/>
            <p:nvPr/>
          </p:nvSpPr>
          <p:spPr>
            <a:xfrm>
              <a:off x="6684074" y="54902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07:30</a:t>
              </a:r>
            </a:p>
          </p:txBody>
        </p:sp>
        <p:sp>
          <p:nvSpPr>
            <p:cNvPr id="76" name="TextBox 76"/>
            <p:cNvSpPr txBox="1"/>
            <p:nvPr/>
          </p:nvSpPr>
          <p:spPr>
            <a:xfrm>
              <a:off x="7705153" y="54902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08:00</a:t>
              </a:r>
            </a:p>
          </p:txBody>
        </p:sp>
        <p:sp>
          <p:nvSpPr>
            <p:cNvPr id="77" name="TextBox 77"/>
            <p:cNvSpPr txBox="1"/>
            <p:nvPr/>
          </p:nvSpPr>
          <p:spPr>
            <a:xfrm>
              <a:off x="8503158" y="5490210"/>
              <a:ext cx="456438"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08:30</a:t>
              </a:r>
            </a:p>
          </p:txBody>
        </p:sp>
        <p:sp>
          <p:nvSpPr>
            <p:cNvPr id="78" name="TextBox 78"/>
            <p:cNvSpPr txBox="1"/>
            <p:nvPr/>
          </p:nvSpPr>
          <p:spPr>
            <a:xfrm>
              <a:off x="1566253" y="5699760"/>
              <a:ext cx="827989"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現行 05:05</a:t>
              </a:r>
            </a:p>
          </p:txBody>
        </p:sp>
        <p:sp>
          <p:nvSpPr>
            <p:cNvPr id="79" name="TextBox 79"/>
            <p:cNvSpPr txBox="1"/>
            <p:nvPr/>
          </p:nvSpPr>
          <p:spPr>
            <a:xfrm>
              <a:off x="7519378" y="5699760"/>
              <a:ext cx="827989" cy="234696"/>
            </a:xfrm>
            <a:prstGeom prst="rect">
              <a:avLst/>
            </a:prstGeom>
            <a:noFill/>
            <a:ln>
              <a:noFill/>
            </a:ln>
          </p:spPr>
          <p:txBody>
            <a:bodyPr wrap="none" lIns="0" tIns="0" rIns="0" bIns="0" anchor="t" anchorCtr="0">
              <a:spAutoFit/>
            </a:bodyPr>
            <a:lstStyle/>
            <a:p>
              <a:pPr algn="ctr"/>
              <a:r>
                <a:rPr lang="ja-JP" sz="1200" dirty="0">
                  <a:solidFill>
                    <a:schemeClr val="accent2"/>
                  </a:solidFill>
                  <a:latin typeface="+mn-lt"/>
                  <a:ea typeface="+mn-ea"/>
                  <a:cs typeface="+mn-cs"/>
                </a:rPr>
                <a:t>始業 08:00</a:t>
              </a:r>
            </a:p>
          </p:txBody>
        </p:sp>
      </p:grpSp>
      <p:grpSp>
        <p:nvGrpSpPr>
          <p:cNvPr id="84" name="Group 84"/>
          <p:cNvGrpSpPr/>
          <p:nvPr/>
        </p:nvGrpSpPr>
        <p:grpSpPr>
          <a:xfrm>
            <a:off x="527304" y="6153150"/>
            <a:ext cx="11137392" cy="314706"/>
            <a:chOff x="527304" y="6153150"/>
            <a:chExt cx="11137392" cy="314706"/>
          </a:xfrm>
        </p:grpSpPr>
        <p:sp>
          <p:nvSpPr>
            <p:cNvPr id="81" name="Line 81"/>
            <p:cNvSpPr/>
            <p:nvPr/>
          </p:nvSpPr>
          <p:spPr>
            <a:xfrm>
              <a:off x="533400" y="61531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82" name="TextBox 82"/>
            <p:cNvSpPr txBox="1"/>
            <p:nvPr/>
          </p:nvSpPr>
          <p:spPr>
            <a:xfrm>
              <a:off x="527304" y="6233160"/>
              <a:ext cx="2919984"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熱源の起動を、どこまで遅らせてよいか</a:t>
              </a:r>
            </a:p>
          </p:txBody>
        </p:sp>
        <p:sp>
          <p:nvSpPr>
            <p:cNvPr id="83" name="TextBox 83"/>
            <p:cNvSpPr txBox="1"/>
            <p:nvPr/>
          </p:nvSpPr>
          <p:spPr>
            <a:xfrm>
              <a:off x="7452360" y="6233160"/>
              <a:ext cx="4212336"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起動時刻と稼働日は実測、電力量は合成データによる試算</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6542" y="730568"/>
            <a:ext cx="11138916" cy="345757"/>
            <a:chOff x="526542" y="730568"/>
            <a:chExt cx="11138916" cy="345757"/>
          </a:xfrm>
        </p:grpSpPr>
        <p:sp>
          <p:nvSpPr>
            <p:cNvPr id="2" name="TextBox 2"/>
            <p:cNvSpPr txBox="1"/>
            <p:nvPr/>
          </p:nvSpPr>
          <p:spPr>
            <a:xfrm>
              <a:off x="526542" y="730568"/>
              <a:ext cx="1903781"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03 何が確かめられたか</a:t>
              </a:r>
            </a:p>
          </p:txBody>
        </p:sp>
        <p:sp>
          <p:nvSpPr>
            <p:cNvPr id="3" name="TextBox 3"/>
            <p:cNvSpPr txBox="1"/>
            <p:nvPr/>
          </p:nvSpPr>
          <p:spPr>
            <a:xfrm>
              <a:off x="11042923" y="730568"/>
              <a:ext cx="622535"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08 / 11</a:t>
              </a:r>
            </a:p>
          </p:txBody>
        </p:sp>
        <p:sp>
          <p:nvSpPr>
            <p:cNvPr id="4" name="Line 4"/>
            <p:cNvSpPr/>
            <p:nvPr/>
          </p:nvSpPr>
          <p:spPr>
            <a:xfrm>
              <a:off x="533400" y="1066800"/>
              <a:ext cx="11125200" cy="9525"/>
            </a:xfrm>
            <a:custGeom>
              <a:avLst/>
              <a:gdLst/>
              <a:ahLst/>
              <a:cxnLst/>
              <a:rect l="l" t="t" r="r" b="b"/>
              <a:pathLst>
                <a:path w="11125200" h="9525">
                  <a:moveTo>
                    <a:pt x="0" y="0"/>
                  </a:moveTo>
                  <a:lnTo>
                    <a:pt x="11125200" y="0"/>
                  </a:lnTo>
                </a:path>
              </a:pathLst>
            </a:custGeom>
            <a:noFill/>
            <a:ln w="14288">
              <a:solidFill>
                <a:schemeClr val="accent1"/>
              </a:solidFill>
            </a:ln>
          </p:spPr>
        </p:sp>
      </p:grpSp>
      <p:grpSp>
        <p:nvGrpSpPr>
          <p:cNvPr id="8" name="Group 8"/>
          <p:cNvGrpSpPr/>
          <p:nvPr/>
        </p:nvGrpSpPr>
        <p:grpSpPr>
          <a:xfrm>
            <a:off x="517398" y="1241108"/>
            <a:ext cx="9887522" cy="994409"/>
            <a:chOff x="517398" y="1241108"/>
            <a:chExt cx="9887522" cy="994409"/>
          </a:xfrm>
        </p:grpSpPr>
        <p:sp>
          <p:nvSpPr>
            <p:cNvPr id="6" name="TextBox 6"/>
            <p:cNvSpPr txBox="1"/>
            <p:nvPr/>
          </p:nvSpPr>
          <p:spPr>
            <a:xfrm>
              <a:off x="517398" y="1241108"/>
              <a:ext cx="7350099" cy="616077"/>
            </a:xfrm>
            <a:prstGeom prst="rect">
              <a:avLst/>
            </a:prstGeom>
            <a:noFill/>
            <a:ln>
              <a:noFill/>
            </a:ln>
          </p:spPr>
          <p:txBody>
            <a:bodyPr wrap="none" lIns="0" tIns="0" rIns="0" bIns="0" anchor="t" anchorCtr="0">
              <a:spAutoFit/>
            </a:bodyPr>
            <a:lstStyle/>
            <a:p>
              <a:pPr algn="l"/>
              <a:r>
                <a:rPr lang="ja-JP" sz="3150" b="1" dirty="0">
                  <a:solidFill>
                    <a:schemeClr val="accent1"/>
                  </a:solidFill>
                  <a:latin typeface="+mn-lt"/>
                  <a:ea typeface="+mn-ea"/>
                  <a:cs typeface="+mn-cs"/>
                </a:rPr>
                <a:t>削れたのは、始業前電力のおよそ 65%</a:t>
              </a:r>
            </a:p>
          </p:txBody>
        </p:sp>
        <p:sp>
          <p:nvSpPr>
            <p:cNvPr id="7" name="TextBox 7"/>
            <p:cNvSpPr txBox="1"/>
            <p:nvPr/>
          </p:nvSpPr>
          <p:spPr>
            <a:xfrm>
              <a:off x="521970" y="1795462"/>
              <a:ext cx="9882950" cy="440055"/>
            </a:xfrm>
            <a:prstGeom prst="rect">
              <a:avLst/>
            </a:prstGeom>
            <a:noFill/>
            <a:ln>
              <a:noFill/>
            </a:ln>
          </p:spPr>
          <p:txBody>
            <a:bodyPr wrap="none" lIns="0" tIns="0" rIns="0" bIns="0" anchor="t" anchorCtr="0">
              <a:spAutoFit/>
            </a:bodyPr>
            <a:lstStyle/>
            <a:p>
              <a:pPr algn="l"/>
              <a:r>
                <a:rPr lang="ja-JP" sz="2250" dirty="0">
                  <a:solidFill>
                    <a:schemeClr val="dk1"/>
                  </a:solidFill>
                  <a:latin typeface="+mn-lt"/>
                  <a:ea typeface="+mn-ea"/>
                  <a:cs typeface="+mn-cs"/>
                </a:rPr>
                <a:t>到達率を落とさずに、始業前の電力を日あたり 25.0 kWh 削減できる。</a:t>
              </a:r>
            </a:p>
          </p:txBody>
        </p:sp>
      </p:grpSp>
      <p:grpSp>
        <p:nvGrpSpPr>
          <p:cNvPr id="21" name="Group 21"/>
          <p:cNvGrpSpPr/>
          <p:nvPr/>
        </p:nvGrpSpPr>
        <p:grpSpPr>
          <a:xfrm>
            <a:off x="514350" y="2495550"/>
            <a:ext cx="11144250" cy="1851851"/>
            <a:chOff x="514350" y="2495550"/>
            <a:chExt cx="11144250" cy="1851851"/>
          </a:xfrm>
        </p:grpSpPr>
        <p:sp>
          <p:nvSpPr>
            <p:cNvPr id="9" name="Line 9"/>
            <p:cNvSpPr/>
            <p:nvPr/>
          </p:nvSpPr>
          <p:spPr>
            <a:xfrm>
              <a:off x="533400" y="2495550"/>
              <a:ext cx="3543300" cy="9525"/>
            </a:xfrm>
            <a:custGeom>
              <a:avLst/>
              <a:gdLst/>
              <a:ahLst/>
              <a:cxnLst/>
              <a:rect l="l" t="t" r="r" b="b"/>
              <a:pathLst>
                <a:path w="3543300" h="9525">
                  <a:moveTo>
                    <a:pt x="0" y="0"/>
                  </a:moveTo>
                  <a:lnTo>
                    <a:pt x="3543300" y="0"/>
                  </a:lnTo>
                </a:path>
              </a:pathLst>
            </a:custGeom>
            <a:noFill/>
            <a:ln w="38100">
              <a:solidFill>
                <a:schemeClr val="accent3"/>
              </a:solidFill>
            </a:ln>
          </p:spPr>
        </p:sp>
        <p:sp>
          <p:nvSpPr>
            <p:cNvPr id="10" name="TextBox 10"/>
            <p:cNvSpPr txBox="1"/>
            <p:nvPr/>
          </p:nvSpPr>
          <p:spPr>
            <a:xfrm>
              <a:off x="526542" y="2635568"/>
              <a:ext cx="1013270"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8:00 到達率</a:t>
              </a:r>
            </a:p>
          </p:txBody>
        </p:sp>
        <p:sp>
          <p:nvSpPr>
            <p:cNvPr id="11" name="TextBox 11"/>
            <p:cNvSpPr txBox="1"/>
            <p:nvPr/>
          </p:nvSpPr>
          <p:spPr>
            <a:xfrm>
              <a:off x="514350" y="2939415"/>
              <a:ext cx="1841385" cy="1219200"/>
            </a:xfrm>
            <a:prstGeom prst="rect">
              <a:avLst/>
            </a:prstGeom>
            <a:noFill/>
            <a:ln>
              <a:noFill/>
            </a:ln>
          </p:spPr>
          <p:txBody>
            <a:bodyPr wrap="none" lIns="0" tIns="0" rIns="0" bIns="0" anchor="t" anchorCtr="0">
              <a:spAutoFit/>
            </a:bodyPr>
            <a:lstStyle/>
            <a:p>
              <a:pPr algn="l"/>
              <a:r>
                <a:rPr lang="ja-JP" sz="6300" b="1" dirty="0">
                  <a:solidFill>
                    <a:schemeClr val="accent1"/>
                  </a:solidFill>
                  <a:latin typeface="+mn-lt"/>
                  <a:ea typeface="+mn-ea"/>
                  <a:cs typeface="+mn-cs"/>
                </a:rPr>
                <a:t>100</a:t>
              </a:r>
              <a:r>
                <a:rPr lang="ja-JP" sz="3150" b="1" dirty="0">
                  <a:solidFill>
                    <a:schemeClr val="accent1"/>
                  </a:solidFill>
                  <a:latin typeface="+mn-lt"/>
                  <a:ea typeface="+mn-ea"/>
                  <a:cs typeface="+mn-cs"/>
                </a:rPr>
                <a:t>%</a:t>
              </a:r>
            </a:p>
          </p:txBody>
        </p:sp>
        <p:sp>
          <p:nvSpPr>
            <p:cNvPr id="12" name="TextBox 12"/>
            <p:cNvSpPr txBox="1"/>
            <p:nvPr/>
          </p:nvSpPr>
          <p:spPr>
            <a:xfrm>
              <a:off x="526542" y="3854768"/>
              <a:ext cx="2011108" cy="4926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9 日すべてが 7:57 前後で</a:t>
              </a:r>
              <a:br/>
              <a:r>
                <a:rPr lang="ja-JP" sz="1350" dirty="0">
                  <a:solidFill>
                    <a:schemeClr val="dk1"/>
                  </a:solidFill>
                  <a:latin typeface="+mn-lt"/>
                  <a:ea typeface="+mn-ea"/>
                  <a:cs typeface="+mn-cs"/>
                </a:rPr>
                <a:t>設定温度へ到達した。</a:t>
              </a:r>
            </a:p>
          </p:txBody>
        </p:sp>
        <p:sp>
          <p:nvSpPr>
            <p:cNvPr id="13" name="Line 13"/>
            <p:cNvSpPr/>
            <p:nvPr/>
          </p:nvSpPr>
          <p:spPr>
            <a:xfrm>
              <a:off x="4324350" y="2495550"/>
              <a:ext cx="3543300" cy="9525"/>
            </a:xfrm>
            <a:custGeom>
              <a:avLst/>
              <a:gdLst/>
              <a:ahLst/>
              <a:cxnLst/>
              <a:rect l="l" t="t" r="r" b="b"/>
              <a:pathLst>
                <a:path w="3543300" h="9525">
                  <a:moveTo>
                    <a:pt x="0" y="0"/>
                  </a:moveTo>
                  <a:lnTo>
                    <a:pt x="3543300" y="0"/>
                  </a:lnTo>
                </a:path>
              </a:pathLst>
            </a:custGeom>
            <a:noFill/>
            <a:ln w="38100">
              <a:solidFill>
                <a:schemeClr val="accent1"/>
              </a:solidFill>
            </a:ln>
          </p:spPr>
        </p:sp>
        <p:sp>
          <p:nvSpPr>
            <p:cNvPr id="14" name="TextBox 14"/>
            <p:cNvSpPr txBox="1"/>
            <p:nvPr/>
          </p:nvSpPr>
          <p:spPr>
            <a:xfrm>
              <a:off x="4317492" y="2635568"/>
              <a:ext cx="1104138"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平均起動遅延</a:t>
              </a:r>
            </a:p>
          </p:txBody>
        </p:sp>
        <p:sp>
          <p:nvSpPr>
            <p:cNvPr id="15" name="TextBox 15"/>
            <p:cNvSpPr txBox="1"/>
            <p:nvPr/>
          </p:nvSpPr>
          <p:spPr>
            <a:xfrm>
              <a:off x="4305300" y="2939415"/>
              <a:ext cx="2421278" cy="1219200"/>
            </a:xfrm>
            <a:prstGeom prst="rect">
              <a:avLst/>
            </a:prstGeom>
            <a:noFill/>
            <a:ln>
              <a:noFill/>
            </a:ln>
          </p:spPr>
          <p:txBody>
            <a:bodyPr wrap="none" lIns="0" tIns="0" rIns="0" bIns="0" anchor="t" anchorCtr="0">
              <a:spAutoFit/>
            </a:bodyPr>
            <a:lstStyle/>
            <a:p>
              <a:pPr algn="l"/>
              <a:r>
                <a:rPr lang="ja-JP" sz="6300" b="1" dirty="0">
                  <a:solidFill>
                    <a:schemeClr val="accent1"/>
                  </a:solidFill>
                  <a:latin typeface="+mn-lt"/>
                  <a:ea typeface="+mn-ea"/>
                  <a:cs typeface="+mn-cs"/>
                </a:rPr>
                <a:t>+121</a:t>
              </a:r>
              <a:r>
                <a:rPr lang="ja-JP" sz="3150" b="1" dirty="0">
                  <a:solidFill>
                    <a:schemeClr val="accent1"/>
                  </a:solidFill>
                  <a:latin typeface="+mn-lt"/>
                  <a:ea typeface="+mn-ea"/>
                  <a:cs typeface="+mn-cs"/>
                </a:rPr>
                <a:t>分</a:t>
              </a:r>
            </a:p>
          </p:txBody>
        </p:sp>
        <p:sp>
          <p:nvSpPr>
            <p:cNvPr id="16" name="TextBox 16"/>
            <p:cNvSpPr txBox="1"/>
            <p:nvPr/>
          </p:nvSpPr>
          <p:spPr>
            <a:xfrm>
              <a:off x="4317492" y="3854768"/>
              <a:ext cx="2499741" cy="4926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現行 05:05 に対して、約 2 時間</a:t>
              </a:r>
              <a:br/>
              <a:r>
                <a:rPr lang="ja-JP" sz="1350" dirty="0">
                  <a:solidFill>
                    <a:schemeClr val="dk1"/>
                  </a:solidFill>
                  <a:latin typeface="+mn-lt"/>
                  <a:ea typeface="+mn-ea"/>
                  <a:cs typeface="+mn-cs"/>
                </a:rPr>
                <a:t>後ろ倒しできる。</a:t>
              </a:r>
            </a:p>
          </p:txBody>
        </p:sp>
        <p:sp>
          <p:nvSpPr>
            <p:cNvPr id="17" name="Line 17"/>
            <p:cNvSpPr/>
            <p:nvPr/>
          </p:nvSpPr>
          <p:spPr>
            <a:xfrm>
              <a:off x="8115300" y="2495550"/>
              <a:ext cx="3543300" cy="9525"/>
            </a:xfrm>
            <a:custGeom>
              <a:avLst/>
              <a:gdLst/>
              <a:ahLst/>
              <a:cxnLst/>
              <a:rect l="l" t="t" r="r" b="b"/>
              <a:pathLst>
                <a:path w="3543300" h="9525">
                  <a:moveTo>
                    <a:pt x="0" y="0"/>
                  </a:moveTo>
                  <a:lnTo>
                    <a:pt x="3543300" y="0"/>
                  </a:lnTo>
                </a:path>
              </a:pathLst>
            </a:custGeom>
            <a:noFill/>
            <a:ln w="38100">
              <a:solidFill>
                <a:schemeClr val="accent2"/>
              </a:solidFill>
            </a:ln>
          </p:spPr>
        </p:sp>
        <p:sp>
          <p:nvSpPr>
            <p:cNvPr id="18" name="TextBox 18"/>
            <p:cNvSpPr txBox="1"/>
            <p:nvPr/>
          </p:nvSpPr>
          <p:spPr>
            <a:xfrm>
              <a:off x="8108442" y="2635568"/>
              <a:ext cx="1649349"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日あたり削減電力量</a:t>
              </a:r>
            </a:p>
          </p:txBody>
        </p:sp>
        <p:sp>
          <p:nvSpPr>
            <p:cNvPr id="19" name="TextBox 19"/>
            <p:cNvSpPr txBox="1"/>
            <p:nvPr/>
          </p:nvSpPr>
          <p:spPr>
            <a:xfrm>
              <a:off x="8096250" y="2939415"/>
              <a:ext cx="2972587" cy="1219200"/>
            </a:xfrm>
            <a:prstGeom prst="rect">
              <a:avLst/>
            </a:prstGeom>
            <a:noFill/>
            <a:ln>
              <a:noFill/>
            </a:ln>
          </p:spPr>
          <p:txBody>
            <a:bodyPr wrap="none" lIns="0" tIns="0" rIns="0" bIns="0" anchor="t" anchorCtr="0">
              <a:spAutoFit/>
            </a:bodyPr>
            <a:lstStyle/>
            <a:p>
              <a:pPr algn="l"/>
              <a:r>
                <a:rPr lang="ja-JP" sz="6300" b="1" dirty="0">
                  <a:solidFill>
                    <a:schemeClr val="accent2"/>
                  </a:solidFill>
                  <a:latin typeface="+mn-lt"/>
                  <a:ea typeface="+mn-ea"/>
                  <a:cs typeface="+mn-cs"/>
                </a:rPr>
                <a:t>25.0</a:t>
              </a:r>
              <a:r>
                <a:rPr lang="ja-JP" sz="3150" b="1" dirty="0">
                  <a:solidFill>
                    <a:schemeClr val="accent2"/>
                  </a:solidFill>
                  <a:latin typeface="+mn-lt"/>
                  <a:ea typeface="+mn-ea"/>
                  <a:cs typeface="+mn-cs"/>
                </a:rPr>
                <a:t xml:space="preserve"> kWh</a:t>
              </a:r>
            </a:p>
          </p:txBody>
        </p:sp>
        <p:sp>
          <p:nvSpPr>
            <p:cNvPr id="20" name="TextBox 20"/>
            <p:cNvSpPr txBox="1"/>
            <p:nvPr/>
          </p:nvSpPr>
          <p:spPr>
            <a:xfrm>
              <a:off x="8108442" y="3854768"/>
              <a:ext cx="2148268" cy="4926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始業前電力のおよそ 65% に</a:t>
              </a:r>
              <a:br/>
              <a:r>
                <a:rPr lang="ja-JP" sz="1350" dirty="0">
                  <a:solidFill>
                    <a:schemeClr val="dk1"/>
                  </a:solidFill>
                  <a:latin typeface="+mn-lt"/>
                  <a:ea typeface="+mn-ea"/>
                  <a:cs typeface="+mn-cs"/>
                </a:rPr>
                <a:t>あたる。</a:t>
              </a:r>
            </a:p>
          </p:txBody>
        </p:sp>
      </p:grpSp>
      <p:grpSp>
        <p:nvGrpSpPr>
          <p:cNvPr id="27" name="Group 27"/>
          <p:cNvGrpSpPr/>
          <p:nvPr/>
        </p:nvGrpSpPr>
        <p:grpSpPr>
          <a:xfrm>
            <a:off x="526542" y="4629150"/>
            <a:ext cx="11132058" cy="1166051"/>
            <a:chOff x="526542" y="4629150"/>
            <a:chExt cx="11132058" cy="1166051"/>
          </a:xfrm>
        </p:grpSpPr>
        <p:sp>
          <p:nvSpPr>
            <p:cNvPr id="22" name="Line 22"/>
            <p:cNvSpPr/>
            <p:nvPr/>
          </p:nvSpPr>
          <p:spPr>
            <a:xfrm>
              <a:off x="533400" y="46291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23" name="TextBox 23"/>
            <p:cNvSpPr txBox="1"/>
            <p:nvPr/>
          </p:nvSpPr>
          <p:spPr>
            <a:xfrm>
              <a:off x="526542" y="4731068"/>
              <a:ext cx="1285875" cy="264033"/>
            </a:xfrm>
            <a:prstGeom prst="rect">
              <a:avLst/>
            </a:prstGeom>
            <a:noFill/>
            <a:ln>
              <a:noFill/>
            </a:ln>
          </p:spPr>
          <p:txBody>
            <a:bodyPr wrap="none" lIns="0" tIns="0" rIns="0" bIns="0" anchor="t" anchorCtr="0">
              <a:spAutoFit/>
            </a:bodyPr>
            <a:lstStyle/>
            <a:p>
              <a:pPr algn="l"/>
              <a:r>
                <a:rPr lang="ja-JP" sz="1350" b="1" dirty="0">
                  <a:solidFill>
                    <a:schemeClr val="accent5"/>
                  </a:solidFill>
                  <a:latin typeface="+mn-lt"/>
                  <a:ea typeface="+mn-ea"/>
                  <a:cs typeface="+mn-cs"/>
                </a:rPr>
                <a:t>この数字の前提</a:t>
              </a:r>
            </a:p>
          </p:txBody>
        </p:sp>
        <p:sp>
          <p:nvSpPr>
            <p:cNvPr id="24" name="Line 24"/>
            <p:cNvSpPr/>
            <p:nvPr/>
          </p:nvSpPr>
          <p:spPr>
            <a:xfrm>
              <a:off x="6096000" y="5048250"/>
              <a:ext cx="9525" cy="723900"/>
            </a:xfrm>
            <a:custGeom>
              <a:avLst/>
              <a:gdLst/>
              <a:ahLst/>
              <a:cxnLst/>
              <a:rect l="l" t="t" r="r" b="b"/>
              <a:pathLst>
                <a:path w="9525" h="723900">
                  <a:moveTo>
                    <a:pt x="0" y="0"/>
                  </a:moveTo>
                  <a:lnTo>
                    <a:pt x="0" y="723900"/>
                  </a:lnTo>
                </a:path>
              </a:pathLst>
            </a:custGeom>
            <a:noFill/>
            <a:ln w="9525">
              <a:solidFill>
                <a:schemeClr val="accent6"/>
              </a:solidFill>
            </a:ln>
          </p:spPr>
        </p:sp>
        <p:sp>
          <p:nvSpPr>
            <p:cNvPr id="25" name="TextBox 25"/>
            <p:cNvSpPr txBox="1"/>
            <p:nvPr/>
          </p:nvSpPr>
          <p:spPr>
            <a:xfrm>
              <a:off x="526542" y="5073968"/>
              <a:ext cx="3314128" cy="7212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9 日間の累計は 225.4 kWh。電気代換算で</a:t>
              </a:r>
              <a:br/>
              <a:r>
                <a:rPr lang="ja-JP" sz="1350" dirty="0">
                  <a:solidFill>
                    <a:schemeClr val="dk1"/>
                  </a:solidFill>
                  <a:latin typeface="+mn-lt"/>
                  <a:ea typeface="+mn-ea"/>
                  <a:cs typeface="+mn-cs"/>
                </a:rPr>
                <a:t>約 6,000 円、CO2 換算で約 100 kg-CO2。</a:t>
              </a:r>
              <a:br/>
              <a:r>
                <a:rPr lang="ja-JP" sz="1350" dirty="0">
                  <a:solidFill>
                    <a:schemeClr val="dk1"/>
                  </a:solidFill>
                  <a:latin typeface="+mn-lt"/>
                  <a:ea typeface="+mn-ea"/>
                  <a:cs typeface="+mn-cs"/>
                </a:rPr>
                <a:t>いずれも合成データに基づく参考値。</a:t>
              </a:r>
            </a:p>
          </p:txBody>
        </p:sp>
        <p:sp>
          <p:nvSpPr>
            <p:cNvPr id="26" name="TextBox 26"/>
            <p:cNvSpPr txBox="1"/>
            <p:nvPr/>
          </p:nvSpPr>
          <p:spPr>
            <a:xfrm>
              <a:off x="6432042" y="5073968"/>
              <a:ext cx="4128516" cy="7212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予冷時の平均電力は、実績データから算出した値を</a:t>
              </a:r>
              <a:br/>
              <a:r>
                <a:rPr lang="ja-JP" sz="1350" dirty="0">
                  <a:solidFill>
                    <a:schemeClr val="dk1"/>
                  </a:solidFill>
                  <a:latin typeface="+mn-lt"/>
                  <a:ea typeface="+mn-ea"/>
                  <a:cs typeface="+mn-cs"/>
                </a:rPr>
                <a:t>モデル JSON 経由で渡している。画面で人に入力さ</a:t>
              </a:r>
              <a:br/>
              <a:r>
                <a:rPr lang="ja-JP" sz="1350" dirty="0">
                  <a:solidFill>
                    <a:schemeClr val="dk1"/>
                  </a:solidFill>
                  <a:latin typeface="+mn-lt"/>
                  <a:ea typeface="+mn-ea"/>
                  <a:cs typeface="+mn-cs"/>
                </a:rPr>
                <a:t>せると、データを取り直しても古い数字が残るため。</a:t>
              </a:r>
            </a:p>
          </p:txBody>
        </p:sp>
      </p:grpSp>
      <p:grpSp>
        <p:nvGrpSpPr>
          <p:cNvPr id="31" name="Group 31"/>
          <p:cNvGrpSpPr/>
          <p:nvPr/>
        </p:nvGrpSpPr>
        <p:grpSpPr>
          <a:xfrm>
            <a:off x="527304" y="6153150"/>
            <a:ext cx="11137392" cy="314706"/>
            <a:chOff x="527304" y="6153150"/>
            <a:chExt cx="11137392" cy="314706"/>
          </a:xfrm>
        </p:grpSpPr>
        <p:sp>
          <p:nvSpPr>
            <p:cNvPr id="28" name="Line 28"/>
            <p:cNvSpPr/>
            <p:nvPr/>
          </p:nvSpPr>
          <p:spPr>
            <a:xfrm>
              <a:off x="533400" y="61531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29" name="TextBox 29"/>
            <p:cNvSpPr txBox="1"/>
            <p:nvPr/>
          </p:nvSpPr>
          <p:spPr>
            <a:xfrm>
              <a:off x="527304" y="6233160"/>
              <a:ext cx="2919984"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熱源の起動を、どこまで遅らせてよいか</a:t>
              </a:r>
            </a:p>
          </p:txBody>
        </p:sp>
        <p:sp>
          <p:nvSpPr>
            <p:cNvPr id="30" name="TextBox 30"/>
            <p:cNvSpPr txBox="1"/>
            <p:nvPr/>
          </p:nvSpPr>
          <p:spPr>
            <a:xfrm>
              <a:off x="7452360" y="6233160"/>
              <a:ext cx="4212336"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起動時刻と稼働日は実測、電力量は合成データによる試算</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6542" y="730568"/>
            <a:ext cx="11138916" cy="345757"/>
            <a:chOff x="526542" y="730568"/>
            <a:chExt cx="11138916" cy="345757"/>
          </a:xfrm>
        </p:grpSpPr>
        <p:sp>
          <p:nvSpPr>
            <p:cNvPr id="2" name="TextBox 2"/>
            <p:cNvSpPr txBox="1"/>
            <p:nvPr/>
          </p:nvSpPr>
          <p:spPr>
            <a:xfrm>
              <a:off x="526542" y="730568"/>
              <a:ext cx="1903781"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03 何が確かめられたか</a:t>
              </a:r>
            </a:p>
          </p:txBody>
        </p:sp>
        <p:sp>
          <p:nvSpPr>
            <p:cNvPr id="3" name="TextBox 3"/>
            <p:cNvSpPr txBox="1"/>
            <p:nvPr/>
          </p:nvSpPr>
          <p:spPr>
            <a:xfrm>
              <a:off x="11042923" y="730568"/>
              <a:ext cx="622535"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09 / 11</a:t>
              </a:r>
            </a:p>
          </p:txBody>
        </p:sp>
        <p:sp>
          <p:nvSpPr>
            <p:cNvPr id="4" name="Line 4"/>
            <p:cNvSpPr/>
            <p:nvPr/>
          </p:nvSpPr>
          <p:spPr>
            <a:xfrm>
              <a:off x="533400" y="1066800"/>
              <a:ext cx="11125200" cy="9525"/>
            </a:xfrm>
            <a:custGeom>
              <a:avLst/>
              <a:gdLst/>
              <a:ahLst/>
              <a:cxnLst/>
              <a:rect l="l" t="t" r="r" b="b"/>
              <a:pathLst>
                <a:path w="11125200" h="9525">
                  <a:moveTo>
                    <a:pt x="0" y="0"/>
                  </a:moveTo>
                  <a:lnTo>
                    <a:pt x="11125200" y="0"/>
                  </a:lnTo>
                </a:path>
              </a:pathLst>
            </a:custGeom>
            <a:noFill/>
            <a:ln w="14288">
              <a:solidFill>
                <a:schemeClr val="accent1"/>
              </a:solidFill>
            </a:ln>
          </p:spPr>
        </p:sp>
      </p:grpSp>
      <p:grpSp>
        <p:nvGrpSpPr>
          <p:cNvPr id="8" name="Group 8"/>
          <p:cNvGrpSpPr/>
          <p:nvPr/>
        </p:nvGrpSpPr>
        <p:grpSpPr>
          <a:xfrm>
            <a:off x="517398" y="1241108"/>
            <a:ext cx="9962388" cy="994409"/>
            <a:chOff x="517398" y="1241108"/>
            <a:chExt cx="9962388" cy="994409"/>
          </a:xfrm>
        </p:grpSpPr>
        <p:sp>
          <p:nvSpPr>
            <p:cNvPr id="6" name="TextBox 6"/>
            <p:cNvSpPr txBox="1"/>
            <p:nvPr/>
          </p:nvSpPr>
          <p:spPr>
            <a:xfrm>
              <a:off x="517398" y="1241108"/>
              <a:ext cx="7328896" cy="616077"/>
            </a:xfrm>
            <a:prstGeom prst="rect">
              <a:avLst/>
            </a:prstGeom>
            <a:noFill/>
            <a:ln>
              <a:noFill/>
            </a:ln>
          </p:spPr>
          <p:txBody>
            <a:bodyPr wrap="none" lIns="0" tIns="0" rIns="0" bIns="0" anchor="t" anchorCtr="0">
              <a:spAutoFit/>
            </a:bodyPr>
            <a:lstStyle/>
            <a:p>
              <a:pPr algn="l"/>
              <a:r>
                <a:rPr lang="ja-JP" sz="3150" b="1" dirty="0">
                  <a:solidFill>
                    <a:schemeClr val="accent1"/>
                  </a:solidFill>
                  <a:latin typeface="+mn-lt"/>
                  <a:ea typeface="+mn-ea"/>
                  <a:cs typeface="+mn-cs"/>
                </a:rPr>
                <a:t>前日の夕方に、この 1 画面だけを見る</a:t>
              </a:r>
            </a:p>
          </p:txBody>
        </p:sp>
        <p:sp>
          <p:nvSpPr>
            <p:cNvPr id="7" name="TextBox 7"/>
            <p:cNvSpPr txBox="1"/>
            <p:nvPr/>
          </p:nvSpPr>
          <p:spPr>
            <a:xfrm>
              <a:off x="521970" y="1795462"/>
              <a:ext cx="9957816" cy="440055"/>
            </a:xfrm>
            <a:prstGeom prst="rect">
              <a:avLst/>
            </a:prstGeom>
            <a:noFill/>
            <a:ln>
              <a:noFill/>
            </a:ln>
          </p:spPr>
          <p:txBody>
            <a:bodyPr wrap="none" lIns="0" tIns="0" rIns="0" bIns="0" anchor="t" anchorCtr="0">
              <a:spAutoFit/>
            </a:bodyPr>
            <a:lstStyle/>
            <a:p>
              <a:pPr algn="l"/>
              <a:r>
                <a:rPr lang="ja-JP" sz="2250" dirty="0">
                  <a:solidFill>
                    <a:schemeClr val="dk1"/>
                  </a:solidFill>
                  <a:latin typeface="+mn-lt"/>
                  <a:ea typeface="+mn-ea"/>
                  <a:cs typeface="+mn-cs"/>
                </a:rPr>
                <a:t>遅らせるほど省エネになり、ある時刻を超えると 8:00 に間に合わない。</a:t>
              </a:r>
            </a:p>
          </p:txBody>
        </p:sp>
      </p:grpSp>
      <p:grpSp>
        <p:nvGrpSpPr>
          <p:cNvPr id="40" name="Group 40"/>
          <p:cNvGrpSpPr/>
          <p:nvPr/>
        </p:nvGrpSpPr>
        <p:grpSpPr>
          <a:xfrm>
            <a:off x="527304" y="2556510"/>
            <a:ext cx="7035165" cy="3377946"/>
            <a:chOff x="527304" y="2556510"/>
            <a:chExt cx="7035165" cy="3377946"/>
          </a:xfrm>
        </p:grpSpPr>
        <p:sp>
          <p:nvSpPr>
            <p:cNvPr id="9" name="TextBox 9"/>
            <p:cNvSpPr txBox="1"/>
            <p:nvPr/>
          </p:nvSpPr>
          <p:spPr>
            <a:xfrm>
              <a:off x="1232154" y="2556510"/>
              <a:ext cx="1863852"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始業前消費電力量 [kWh]</a:t>
              </a:r>
            </a:p>
          </p:txBody>
        </p:sp>
        <p:grpSp>
          <p:nvGrpSpPr>
            <p:cNvPr id="31" name="Group 31"/>
            <p:cNvGrpSpPr/>
            <p:nvPr/>
          </p:nvGrpSpPr>
          <p:grpSpPr>
            <a:xfrm>
              <a:off x="978256" y="2762250"/>
              <a:ext cx="6584213" cy="2695956"/>
              <a:chOff x="978256" y="2762250"/>
              <a:chExt cx="6584213" cy="2695956"/>
            </a:xfrm>
          </p:grpSpPr>
          <p:sp>
            <p:nvSpPr>
              <p:cNvPr id="10" name="Line 10"/>
              <p:cNvSpPr/>
              <p:nvPr/>
            </p:nvSpPr>
            <p:spPr>
              <a:xfrm>
                <a:off x="1238250" y="3102292"/>
                <a:ext cx="6096000" cy="9525"/>
              </a:xfrm>
              <a:custGeom>
                <a:avLst/>
                <a:gdLst/>
                <a:ahLst/>
                <a:cxnLst/>
                <a:rect l="l" t="t" r="r" b="b"/>
                <a:pathLst>
                  <a:path w="6096000" h="9525">
                    <a:moveTo>
                      <a:pt x="0" y="0"/>
                    </a:moveTo>
                    <a:lnTo>
                      <a:pt x="6096000" y="0"/>
                    </a:lnTo>
                  </a:path>
                </a:pathLst>
              </a:custGeom>
              <a:noFill/>
              <a:ln w="9525">
                <a:solidFill>
                  <a:schemeClr val="accent6"/>
                </a:solidFill>
              </a:ln>
            </p:spPr>
          </p:sp>
          <p:sp>
            <p:nvSpPr>
              <p:cNvPr id="11" name="Line 11"/>
              <p:cNvSpPr/>
              <p:nvPr/>
            </p:nvSpPr>
            <p:spPr>
              <a:xfrm>
                <a:off x="1238250" y="3782378"/>
                <a:ext cx="6096000" cy="9525"/>
              </a:xfrm>
              <a:custGeom>
                <a:avLst/>
                <a:gdLst/>
                <a:ahLst/>
                <a:cxnLst/>
                <a:rect l="l" t="t" r="r" b="b"/>
                <a:pathLst>
                  <a:path w="6096000" h="9525">
                    <a:moveTo>
                      <a:pt x="0" y="0"/>
                    </a:moveTo>
                    <a:lnTo>
                      <a:pt x="6096000" y="0"/>
                    </a:lnTo>
                  </a:path>
                </a:pathLst>
              </a:custGeom>
              <a:noFill/>
              <a:ln w="9525">
                <a:solidFill>
                  <a:schemeClr val="accent6"/>
                </a:solidFill>
              </a:ln>
            </p:spPr>
          </p:sp>
          <p:sp>
            <p:nvSpPr>
              <p:cNvPr id="12" name="Line 12"/>
              <p:cNvSpPr/>
              <p:nvPr/>
            </p:nvSpPr>
            <p:spPr>
              <a:xfrm>
                <a:off x="1238250" y="4463415"/>
                <a:ext cx="6096000" cy="9525"/>
              </a:xfrm>
              <a:custGeom>
                <a:avLst/>
                <a:gdLst/>
                <a:ahLst/>
                <a:cxnLst/>
                <a:rect l="l" t="t" r="r" b="b"/>
                <a:pathLst>
                  <a:path w="6096000" h="9525">
                    <a:moveTo>
                      <a:pt x="0" y="0"/>
                    </a:moveTo>
                    <a:lnTo>
                      <a:pt x="6096000" y="0"/>
                    </a:lnTo>
                  </a:path>
                </a:pathLst>
              </a:custGeom>
              <a:noFill/>
              <a:ln w="9525">
                <a:solidFill>
                  <a:schemeClr val="accent6"/>
                </a:solidFill>
              </a:ln>
            </p:spPr>
          </p:sp>
          <p:sp>
            <p:nvSpPr>
              <p:cNvPr id="13" name="Line 13"/>
              <p:cNvSpPr/>
              <p:nvPr/>
            </p:nvSpPr>
            <p:spPr>
              <a:xfrm>
                <a:off x="1238250" y="2762250"/>
                <a:ext cx="9525" cy="2381250"/>
              </a:xfrm>
              <a:custGeom>
                <a:avLst/>
                <a:gdLst/>
                <a:ahLst/>
                <a:cxnLst/>
                <a:rect l="l" t="t" r="r" b="b"/>
                <a:pathLst>
                  <a:path w="9525" h="2381250">
                    <a:moveTo>
                      <a:pt x="0" y="0"/>
                    </a:moveTo>
                    <a:lnTo>
                      <a:pt x="0" y="2381250"/>
                    </a:lnTo>
                  </a:path>
                </a:pathLst>
              </a:custGeom>
              <a:noFill/>
              <a:ln w="9525">
                <a:solidFill>
                  <a:srgbClr val="667685"/>
                </a:solidFill>
              </a:ln>
            </p:spPr>
          </p:sp>
          <p:sp>
            <p:nvSpPr>
              <p:cNvPr id="14" name="Line 14"/>
              <p:cNvSpPr/>
              <p:nvPr/>
            </p:nvSpPr>
            <p:spPr>
              <a:xfrm>
                <a:off x="1238250" y="5143500"/>
                <a:ext cx="6096000" cy="9525"/>
              </a:xfrm>
              <a:custGeom>
                <a:avLst/>
                <a:gdLst/>
                <a:ahLst/>
                <a:cxnLst/>
                <a:rect l="l" t="t" r="r" b="b"/>
                <a:pathLst>
                  <a:path w="6096000" h="9525">
                    <a:moveTo>
                      <a:pt x="0" y="0"/>
                    </a:moveTo>
                    <a:lnTo>
                      <a:pt x="6096000" y="0"/>
                    </a:lnTo>
                  </a:path>
                </a:pathLst>
              </a:custGeom>
              <a:noFill/>
              <a:ln w="9525">
                <a:solidFill>
                  <a:srgbClr val="667685"/>
                </a:solidFill>
              </a:ln>
            </p:spPr>
          </p:sp>
          <p:sp>
            <p:nvSpPr>
              <p:cNvPr id="15" name="TextBox 15"/>
              <p:cNvSpPr txBox="1"/>
              <p:nvPr/>
            </p:nvSpPr>
            <p:spPr>
              <a:xfrm>
                <a:off x="1067105" y="5061585"/>
                <a:ext cx="101041"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0</a:t>
                </a:r>
              </a:p>
            </p:txBody>
          </p:sp>
          <p:sp>
            <p:nvSpPr>
              <p:cNvPr id="16" name="TextBox 16"/>
              <p:cNvSpPr txBox="1"/>
              <p:nvPr/>
            </p:nvSpPr>
            <p:spPr>
              <a:xfrm>
                <a:off x="978256" y="4381500"/>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20</a:t>
                </a:r>
              </a:p>
            </p:txBody>
          </p:sp>
          <p:sp>
            <p:nvSpPr>
              <p:cNvPr id="17" name="TextBox 17"/>
              <p:cNvSpPr txBox="1"/>
              <p:nvPr/>
            </p:nvSpPr>
            <p:spPr>
              <a:xfrm>
                <a:off x="978256" y="3700462"/>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40</a:t>
                </a:r>
              </a:p>
            </p:txBody>
          </p:sp>
          <p:sp>
            <p:nvSpPr>
              <p:cNvPr id="18" name="TextBox 18"/>
              <p:cNvSpPr txBox="1"/>
              <p:nvPr/>
            </p:nvSpPr>
            <p:spPr>
              <a:xfrm>
                <a:off x="978256" y="3020377"/>
                <a:ext cx="189890"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60</a:t>
                </a:r>
              </a:p>
            </p:txBody>
          </p:sp>
          <p:sp>
            <p:nvSpPr>
              <p:cNvPr id="19" name="TextBox 19"/>
              <p:cNvSpPr txBox="1"/>
              <p:nvPr/>
            </p:nvSpPr>
            <p:spPr>
              <a:xfrm>
                <a:off x="1010031" y="52235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03:00</a:t>
                </a:r>
              </a:p>
            </p:txBody>
          </p:sp>
          <p:sp>
            <p:nvSpPr>
              <p:cNvPr id="20" name="TextBox 20"/>
              <p:cNvSpPr txBox="1"/>
              <p:nvPr/>
            </p:nvSpPr>
            <p:spPr>
              <a:xfrm>
                <a:off x="2229231" y="52235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04:00</a:t>
                </a:r>
              </a:p>
            </p:txBody>
          </p:sp>
          <p:sp>
            <p:nvSpPr>
              <p:cNvPr id="21" name="TextBox 21"/>
              <p:cNvSpPr txBox="1"/>
              <p:nvPr/>
            </p:nvSpPr>
            <p:spPr>
              <a:xfrm>
                <a:off x="3448431" y="52235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05:00</a:t>
                </a:r>
              </a:p>
            </p:txBody>
          </p:sp>
          <p:sp>
            <p:nvSpPr>
              <p:cNvPr id="22" name="TextBox 22"/>
              <p:cNvSpPr txBox="1"/>
              <p:nvPr/>
            </p:nvSpPr>
            <p:spPr>
              <a:xfrm>
                <a:off x="4667631" y="52235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06:00</a:t>
                </a:r>
              </a:p>
            </p:txBody>
          </p:sp>
          <p:sp>
            <p:nvSpPr>
              <p:cNvPr id="23" name="TextBox 23"/>
              <p:cNvSpPr txBox="1"/>
              <p:nvPr/>
            </p:nvSpPr>
            <p:spPr>
              <a:xfrm>
                <a:off x="5886831" y="52235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07:00</a:t>
                </a:r>
              </a:p>
            </p:txBody>
          </p:sp>
          <p:sp>
            <p:nvSpPr>
              <p:cNvPr id="24" name="TextBox 24"/>
              <p:cNvSpPr txBox="1"/>
              <p:nvPr/>
            </p:nvSpPr>
            <p:spPr>
              <a:xfrm>
                <a:off x="7106031" y="5223510"/>
                <a:ext cx="45643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08:00</a:t>
                </a:r>
              </a:p>
            </p:txBody>
          </p:sp>
          <p:sp>
            <p:nvSpPr>
              <p:cNvPr id="25" name="Rectangle 25"/>
              <p:cNvSpPr/>
              <p:nvPr/>
            </p:nvSpPr>
            <p:spPr>
              <a:xfrm>
                <a:off x="6216968" y="2762250"/>
                <a:ext cx="1117282" cy="2381250"/>
              </a:xfrm>
              <a:prstGeom prst="rect">
                <a:avLst/>
              </a:prstGeom>
              <a:solidFill>
                <a:schemeClr val="accent2">
                  <a:alpha val="8000"/>
                </a:schemeClr>
              </a:solidFill>
              <a:ln>
                <a:noFill/>
              </a:ln>
            </p:spPr>
          </p:sp>
          <p:sp>
            <p:nvSpPr>
              <p:cNvPr id="26" name="Line 26"/>
              <p:cNvSpPr/>
              <p:nvPr/>
            </p:nvSpPr>
            <p:spPr>
              <a:xfrm>
                <a:off x="1238250" y="3034665"/>
                <a:ext cx="5994082" cy="2108835"/>
              </a:xfrm>
              <a:custGeom>
                <a:avLst/>
                <a:gdLst/>
                <a:ahLst/>
                <a:cxnLst/>
                <a:rect l="l" t="t" r="r" b="b"/>
                <a:pathLst>
                  <a:path w="5994082" h="2108835">
                    <a:moveTo>
                      <a:pt x="0" y="0"/>
                    </a:moveTo>
                    <a:lnTo>
                      <a:pt x="5994082" y="2108835"/>
                    </a:lnTo>
                  </a:path>
                </a:pathLst>
              </a:custGeom>
              <a:noFill/>
              <a:ln w="28575">
                <a:solidFill>
                  <a:schemeClr val="accent1"/>
                </a:solidFill>
              </a:ln>
            </p:spPr>
          </p:sp>
          <p:sp>
            <p:nvSpPr>
              <p:cNvPr id="27" name="Line 27"/>
              <p:cNvSpPr/>
              <p:nvPr/>
            </p:nvSpPr>
            <p:spPr>
              <a:xfrm>
                <a:off x="3778568" y="2762250"/>
                <a:ext cx="9525" cy="2381250"/>
              </a:xfrm>
              <a:custGeom>
                <a:avLst/>
                <a:gdLst/>
                <a:ahLst/>
                <a:cxnLst/>
                <a:rect l="l" t="t" r="r" b="b"/>
                <a:pathLst>
                  <a:path w="9525" h="2381250">
                    <a:moveTo>
                      <a:pt x="0" y="0"/>
                    </a:moveTo>
                    <a:lnTo>
                      <a:pt x="0" y="2381250"/>
                    </a:lnTo>
                  </a:path>
                </a:pathLst>
              </a:custGeom>
              <a:noFill/>
              <a:ln w="9525">
                <a:solidFill>
                  <a:srgbClr val="667685"/>
                </a:solidFill>
                <a:prstDash val="dash"/>
              </a:ln>
            </p:spPr>
          </p:sp>
          <p:sp>
            <p:nvSpPr>
              <p:cNvPr id="28" name="Line 28"/>
              <p:cNvSpPr/>
              <p:nvPr/>
            </p:nvSpPr>
            <p:spPr>
              <a:xfrm>
                <a:off x="6216968" y="2762250"/>
                <a:ext cx="9525" cy="2381250"/>
              </a:xfrm>
              <a:custGeom>
                <a:avLst/>
                <a:gdLst/>
                <a:ahLst/>
                <a:cxnLst/>
                <a:rect l="l" t="t" r="r" b="b"/>
                <a:pathLst>
                  <a:path w="9525" h="2381250">
                    <a:moveTo>
                      <a:pt x="0" y="0"/>
                    </a:moveTo>
                    <a:lnTo>
                      <a:pt x="0" y="2381250"/>
                    </a:lnTo>
                  </a:path>
                </a:pathLst>
              </a:custGeom>
              <a:noFill/>
              <a:ln w="19050">
                <a:solidFill>
                  <a:schemeClr val="accent2"/>
                </a:solidFill>
              </a:ln>
            </p:spPr>
          </p:sp>
          <p:sp>
            <p:nvSpPr>
              <p:cNvPr id="29" name="Ellipse 29"/>
              <p:cNvSpPr/>
              <p:nvPr/>
            </p:nvSpPr>
            <p:spPr>
              <a:xfrm>
                <a:off x="3721418" y="3870960"/>
                <a:ext cx="114300" cy="114300"/>
              </a:xfrm>
              <a:prstGeom prst="ellipse">
                <a:avLst/>
              </a:prstGeom>
              <a:solidFill>
                <a:schemeClr val="lt1"/>
              </a:solidFill>
              <a:ln w="19050">
                <a:solidFill>
                  <a:srgbClr val="667685"/>
                </a:solidFill>
              </a:ln>
            </p:spPr>
          </p:sp>
          <p:sp>
            <p:nvSpPr>
              <p:cNvPr id="30" name="Ellipse 30"/>
              <p:cNvSpPr/>
              <p:nvPr/>
            </p:nvSpPr>
            <p:spPr>
              <a:xfrm>
                <a:off x="6159818" y="4729162"/>
                <a:ext cx="114300" cy="114300"/>
              </a:xfrm>
              <a:prstGeom prst="ellipse">
                <a:avLst/>
              </a:prstGeom>
              <a:solidFill>
                <a:schemeClr val="accent2"/>
              </a:solidFill>
              <a:ln>
                <a:noFill/>
              </a:ln>
            </p:spPr>
          </p:sp>
        </p:grpSp>
        <p:sp>
          <p:nvSpPr>
            <p:cNvPr id="32" name="TextBox 32"/>
            <p:cNvSpPr txBox="1"/>
            <p:nvPr/>
          </p:nvSpPr>
          <p:spPr>
            <a:xfrm>
              <a:off x="2854757" y="3642360"/>
              <a:ext cx="827989"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現行 05:05</a:t>
              </a:r>
            </a:p>
          </p:txBody>
        </p:sp>
        <p:sp>
          <p:nvSpPr>
            <p:cNvPr id="33" name="TextBox 33"/>
            <p:cNvSpPr txBox="1"/>
            <p:nvPr/>
          </p:nvSpPr>
          <p:spPr>
            <a:xfrm>
              <a:off x="2921660" y="3851910"/>
              <a:ext cx="761086"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約 36 kWh</a:t>
              </a:r>
            </a:p>
          </p:txBody>
        </p:sp>
        <p:sp>
          <p:nvSpPr>
            <p:cNvPr id="34" name="TextBox 34"/>
            <p:cNvSpPr txBox="1"/>
            <p:nvPr/>
          </p:nvSpPr>
          <p:spPr>
            <a:xfrm>
              <a:off x="5293157" y="4061460"/>
              <a:ext cx="827989" cy="234696"/>
            </a:xfrm>
            <a:prstGeom prst="rect">
              <a:avLst/>
            </a:prstGeom>
            <a:noFill/>
            <a:ln>
              <a:noFill/>
            </a:ln>
          </p:spPr>
          <p:txBody>
            <a:bodyPr wrap="none" lIns="0" tIns="0" rIns="0" bIns="0" anchor="t" anchorCtr="0">
              <a:spAutoFit/>
            </a:bodyPr>
            <a:lstStyle/>
            <a:p>
              <a:pPr algn="r"/>
              <a:r>
                <a:rPr lang="ja-JP" sz="1200" dirty="0">
                  <a:solidFill>
                    <a:schemeClr val="accent2"/>
                  </a:solidFill>
                  <a:latin typeface="+mn-lt"/>
                  <a:ea typeface="+mn-ea"/>
                  <a:cs typeface="+mn-cs"/>
                </a:rPr>
                <a:t>推奨 07:05</a:t>
              </a:r>
            </a:p>
          </p:txBody>
        </p:sp>
        <p:sp>
          <p:nvSpPr>
            <p:cNvPr id="35" name="TextBox 35"/>
            <p:cNvSpPr txBox="1"/>
            <p:nvPr/>
          </p:nvSpPr>
          <p:spPr>
            <a:xfrm>
              <a:off x="5360060" y="4271010"/>
              <a:ext cx="761086" cy="234696"/>
            </a:xfrm>
            <a:prstGeom prst="rect">
              <a:avLst/>
            </a:prstGeom>
            <a:noFill/>
            <a:ln>
              <a:noFill/>
            </a:ln>
          </p:spPr>
          <p:txBody>
            <a:bodyPr wrap="none" lIns="0" tIns="0" rIns="0" bIns="0" anchor="t" anchorCtr="0">
              <a:spAutoFit/>
            </a:bodyPr>
            <a:lstStyle/>
            <a:p>
              <a:pPr algn="r"/>
              <a:r>
                <a:rPr lang="ja-JP" sz="1200" dirty="0">
                  <a:solidFill>
                    <a:schemeClr val="accent2"/>
                  </a:solidFill>
                  <a:latin typeface="+mn-lt"/>
                  <a:ea typeface="+mn-ea"/>
                  <a:cs typeface="+mn-cs"/>
                </a:rPr>
                <a:t>約 11 kWh</a:t>
              </a:r>
            </a:p>
          </p:txBody>
        </p:sp>
        <p:sp>
          <p:nvSpPr>
            <p:cNvPr id="36" name="TextBox 36"/>
            <p:cNvSpPr txBox="1"/>
            <p:nvPr/>
          </p:nvSpPr>
          <p:spPr>
            <a:xfrm>
              <a:off x="4937303" y="2785110"/>
              <a:ext cx="2403043" cy="234696"/>
            </a:xfrm>
            <a:prstGeom prst="rect">
              <a:avLst/>
            </a:prstGeom>
            <a:noFill/>
            <a:ln>
              <a:noFill/>
            </a:ln>
          </p:spPr>
          <p:txBody>
            <a:bodyPr wrap="none" lIns="0" tIns="0" rIns="0" bIns="0" anchor="t" anchorCtr="0">
              <a:spAutoFit/>
            </a:bodyPr>
            <a:lstStyle/>
            <a:p>
              <a:pPr algn="r"/>
              <a:r>
                <a:rPr lang="ja-JP" sz="1200" dirty="0">
                  <a:solidFill>
                    <a:schemeClr val="accent2"/>
                  </a:solidFill>
                  <a:latin typeface="+mn-lt"/>
                  <a:ea typeface="+mn-ea"/>
                  <a:cs typeface="+mn-cs"/>
                </a:rPr>
                <a:t>この右側は 8:00 に間に合わない</a:t>
              </a:r>
            </a:p>
          </p:txBody>
        </p:sp>
        <p:sp>
          <p:nvSpPr>
            <p:cNvPr id="37" name="TextBox 37"/>
            <p:cNvSpPr txBox="1"/>
            <p:nvPr/>
          </p:nvSpPr>
          <p:spPr>
            <a:xfrm>
              <a:off x="3957066" y="5452110"/>
              <a:ext cx="658368" cy="234696"/>
            </a:xfrm>
            <a:prstGeom prst="rect">
              <a:avLst/>
            </a:prstGeom>
            <a:noFill/>
            <a:ln>
              <a:noFill/>
            </a:ln>
          </p:spPr>
          <p:txBody>
            <a:bodyPr wrap="none" lIns="0" tIns="0" rIns="0" bIns="0" anchor="t" anchorCtr="0">
              <a:spAutoFit/>
            </a:bodyPr>
            <a:lstStyle/>
            <a:p>
              <a:pPr algn="ctr"/>
              <a:r>
                <a:rPr lang="ja-JP" sz="1200" dirty="0">
                  <a:solidFill>
                    <a:schemeClr val="accent5"/>
                  </a:solidFill>
                  <a:latin typeface="+mn-lt"/>
                  <a:ea typeface="+mn-ea"/>
                  <a:cs typeface="+mn-cs"/>
                </a:rPr>
                <a:t>起動時刻</a:t>
              </a:r>
            </a:p>
          </p:txBody>
        </p:sp>
        <p:sp>
          <p:nvSpPr>
            <p:cNvPr id="38" name="TextBox 38"/>
            <p:cNvSpPr txBox="1"/>
            <p:nvPr/>
          </p:nvSpPr>
          <p:spPr>
            <a:xfrm>
              <a:off x="5988748" y="5452110"/>
              <a:ext cx="456438" cy="234696"/>
            </a:xfrm>
            <a:prstGeom prst="rect">
              <a:avLst/>
            </a:prstGeom>
            <a:noFill/>
            <a:ln>
              <a:noFill/>
            </a:ln>
          </p:spPr>
          <p:txBody>
            <a:bodyPr wrap="none" lIns="0" tIns="0" rIns="0" bIns="0" anchor="t" anchorCtr="0">
              <a:spAutoFit/>
            </a:bodyPr>
            <a:lstStyle/>
            <a:p>
              <a:pPr algn="ctr"/>
              <a:r>
                <a:rPr lang="ja-JP" sz="1200" dirty="0">
                  <a:solidFill>
                    <a:schemeClr val="accent2"/>
                  </a:solidFill>
                  <a:latin typeface="+mn-lt"/>
                  <a:ea typeface="+mn-ea"/>
                  <a:cs typeface="+mn-cs"/>
                </a:rPr>
                <a:t>07:05</a:t>
              </a:r>
            </a:p>
          </p:txBody>
        </p:sp>
        <p:sp>
          <p:nvSpPr>
            <p:cNvPr id="39" name="TextBox 39"/>
            <p:cNvSpPr txBox="1"/>
            <p:nvPr/>
          </p:nvSpPr>
          <p:spPr>
            <a:xfrm>
              <a:off x="527304" y="5699760"/>
              <a:ext cx="6118555"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縦線は 8:00 到達の限界。省エネ側は左軸、リスク側はこの限界として示している。</a:t>
              </a:r>
            </a:p>
          </p:txBody>
        </p:sp>
      </p:grpSp>
      <p:grpSp>
        <p:nvGrpSpPr>
          <p:cNvPr id="52" name="Group 52"/>
          <p:cNvGrpSpPr/>
          <p:nvPr/>
        </p:nvGrpSpPr>
        <p:grpSpPr>
          <a:xfrm>
            <a:off x="7858506" y="2406968"/>
            <a:ext cx="3800094" cy="3426333"/>
            <a:chOff x="7858506" y="2406968"/>
            <a:chExt cx="3800094" cy="3426333"/>
          </a:xfrm>
        </p:grpSpPr>
        <p:sp>
          <p:nvSpPr>
            <p:cNvPr id="41" name="TextBox 41"/>
            <p:cNvSpPr txBox="1"/>
            <p:nvPr/>
          </p:nvSpPr>
          <p:spPr>
            <a:xfrm>
              <a:off x="7860792" y="2406968"/>
              <a:ext cx="1528305" cy="264033"/>
            </a:xfrm>
            <a:prstGeom prst="rect">
              <a:avLst/>
            </a:prstGeom>
            <a:noFill/>
            <a:ln>
              <a:noFill/>
            </a:ln>
          </p:spPr>
          <p:txBody>
            <a:bodyPr wrap="none" lIns="0" tIns="0" rIns="0" bIns="0" anchor="t" anchorCtr="0">
              <a:spAutoFit/>
            </a:bodyPr>
            <a:lstStyle/>
            <a:p>
              <a:pPr algn="l"/>
              <a:r>
                <a:rPr lang="ja-JP" sz="1350" b="1" dirty="0">
                  <a:solidFill>
                    <a:schemeClr val="accent5"/>
                  </a:solidFill>
                  <a:latin typeface="+mn-lt"/>
                  <a:ea typeface="+mn-ea"/>
                  <a:cs typeface="+mn-cs"/>
                </a:rPr>
                <a:t>BM が見る 1 画面</a:t>
              </a:r>
            </a:p>
          </p:txBody>
        </p:sp>
        <p:sp>
          <p:nvSpPr>
            <p:cNvPr id="42" name="TextBox 42"/>
            <p:cNvSpPr txBox="1"/>
            <p:nvPr/>
          </p:nvSpPr>
          <p:spPr>
            <a:xfrm>
              <a:off x="7860792" y="2768918"/>
              <a:ext cx="2269998"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BM が決めるのは 2 つだけ</a:t>
              </a:r>
            </a:p>
          </p:txBody>
        </p:sp>
        <p:sp>
          <p:nvSpPr>
            <p:cNvPr id="43" name="TextBox 43"/>
            <p:cNvSpPr txBox="1"/>
            <p:nvPr/>
          </p:nvSpPr>
          <p:spPr>
            <a:xfrm>
              <a:off x="7858506" y="3006090"/>
              <a:ext cx="987552" cy="352044"/>
            </a:xfrm>
            <a:prstGeom prst="rect">
              <a:avLst/>
            </a:prstGeom>
            <a:noFill/>
            <a:ln>
              <a:noFill/>
            </a:ln>
          </p:spPr>
          <p:txBody>
            <a:bodyPr wrap="none" lIns="0" tIns="0" rIns="0" bIns="0" anchor="t" anchorCtr="0">
              <a:spAutoFit/>
            </a:bodyPr>
            <a:lstStyle/>
            <a:p>
              <a:pPr algn="l"/>
              <a:r>
                <a:rPr lang="ja-JP" sz="1800" dirty="0">
                  <a:solidFill>
                    <a:schemeClr val="accent1"/>
                  </a:solidFill>
                  <a:latin typeface="+mn-lt"/>
                  <a:ea typeface="+mn-ea"/>
                  <a:cs typeface="+mn-cs"/>
                </a:rPr>
                <a:t>設定温度</a:t>
              </a:r>
            </a:p>
          </p:txBody>
        </p:sp>
        <p:sp>
          <p:nvSpPr>
            <p:cNvPr id="44" name="TextBox 44"/>
            <p:cNvSpPr txBox="1"/>
            <p:nvPr/>
          </p:nvSpPr>
          <p:spPr>
            <a:xfrm>
              <a:off x="7858506" y="3348990"/>
              <a:ext cx="1956816" cy="352044"/>
            </a:xfrm>
            <a:prstGeom prst="rect">
              <a:avLst/>
            </a:prstGeom>
            <a:noFill/>
            <a:ln>
              <a:noFill/>
            </a:ln>
          </p:spPr>
          <p:txBody>
            <a:bodyPr wrap="none" lIns="0" tIns="0" rIns="0" bIns="0" anchor="t" anchorCtr="0">
              <a:spAutoFit/>
            </a:bodyPr>
            <a:lstStyle/>
            <a:p>
              <a:pPr algn="l"/>
              <a:r>
                <a:rPr lang="ja-JP" sz="1800" dirty="0">
                  <a:solidFill>
                    <a:schemeClr val="accent1"/>
                  </a:solidFill>
                  <a:latin typeface="+mn-lt"/>
                  <a:ea typeface="+mn-ea"/>
                  <a:cs typeface="+mn-cs"/>
                </a:rPr>
                <a:t>休み明けかどうか</a:t>
              </a:r>
            </a:p>
          </p:txBody>
        </p:sp>
        <p:sp>
          <p:nvSpPr>
            <p:cNvPr id="45" name="TextBox 45"/>
            <p:cNvSpPr txBox="1"/>
            <p:nvPr/>
          </p:nvSpPr>
          <p:spPr>
            <a:xfrm>
              <a:off x="7861554" y="3661410"/>
              <a:ext cx="2112264"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月曜と祝日の翌日は自動判定</a:t>
              </a:r>
            </a:p>
          </p:txBody>
        </p:sp>
        <p:sp>
          <p:nvSpPr>
            <p:cNvPr id="46" name="Line 46"/>
            <p:cNvSpPr/>
            <p:nvPr/>
          </p:nvSpPr>
          <p:spPr>
            <a:xfrm>
              <a:off x="7867650" y="4000500"/>
              <a:ext cx="3790950" cy="9525"/>
            </a:xfrm>
            <a:custGeom>
              <a:avLst/>
              <a:gdLst/>
              <a:ahLst/>
              <a:cxnLst/>
              <a:rect l="l" t="t" r="r" b="b"/>
              <a:pathLst>
                <a:path w="3790950" h="9525">
                  <a:moveTo>
                    <a:pt x="0" y="0"/>
                  </a:moveTo>
                  <a:lnTo>
                    <a:pt x="3790950" y="0"/>
                  </a:lnTo>
                </a:path>
              </a:pathLst>
            </a:custGeom>
            <a:noFill/>
            <a:ln w="9525">
              <a:solidFill>
                <a:schemeClr val="accent6"/>
              </a:solidFill>
            </a:ln>
          </p:spPr>
        </p:sp>
        <p:sp>
          <p:nvSpPr>
            <p:cNvPr id="47" name="TextBox 47"/>
            <p:cNvSpPr txBox="1"/>
            <p:nvPr/>
          </p:nvSpPr>
          <p:spPr>
            <a:xfrm>
              <a:off x="7860792" y="4102418"/>
              <a:ext cx="1285875"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自動で入る情報</a:t>
              </a:r>
            </a:p>
          </p:txBody>
        </p:sp>
        <p:sp>
          <p:nvSpPr>
            <p:cNvPr id="48" name="TextBox 48"/>
            <p:cNvSpPr txBox="1"/>
            <p:nvPr/>
          </p:nvSpPr>
          <p:spPr>
            <a:xfrm>
              <a:off x="7860792" y="4388168"/>
              <a:ext cx="2414016" cy="4926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翌日の時間別気温・湿度予報を</a:t>
              </a:r>
              <a:br/>
              <a:r>
                <a:rPr lang="ja-JP" sz="1350" dirty="0">
                  <a:solidFill>
                    <a:schemeClr val="dk1"/>
                  </a:solidFill>
                  <a:latin typeface="+mn-lt"/>
                  <a:ea typeface="+mn-ea"/>
                  <a:cs typeface="+mn-cs"/>
                </a:rPr>
                <a:t>Open-Meteo から取得する。</a:t>
              </a:r>
            </a:p>
          </p:txBody>
        </p:sp>
        <p:sp>
          <p:nvSpPr>
            <p:cNvPr id="49" name="Line 49"/>
            <p:cNvSpPr/>
            <p:nvPr/>
          </p:nvSpPr>
          <p:spPr>
            <a:xfrm>
              <a:off x="7867650" y="4953000"/>
              <a:ext cx="3790950" cy="9525"/>
            </a:xfrm>
            <a:custGeom>
              <a:avLst/>
              <a:gdLst/>
              <a:ahLst/>
              <a:cxnLst/>
              <a:rect l="l" t="t" r="r" b="b"/>
              <a:pathLst>
                <a:path w="3790950" h="9525">
                  <a:moveTo>
                    <a:pt x="0" y="0"/>
                  </a:moveTo>
                  <a:lnTo>
                    <a:pt x="3790950" y="0"/>
                  </a:lnTo>
                </a:path>
              </a:pathLst>
            </a:custGeom>
            <a:noFill/>
            <a:ln w="9525">
              <a:solidFill>
                <a:schemeClr val="accent6"/>
              </a:solidFill>
            </a:ln>
          </p:spPr>
        </p:sp>
        <p:sp>
          <p:nvSpPr>
            <p:cNvPr id="50" name="TextBox 50"/>
            <p:cNvSpPr txBox="1"/>
            <p:nvPr/>
          </p:nvSpPr>
          <p:spPr>
            <a:xfrm>
              <a:off x="7860792" y="5054918"/>
              <a:ext cx="1285875"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画面が返すもの</a:t>
              </a:r>
            </a:p>
          </p:txBody>
        </p:sp>
        <p:sp>
          <p:nvSpPr>
            <p:cNvPr id="51" name="TextBox 51"/>
            <p:cNvSpPr txBox="1"/>
            <p:nvPr/>
          </p:nvSpPr>
          <p:spPr>
            <a:xfrm>
              <a:off x="7860792" y="5340668"/>
              <a:ext cx="3099816" cy="4926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推奨起動時刻と、予冷時間の内訳を</a:t>
              </a:r>
              <a:br/>
              <a:r>
                <a:rPr lang="ja-JP" sz="1350" dirty="0">
                  <a:solidFill>
                    <a:schemeClr val="dk1"/>
                  </a:solidFill>
                  <a:latin typeface="+mn-lt"/>
                  <a:ea typeface="+mn-ea"/>
                  <a:cs typeface="+mn-cs"/>
                </a:rPr>
                <a:t>分けて表示する。値域外なら外挿警告。</a:t>
              </a:r>
            </a:p>
          </p:txBody>
        </p:sp>
      </p:grpSp>
      <p:grpSp>
        <p:nvGrpSpPr>
          <p:cNvPr id="56" name="Group 56"/>
          <p:cNvGrpSpPr/>
          <p:nvPr/>
        </p:nvGrpSpPr>
        <p:grpSpPr>
          <a:xfrm>
            <a:off x="527304" y="6153150"/>
            <a:ext cx="11137392" cy="314706"/>
            <a:chOff x="527304" y="6153150"/>
            <a:chExt cx="11137392" cy="314706"/>
          </a:xfrm>
        </p:grpSpPr>
        <p:sp>
          <p:nvSpPr>
            <p:cNvPr id="53" name="Line 53"/>
            <p:cNvSpPr/>
            <p:nvPr/>
          </p:nvSpPr>
          <p:spPr>
            <a:xfrm>
              <a:off x="533400" y="61531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54" name="TextBox 54"/>
            <p:cNvSpPr txBox="1"/>
            <p:nvPr/>
          </p:nvSpPr>
          <p:spPr>
            <a:xfrm>
              <a:off x="527304" y="6233160"/>
              <a:ext cx="2919984"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熱源の起動を、どこまで遅らせてよいか</a:t>
              </a:r>
            </a:p>
          </p:txBody>
        </p:sp>
        <p:sp>
          <p:nvSpPr>
            <p:cNvPr id="55" name="TextBox 55"/>
            <p:cNvSpPr txBox="1"/>
            <p:nvPr/>
          </p:nvSpPr>
          <p:spPr>
            <a:xfrm>
              <a:off x="7452360" y="6233160"/>
              <a:ext cx="4212336"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起動時刻と稼働日は実測、電力量は合成データによる試算</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6542" y="730568"/>
            <a:ext cx="11138916" cy="345757"/>
            <a:chOff x="526542" y="730568"/>
            <a:chExt cx="11138916" cy="345757"/>
          </a:xfrm>
        </p:grpSpPr>
        <p:sp>
          <p:nvSpPr>
            <p:cNvPr id="2" name="TextBox 2"/>
            <p:cNvSpPr txBox="1"/>
            <p:nvPr/>
          </p:nvSpPr>
          <p:spPr>
            <a:xfrm>
              <a:off x="526542" y="730568"/>
              <a:ext cx="1722044"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04 どこまで言えるか</a:t>
              </a:r>
            </a:p>
          </p:txBody>
        </p:sp>
        <p:sp>
          <p:nvSpPr>
            <p:cNvPr id="3" name="TextBox 3"/>
            <p:cNvSpPr txBox="1"/>
            <p:nvPr/>
          </p:nvSpPr>
          <p:spPr>
            <a:xfrm>
              <a:off x="11042923" y="730568"/>
              <a:ext cx="622535"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10 / 11</a:t>
              </a:r>
            </a:p>
          </p:txBody>
        </p:sp>
        <p:sp>
          <p:nvSpPr>
            <p:cNvPr id="4" name="Line 4"/>
            <p:cNvSpPr/>
            <p:nvPr/>
          </p:nvSpPr>
          <p:spPr>
            <a:xfrm>
              <a:off x="533400" y="1066800"/>
              <a:ext cx="11125200" cy="9525"/>
            </a:xfrm>
            <a:custGeom>
              <a:avLst/>
              <a:gdLst/>
              <a:ahLst/>
              <a:cxnLst/>
              <a:rect l="l" t="t" r="r" b="b"/>
              <a:pathLst>
                <a:path w="11125200" h="9525">
                  <a:moveTo>
                    <a:pt x="0" y="0"/>
                  </a:moveTo>
                  <a:lnTo>
                    <a:pt x="11125200" y="0"/>
                  </a:lnTo>
                </a:path>
              </a:pathLst>
            </a:custGeom>
            <a:noFill/>
            <a:ln w="14288">
              <a:solidFill>
                <a:schemeClr val="accent1"/>
              </a:solidFill>
            </a:ln>
          </p:spPr>
        </p:sp>
      </p:grpSp>
      <p:grpSp>
        <p:nvGrpSpPr>
          <p:cNvPr id="8" name="Group 8"/>
          <p:cNvGrpSpPr/>
          <p:nvPr/>
        </p:nvGrpSpPr>
        <p:grpSpPr>
          <a:xfrm>
            <a:off x="517398" y="1241108"/>
            <a:ext cx="8811387" cy="994409"/>
            <a:chOff x="517398" y="1241108"/>
            <a:chExt cx="8811387" cy="994409"/>
          </a:xfrm>
        </p:grpSpPr>
        <p:sp>
          <p:nvSpPr>
            <p:cNvPr id="6" name="TextBox 6"/>
            <p:cNvSpPr txBox="1"/>
            <p:nvPr/>
          </p:nvSpPr>
          <p:spPr>
            <a:xfrm>
              <a:off x="517398" y="1241108"/>
              <a:ext cx="8513064" cy="616077"/>
            </a:xfrm>
            <a:prstGeom prst="rect">
              <a:avLst/>
            </a:prstGeom>
            <a:noFill/>
            <a:ln>
              <a:noFill/>
            </a:ln>
          </p:spPr>
          <p:txBody>
            <a:bodyPr wrap="none" lIns="0" tIns="0" rIns="0" bIns="0" anchor="t" anchorCtr="0">
              <a:spAutoFit/>
            </a:bodyPr>
            <a:lstStyle/>
            <a:p>
              <a:pPr algn="l"/>
              <a:r>
                <a:rPr lang="ja-JP" sz="3150" b="1" dirty="0">
                  <a:solidFill>
                    <a:schemeClr val="accent1"/>
                  </a:solidFill>
                  <a:latin typeface="+mn-lt"/>
                  <a:ea typeface="+mn-ea"/>
                  <a:cs typeface="+mn-cs"/>
                </a:rPr>
                <a:t>まだ確かめていないことを、先に書いておく</a:t>
              </a:r>
            </a:p>
          </p:txBody>
        </p:sp>
        <p:sp>
          <p:nvSpPr>
            <p:cNvPr id="7" name="TextBox 7"/>
            <p:cNvSpPr txBox="1"/>
            <p:nvPr/>
          </p:nvSpPr>
          <p:spPr>
            <a:xfrm>
              <a:off x="521970" y="1795462"/>
              <a:ext cx="8806815" cy="440055"/>
            </a:xfrm>
            <a:prstGeom prst="rect">
              <a:avLst/>
            </a:prstGeom>
            <a:noFill/>
            <a:ln>
              <a:noFill/>
            </a:ln>
          </p:spPr>
          <p:txBody>
            <a:bodyPr wrap="none" lIns="0" tIns="0" rIns="0" bIns="0" anchor="t" anchorCtr="0">
              <a:spAutoFit/>
            </a:bodyPr>
            <a:lstStyle/>
            <a:p>
              <a:pPr algn="l"/>
              <a:r>
                <a:rPr lang="ja-JP" sz="2250" dirty="0">
                  <a:solidFill>
                    <a:schemeClr val="dk1"/>
                  </a:solidFill>
                  <a:latin typeface="+mn-lt"/>
                  <a:ea typeface="+mn-ea"/>
                  <a:cs typeface="+mn-cs"/>
                </a:rPr>
                <a:t>手順とモデルの形は確かめられた。数値はまだ裏づけていない。</a:t>
              </a:r>
            </a:p>
          </p:txBody>
        </p:sp>
      </p:grpSp>
      <p:grpSp>
        <p:nvGrpSpPr>
          <p:cNvPr id="24" name="Group 24"/>
          <p:cNvGrpSpPr/>
          <p:nvPr/>
        </p:nvGrpSpPr>
        <p:grpSpPr>
          <a:xfrm>
            <a:off x="524256" y="2499793"/>
            <a:ext cx="5657469" cy="3466858"/>
            <a:chOff x="524256" y="2499793"/>
            <a:chExt cx="5657469" cy="3466858"/>
          </a:xfrm>
        </p:grpSpPr>
        <p:grpSp>
          <p:nvGrpSpPr>
            <p:cNvPr id="12" name="Group 12"/>
            <p:cNvGrpSpPr/>
            <p:nvPr/>
          </p:nvGrpSpPr>
          <p:grpSpPr>
            <a:xfrm>
              <a:off x="550119" y="2499793"/>
              <a:ext cx="176105" cy="151297"/>
              <a:chOff x="550119" y="2499793"/>
              <a:chExt cx="176105" cy="151297"/>
            </a:xfrm>
          </p:grpSpPr>
          <p:sp>
            <p:nvSpPr>
              <p:cNvPr id="9" name="Freeform 9"/>
              <p:cNvSpPr/>
              <p:nvPr/>
            </p:nvSpPr>
            <p:spPr>
              <a:xfrm>
                <a:off x="638175" y="2555081"/>
                <a:ext cx="9525" cy="34925"/>
              </a:xfrm>
              <a:custGeom>
                <a:avLst/>
                <a:gdLst/>
                <a:ahLst/>
                <a:cxnLst/>
                <a:rect l="l" t="t" r="r" b="b"/>
                <a:pathLst>
                  <a:path w="9525" h="34925">
                    <a:moveTo>
                      <a:pt x="0" y="0"/>
                    </a:moveTo>
                    <a:lnTo>
                      <a:pt x="0" y="34925"/>
                    </a:lnTo>
                  </a:path>
                </a:pathLst>
              </a:custGeom>
              <a:noFill/>
              <a:ln w="17463">
                <a:solidFill>
                  <a:schemeClr val="accent2"/>
                </a:solidFill>
              </a:ln>
            </p:spPr>
          </p:sp>
          <p:sp>
            <p:nvSpPr>
              <p:cNvPr id="10" name="Freeform 10"/>
              <p:cNvSpPr/>
              <p:nvPr/>
            </p:nvSpPr>
            <p:spPr>
              <a:xfrm>
                <a:off x="550119" y="2499793"/>
                <a:ext cx="176105" cy="151297"/>
              </a:xfrm>
              <a:custGeom>
                <a:avLst/>
                <a:gdLst/>
                <a:ahLst/>
                <a:cxnLst/>
                <a:rect l="l" t="t" r="r" b="b"/>
                <a:pathLst>
                  <a:path w="176105" h="151297">
                    <a:moveTo>
                      <a:pt x="73763" y="8061"/>
                    </a:moveTo>
                    <a:lnTo>
                      <a:pt x="2987" y="126230"/>
                    </a:lnTo>
                    <a:cubicBezTo>
                      <a:pt x="18" y="131371"/>
                      <a:pt x="0" y="137702"/>
                      <a:pt x="2939" y="142860"/>
                    </a:cubicBezTo>
                    <a:cubicBezTo>
                      <a:pt x="5879" y="148019"/>
                      <a:pt x="11335" y="151230"/>
                      <a:pt x="17271" y="151297"/>
                    </a:cubicBezTo>
                    <a:lnTo>
                      <a:pt x="158840" y="151297"/>
                    </a:lnTo>
                    <a:cubicBezTo>
                      <a:pt x="164774" y="151229"/>
                      <a:pt x="170227" y="148018"/>
                      <a:pt x="173166" y="142863"/>
                    </a:cubicBezTo>
                    <a:cubicBezTo>
                      <a:pt x="176105" y="137707"/>
                      <a:pt x="176089" y="131379"/>
                      <a:pt x="173124" y="126238"/>
                    </a:cubicBezTo>
                    <a:lnTo>
                      <a:pt x="102349" y="8052"/>
                    </a:lnTo>
                    <a:cubicBezTo>
                      <a:pt x="99320" y="3053"/>
                      <a:pt x="93900" y="0"/>
                      <a:pt x="88056" y="0"/>
                    </a:cubicBezTo>
                    <a:cubicBezTo>
                      <a:pt x="82211" y="0"/>
                      <a:pt x="76791" y="3053"/>
                      <a:pt x="73763" y="8052"/>
                    </a:cubicBezTo>
                  </a:path>
                </a:pathLst>
              </a:custGeom>
              <a:noFill/>
              <a:ln w="17463">
                <a:solidFill>
                  <a:schemeClr val="accent2"/>
                </a:solidFill>
              </a:ln>
            </p:spPr>
          </p:sp>
          <p:sp>
            <p:nvSpPr>
              <p:cNvPr id="11" name="Freeform 11"/>
              <p:cNvSpPr/>
              <p:nvPr/>
            </p:nvSpPr>
            <p:spPr>
              <a:xfrm>
                <a:off x="638175" y="2616200"/>
                <a:ext cx="9525" cy="9525"/>
              </a:xfrm>
              <a:custGeom>
                <a:avLst/>
                <a:gdLst/>
                <a:ahLst/>
                <a:cxnLst/>
                <a:rect l="l" t="t" r="r" b="b"/>
                <a:pathLst>
                  <a:path w="9525" h="9525">
                    <a:moveTo>
                      <a:pt x="0" y="0"/>
                    </a:moveTo>
                    <a:lnTo>
                      <a:pt x="87" y="0"/>
                    </a:lnTo>
                  </a:path>
                </a:pathLst>
              </a:custGeom>
              <a:noFill/>
              <a:ln w="17463">
                <a:solidFill>
                  <a:schemeClr val="accent2"/>
                </a:solidFill>
              </a:ln>
            </p:spPr>
          </p:sp>
        </p:grpSp>
        <p:sp>
          <p:nvSpPr>
            <p:cNvPr id="13" name="TextBox 13"/>
            <p:cNvSpPr txBox="1"/>
            <p:nvPr/>
          </p:nvSpPr>
          <p:spPr>
            <a:xfrm>
              <a:off x="812292" y="2502218"/>
              <a:ext cx="2012823" cy="264033"/>
            </a:xfrm>
            <a:prstGeom prst="rect">
              <a:avLst/>
            </a:prstGeom>
            <a:noFill/>
            <a:ln>
              <a:noFill/>
            </a:ln>
          </p:spPr>
          <p:txBody>
            <a:bodyPr wrap="none" lIns="0" tIns="0" rIns="0" bIns="0" anchor="t" anchorCtr="0">
              <a:spAutoFit/>
            </a:bodyPr>
            <a:lstStyle/>
            <a:p>
              <a:pPr algn="l"/>
              <a:r>
                <a:rPr lang="ja-JP" sz="1350" b="1" dirty="0">
                  <a:solidFill>
                    <a:schemeClr val="accent2"/>
                  </a:solidFill>
                  <a:latin typeface="+mn-lt"/>
                  <a:ea typeface="+mn-ea"/>
                  <a:cs typeface="+mn-cs"/>
                </a:rPr>
                <a:t>まだ確かめていないこと</a:t>
              </a:r>
            </a:p>
          </p:txBody>
        </p:sp>
        <p:sp>
          <p:nvSpPr>
            <p:cNvPr id="14" name="Line 14"/>
            <p:cNvSpPr/>
            <p:nvPr/>
          </p:nvSpPr>
          <p:spPr>
            <a:xfrm>
              <a:off x="6172200" y="2552700"/>
              <a:ext cx="9525" cy="3352800"/>
            </a:xfrm>
            <a:custGeom>
              <a:avLst/>
              <a:gdLst/>
              <a:ahLst/>
              <a:cxnLst/>
              <a:rect l="l" t="t" r="r" b="b"/>
              <a:pathLst>
                <a:path w="9525" h="3352800">
                  <a:moveTo>
                    <a:pt x="0" y="0"/>
                  </a:moveTo>
                  <a:lnTo>
                    <a:pt x="0" y="3352800"/>
                  </a:lnTo>
                </a:path>
              </a:pathLst>
            </a:custGeom>
            <a:noFill/>
            <a:ln w="9525">
              <a:solidFill>
                <a:schemeClr val="accent6"/>
              </a:solidFill>
            </a:ln>
          </p:spPr>
        </p:sp>
        <p:sp>
          <p:nvSpPr>
            <p:cNvPr id="15" name="TextBox 15"/>
            <p:cNvSpPr txBox="1"/>
            <p:nvPr/>
          </p:nvSpPr>
          <p:spPr>
            <a:xfrm>
              <a:off x="527304" y="2918460"/>
              <a:ext cx="189890"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01</a:t>
              </a:r>
            </a:p>
          </p:txBody>
        </p:sp>
        <p:sp>
          <p:nvSpPr>
            <p:cNvPr id="16" name="TextBox 16"/>
            <p:cNvSpPr txBox="1"/>
            <p:nvPr/>
          </p:nvSpPr>
          <p:spPr>
            <a:xfrm>
              <a:off x="524256" y="3120390"/>
              <a:ext cx="2926080" cy="352044"/>
            </a:xfrm>
            <a:prstGeom prst="rect">
              <a:avLst/>
            </a:prstGeom>
            <a:noFill/>
            <a:ln>
              <a:noFill/>
            </a:ln>
          </p:spPr>
          <p:txBody>
            <a:bodyPr wrap="none" lIns="0" tIns="0" rIns="0" bIns="0" anchor="t" anchorCtr="0">
              <a:spAutoFit/>
            </a:bodyPr>
            <a:lstStyle/>
            <a:p>
              <a:pPr algn="l"/>
              <a:r>
                <a:rPr lang="ja-JP" sz="1800" dirty="0">
                  <a:solidFill>
                    <a:schemeClr val="accent1"/>
                  </a:solidFill>
                  <a:latin typeface="+mn-lt"/>
                  <a:ea typeface="+mn-ea"/>
                  <a:cs typeface="+mn-cs"/>
                </a:rPr>
                <a:t>数値は合成データの参考値</a:t>
              </a:r>
            </a:p>
          </p:txBody>
        </p:sp>
        <p:sp>
          <p:nvSpPr>
            <p:cNvPr id="17" name="TextBox 17"/>
            <p:cNvSpPr txBox="1"/>
            <p:nvPr/>
          </p:nvSpPr>
          <p:spPr>
            <a:xfrm>
              <a:off x="526542" y="3454718"/>
              <a:ext cx="2558034" cy="264033"/>
            </a:xfrm>
            <a:prstGeom prst="rect">
              <a:avLst/>
            </a:prstGeom>
            <a:noFill/>
            <a:ln>
              <a:noFill/>
            </a:ln>
          </p:spPr>
          <p:txBody>
            <a:bodyPr wrap="none" lIns="0" tIns="0" rIns="0" bIns="0" anchor="t" anchorCtr="0">
              <a:spAutoFit/>
            </a:bodyPr>
            <a:lstStyle/>
            <a:p>
              <a:pPr algn="l"/>
              <a:r>
                <a:rPr lang="ja-JP" sz="1350" dirty="0">
                  <a:solidFill>
                    <a:schemeClr val="dk1"/>
                  </a:solidFill>
                  <a:latin typeface="+mn-lt"/>
                  <a:ea typeface="+mn-ea"/>
                  <a:cs typeface="+mn-cs"/>
                </a:rPr>
                <a:t>実データでの再現はこれから。</a:t>
              </a:r>
            </a:p>
          </p:txBody>
        </p:sp>
        <p:sp>
          <p:nvSpPr>
            <p:cNvPr id="18" name="TextBox 18"/>
            <p:cNvSpPr txBox="1"/>
            <p:nvPr/>
          </p:nvSpPr>
          <p:spPr>
            <a:xfrm>
              <a:off x="527304" y="3928110"/>
              <a:ext cx="189890"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02</a:t>
              </a:r>
            </a:p>
          </p:txBody>
        </p:sp>
        <p:sp>
          <p:nvSpPr>
            <p:cNvPr id="19" name="TextBox 19"/>
            <p:cNvSpPr txBox="1"/>
            <p:nvPr/>
          </p:nvSpPr>
          <p:spPr>
            <a:xfrm>
              <a:off x="524256" y="4130040"/>
              <a:ext cx="1726616" cy="352044"/>
            </a:xfrm>
            <a:prstGeom prst="rect">
              <a:avLst/>
            </a:prstGeom>
            <a:noFill/>
            <a:ln>
              <a:noFill/>
            </a:ln>
          </p:spPr>
          <p:txBody>
            <a:bodyPr wrap="none" lIns="0" tIns="0" rIns="0" bIns="0" anchor="t" anchorCtr="0">
              <a:spAutoFit/>
            </a:bodyPr>
            <a:lstStyle/>
            <a:p>
              <a:pPr algn="l"/>
              <a:r>
                <a:rPr lang="ja-JP" sz="1800" dirty="0">
                  <a:solidFill>
                    <a:schemeClr val="accent1"/>
                  </a:solidFill>
                  <a:latin typeface="+mn-lt"/>
                  <a:ea typeface="+mn-ea"/>
                  <a:cs typeface="+mn-cs"/>
                </a:rPr>
                <a:t>+2.0℃ は運用値</a:t>
              </a:r>
            </a:p>
          </p:txBody>
        </p:sp>
        <p:sp>
          <p:nvSpPr>
            <p:cNvPr id="20" name="TextBox 20"/>
            <p:cNvSpPr txBox="1"/>
            <p:nvPr/>
          </p:nvSpPr>
          <p:spPr>
            <a:xfrm>
              <a:off x="526542" y="4464368"/>
              <a:ext cx="3271266" cy="4926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学習した係数ではない。休日明けの標本が</a:t>
              </a:r>
              <a:br/>
              <a:r>
                <a:rPr lang="ja-JP" sz="1350" dirty="0">
                  <a:solidFill>
                    <a:schemeClr val="dk1"/>
                  </a:solidFill>
                  <a:latin typeface="+mn-lt"/>
                  <a:ea typeface="+mn-ea"/>
                  <a:cs typeface="+mn-cs"/>
                </a:rPr>
                <a:t>2 件しかなく、係数化できていない。</a:t>
              </a:r>
            </a:p>
          </p:txBody>
        </p:sp>
        <p:sp>
          <p:nvSpPr>
            <p:cNvPr id="21" name="TextBox 21"/>
            <p:cNvSpPr txBox="1"/>
            <p:nvPr/>
          </p:nvSpPr>
          <p:spPr>
            <a:xfrm>
              <a:off x="527304" y="4937760"/>
              <a:ext cx="189890"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03</a:t>
              </a:r>
            </a:p>
          </p:txBody>
        </p:sp>
        <p:sp>
          <p:nvSpPr>
            <p:cNvPr id="22" name="TextBox 22"/>
            <p:cNvSpPr txBox="1"/>
            <p:nvPr/>
          </p:nvSpPr>
          <p:spPr>
            <a:xfrm>
              <a:off x="524256" y="5139690"/>
              <a:ext cx="2683764" cy="352044"/>
            </a:xfrm>
            <a:prstGeom prst="rect">
              <a:avLst/>
            </a:prstGeom>
            <a:noFill/>
            <a:ln>
              <a:noFill/>
            </a:ln>
          </p:spPr>
          <p:txBody>
            <a:bodyPr wrap="none" lIns="0" tIns="0" rIns="0" bIns="0" anchor="t" anchorCtr="0">
              <a:spAutoFit/>
            </a:bodyPr>
            <a:lstStyle/>
            <a:p>
              <a:pPr algn="l"/>
              <a:r>
                <a:rPr lang="ja-JP" sz="1800" dirty="0">
                  <a:solidFill>
                    <a:schemeClr val="accent1"/>
                  </a:solidFill>
                  <a:latin typeface="+mn-lt"/>
                  <a:ea typeface="+mn-ea"/>
                  <a:cs typeface="+mn-cs"/>
                </a:rPr>
                <a:t>学習した外気温幅が狭い</a:t>
              </a:r>
            </a:p>
          </p:txBody>
        </p:sp>
        <p:sp>
          <p:nvSpPr>
            <p:cNvPr id="23" name="TextBox 23"/>
            <p:cNvSpPr txBox="1"/>
            <p:nvPr/>
          </p:nvSpPr>
          <p:spPr>
            <a:xfrm>
              <a:off x="526542" y="5474018"/>
              <a:ext cx="3485578" cy="4926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23.5〜25.1℃ の範囲でしか確かめていない。</a:t>
              </a:r>
              <a:br/>
              <a:r>
                <a:rPr lang="ja-JP" sz="1350" dirty="0">
                  <a:solidFill>
                    <a:schemeClr val="dk1"/>
                  </a:solidFill>
                  <a:latin typeface="+mn-lt"/>
                  <a:ea typeface="+mn-ea"/>
                  <a:cs typeface="+mn-cs"/>
                </a:rPr>
                <a:t>中間期・猛暑日・冬期暖房は範囲外。</a:t>
              </a:r>
            </a:p>
          </p:txBody>
        </p:sp>
      </p:grpSp>
      <p:grpSp>
        <p:nvGrpSpPr>
          <p:cNvPr id="32" name="Group 32"/>
          <p:cNvGrpSpPr/>
          <p:nvPr/>
        </p:nvGrpSpPr>
        <p:grpSpPr>
          <a:xfrm>
            <a:off x="6353556" y="2502218"/>
            <a:ext cx="4165092" cy="3464433"/>
            <a:chOff x="6353556" y="2502218"/>
            <a:chExt cx="4165092" cy="3464433"/>
          </a:xfrm>
        </p:grpSpPr>
        <p:sp>
          <p:nvSpPr>
            <p:cNvPr id="25" name="TextBox 25"/>
            <p:cNvSpPr txBox="1"/>
            <p:nvPr/>
          </p:nvSpPr>
          <p:spPr>
            <a:xfrm>
              <a:off x="6355842" y="2502218"/>
              <a:ext cx="2012823" cy="264033"/>
            </a:xfrm>
            <a:prstGeom prst="rect">
              <a:avLst/>
            </a:prstGeom>
            <a:noFill/>
            <a:ln>
              <a:noFill/>
            </a:ln>
          </p:spPr>
          <p:txBody>
            <a:bodyPr wrap="none" lIns="0" tIns="0" rIns="0" bIns="0" anchor="t" anchorCtr="0">
              <a:spAutoFit/>
            </a:bodyPr>
            <a:lstStyle/>
            <a:p>
              <a:pPr algn="l"/>
              <a:r>
                <a:rPr lang="ja-JP" sz="1350" b="1" dirty="0">
                  <a:solidFill>
                    <a:schemeClr val="accent1"/>
                  </a:solidFill>
                  <a:latin typeface="+mn-lt"/>
                  <a:ea typeface="+mn-ea"/>
                  <a:cs typeface="+mn-cs"/>
                </a:rPr>
                <a:t>そのために次にやること</a:t>
              </a:r>
            </a:p>
          </p:txBody>
        </p:sp>
        <p:sp>
          <p:nvSpPr>
            <p:cNvPr id="26" name="TextBox 26"/>
            <p:cNvSpPr txBox="1"/>
            <p:nvPr/>
          </p:nvSpPr>
          <p:spPr>
            <a:xfrm>
              <a:off x="6353556" y="3120390"/>
              <a:ext cx="2441448" cy="352044"/>
            </a:xfrm>
            <a:prstGeom prst="rect">
              <a:avLst/>
            </a:prstGeom>
            <a:noFill/>
            <a:ln>
              <a:noFill/>
            </a:ln>
          </p:spPr>
          <p:txBody>
            <a:bodyPr wrap="none" lIns="0" tIns="0" rIns="0" bIns="0" anchor="t" anchorCtr="0">
              <a:spAutoFit/>
            </a:bodyPr>
            <a:lstStyle/>
            <a:p>
              <a:pPr algn="l"/>
              <a:r>
                <a:rPr lang="ja-JP" sz="1800" dirty="0">
                  <a:solidFill>
                    <a:schemeClr val="accent1"/>
                  </a:solidFill>
                  <a:latin typeface="+mn-lt"/>
                  <a:ea typeface="+mn-ea"/>
                  <a:cs typeface="+mn-cs"/>
                </a:rPr>
                <a:t>実データで再検証する</a:t>
              </a:r>
            </a:p>
          </p:txBody>
        </p:sp>
        <p:sp>
          <p:nvSpPr>
            <p:cNvPr id="27" name="TextBox 27"/>
            <p:cNvSpPr txBox="1"/>
            <p:nvPr/>
          </p:nvSpPr>
          <p:spPr>
            <a:xfrm>
              <a:off x="6355842" y="3454718"/>
              <a:ext cx="4162806" cy="4926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check_data.py で期間・欠測・外れ値を点検し、</a:t>
              </a:r>
              <a:br/>
              <a:r>
                <a:rPr lang="ja-JP" sz="1350" dirty="0">
                  <a:solidFill>
                    <a:schemeClr val="dk1"/>
                  </a:solidFill>
                  <a:latin typeface="+mn-lt"/>
                  <a:ea typeface="+mn-ea"/>
                  <a:cs typeface="+mn-cs"/>
                </a:rPr>
                <a:t>fit_models.py で再学習して LOO-MAE で評価する。</a:t>
              </a:r>
            </a:p>
          </p:txBody>
        </p:sp>
        <p:sp>
          <p:nvSpPr>
            <p:cNvPr id="28" name="TextBox 28"/>
            <p:cNvSpPr txBox="1"/>
            <p:nvPr/>
          </p:nvSpPr>
          <p:spPr>
            <a:xfrm>
              <a:off x="6353556" y="4130040"/>
              <a:ext cx="2199132" cy="352044"/>
            </a:xfrm>
            <a:prstGeom prst="rect">
              <a:avLst/>
            </a:prstGeom>
            <a:noFill/>
            <a:ln>
              <a:noFill/>
            </a:ln>
          </p:spPr>
          <p:txBody>
            <a:bodyPr wrap="none" lIns="0" tIns="0" rIns="0" bIns="0" anchor="t" anchorCtr="0">
              <a:spAutoFit/>
            </a:bodyPr>
            <a:lstStyle/>
            <a:p>
              <a:pPr algn="l"/>
              <a:r>
                <a:rPr lang="ja-JP" sz="1800" dirty="0">
                  <a:solidFill>
                    <a:schemeClr val="accent1"/>
                  </a:solidFill>
                  <a:latin typeface="+mn-lt"/>
                  <a:ea typeface="+mn-ea"/>
                  <a:cs typeface="+mn-cs"/>
                </a:rPr>
                <a:t>通年データへ広げる</a:t>
              </a:r>
            </a:p>
          </p:txBody>
        </p:sp>
        <p:sp>
          <p:nvSpPr>
            <p:cNvPr id="29" name="TextBox 29"/>
            <p:cNvSpPr txBox="1"/>
            <p:nvPr/>
          </p:nvSpPr>
          <p:spPr>
            <a:xfrm>
              <a:off x="6355842" y="4464368"/>
              <a:ext cx="4128516" cy="4926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中間期・猛暑日・冬期暖房まで外気温の範囲を</a:t>
              </a:r>
              <a:br/>
              <a:r>
                <a:rPr lang="ja-JP" sz="1350" dirty="0">
                  <a:solidFill>
                    <a:schemeClr val="dk1"/>
                  </a:solidFill>
                  <a:latin typeface="+mn-lt"/>
                  <a:ea typeface="+mn-ea"/>
                  <a:cs typeface="+mn-cs"/>
                </a:rPr>
                <a:t>広げ、前日最高気温や日射量を加えて精度を上げる。</a:t>
              </a:r>
            </a:p>
          </p:txBody>
        </p:sp>
        <p:sp>
          <p:nvSpPr>
            <p:cNvPr id="30" name="TextBox 30"/>
            <p:cNvSpPr txBox="1"/>
            <p:nvPr/>
          </p:nvSpPr>
          <p:spPr>
            <a:xfrm>
              <a:off x="6353556" y="5139690"/>
              <a:ext cx="2683764" cy="352044"/>
            </a:xfrm>
            <a:prstGeom prst="rect">
              <a:avLst/>
            </a:prstGeom>
            <a:noFill/>
            <a:ln>
              <a:noFill/>
            </a:ln>
          </p:spPr>
          <p:txBody>
            <a:bodyPr wrap="none" lIns="0" tIns="0" rIns="0" bIns="0" anchor="t" anchorCtr="0">
              <a:spAutoFit/>
            </a:bodyPr>
            <a:lstStyle/>
            <a:p>
              <a:pPr algn="l"/>
              <a:r>
                <a:rPr lang="ja-JP" sz="1800" dirty="0">
                  <a:solidFill>
                    <a:schemeClr val="accent1"/>
                  </a:solidFill>
                  <a:latin typeface="+mn-lt"/>
                  <a:ea typeface="+mn-ea"/>
                  <a:cs typeface="+mn-cs"/>
                </a:rPr>
                <a:t>他フロア・他棟へ広げる</a:t>
              </a:r>
            </a:p>
          </p:txBody>
        </p:sp>
        <p:sp>
          <p:nvSpPr>
            <p:cNvPr id="31" name="TextBox 31"/>
            <p:cNvSpPr txBox="1"/>
            <p:nvPr/>
          </p:nvSpPr>
          <p:spPr>
            <a:xfrm>
              <a:off x="6355842" y="5474018"/>
              <a:ext cx="3999928" cy="492633"/>
            </a:xfrm>
            <a:prstGeom prst="rect">
              <a:avLst/>
            </a:prstGeom>
            <a:noFill/>
            <a:ln>
              <a:noFill/>
            </a:ln>
          </p:spPr>
          <p:txBody>
            <a:bodyPr wrap="none" lIns="0" tIns="0" rIns="0" bIns="0" anchor="t" anchorCtr="0">
              <a:spAutoFit/>
            </a:bodyPr>
            <a:lstStyle/>
            <a:p>
              <a:pPr algn="l">
                <a:lnSpc>
                  <a:spcPts val="1800"/>
                </a:lnSpc>
              </a:pPr>
              <a:r>
                <a:rPr lang="ja-JP" sz="1350" dirty="0">
                  <a:solidFill>
                    <a:schemeClr val="dk1"/>
                  </a:solidFill>
                  <a:latin typeface="+mn-lt"/>
                  <a:ea typeface="+mn-ea"/>
                  <a:cs typeface="+mn-cs"/>
                </a:rPr>
                <a:t>共通パッケージとしてデータ CSV の差し替えだけで</a:t>
              </a:r>
              <a:br/>
              <a:r>
                <a:rPr lang="ja-JP" sz="1350" dirty="0">
                  <a:solidFill>
                    <a:schemeClr val="dk1"/>
                  </a:solidFill>
                  <a:latin typeface="+mn-lt"/>
                  <a:ea typeface="+mn-ea"/>
                  <a:cs typeface="+mn-cs"/>
                </a:rPr>
                <a:t>展開し、BEMS のデマンド制御へつなげる。</a:t>
              </a:r>
            </a:p>
          </p:txBody>
        </p:sp>
      </p:grpSp>
      <p:grpSp>
        <p:nvGrpSpPr>
          <p:cNvPr id="36" name="Group 36"/>
          <p:cNvGrpSpPr/>
          <p:nvPr/>
        </p:nvGrpSpPr>
        <p:grpSpPr>
          <a:xfrm>
            <a:off x="527304" y="6153150"/>
            <a:ext cx="11137392" cy="314706"/>
            <a:chOff x="527304" y="6153150"/>
            <a:chExt cx="11137392" cy="314706"/>
          </a:xfrm>
        </p:grpSpPr>
        <p:sp>
          <p:nvSpPr>
            <p:cNvPr id="33" name="Line 33"/>
            <p:cNvSpPr/>
            <p:nvPr/>
          </p:nvSpPr>
          <p:spPr>
            <a:xfrm>
              <a:off x="533400" y="61531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34" name="TextBox 34"/>
            <p:cNvSpPr txBox="1"/>
            <p:nvPr/>
          </p:nvSpPr>
          <p:spPr>
            <a:xfrm>
              <a:off x="527304" y="6233160"/>
              <a:ext cx="2919984"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熱源の起動を、どこまで遅らせてよいか</a:t>
              </a:r>
            </a:p>
          </p:txBody>
        </p:sp>
        <p:sp>
          <p:nvSpPr>
            <p:cNvPr id="35" name="TextBox 35"/>
            <p:cNvSpPr txBox="1"/>
            <p:nvPr/>
          </p:nvSpPr>
          <p:spPr>
            <a:xfrm>
              <a:off x="7452360" y="6233160"/>
              <a:ext cx="4212336"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起動時刻と稼働日は実測、電力量は合成データによる試算</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26542" y="730568"/>
            <a:ext cx="11138916" cy="345757"/>
            <a:chOff x="526542" y="730568"/>
            <a:chExt cx="11138916" cy="345757"/>
          </a:xfrm>
        </p:grpSpPr>
        <p:sp>
          <p:nvSpPr>
            <p:cNvPr id="2" name="TextBox 2"/>
            <p:cNvSpPr txBox="1"/>
            <p:nvPr/>
          </p:nvSpPr>
          <p:spPr>
            <a:xfrm>
              <a:off x="526542" y="730568"/>
              <a:ext cx="1722044"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04 どこまで言えるか</a:t>
              </a:r>
            </a:p>
          </p:txBody>
        </p:sp>
        <p:sp>
          <p:nvSpPr>
            <p:cNvPr id="3" name="TextBox 3"/>
            <p:cNvSpPr txBox="1"/>
            <p:nvPr/>
          </p:nvSpPr>
          <p:spPr>
            <a:xfrm>
              <a:off x="11042923" y="730568"/>
              <a:ext cx="622535"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11 / 11</a:t>
              </a:r>
            </a:p>
          </p:txBody>
        </p:sp>
        <p:sp>
          <p:nvSpPr>
            <p:cNvPr id="4" name="Line 4"/>
            <p:cNvSpPr/>
            <p:nvPr/>
          </p:nvSpPr>
          <p:spPr>
            <a:xfrm>
              <a:off x="533400" y="1066800"/>
              <a:ext cx="11125200" cy="9525"/>
            </a:xfrm>
            <a:custGeom>
              <a:avLst/>
              <a:gdLst/>
              <a:ahLst/>
              <a:cxnLst/>
              <a:rect l="l" t="t" r="r" b="b"/>
              <a:pathLst>
                <a:path w="11125200" h="9525">
                  <a:moveTo>
                    <a:pt x="0" y="0"/>
                  </a:moveTo>
                  <a:lnTo>
                    <a:pt x="11125200" y="0"/>
                  </a:lnTo>
                </a:path>
              </a:pathLst>
            </a:custGeom>
            <a:noFill/>
            <a:ln w="14288">
              <a:solidFill>
                <a:schemeClr val="accent1"/>
              </a:solidFill>
            </a:ln>
          </p:spPr>
        </p:sp>
      </p:grpSp>
      <p:grpSp>
        <p:nvGrpSpPr>
          <p:cNvPr id="8" name="Group 8"/>
          <p:cNvGrpSpPr/>
          <p:nvPr/>
        </p:nvGrpSpPr>
        <p:grpSpPr>
          <a:xfrm>
            <a:off x="517398" y="1241108"/>
            <a:ext cx="9500616" cy="994409"/>
            <a:chOff x="517398" y="1241108"/>
            <a:chExt cx="9500616" cy="994409"/>
          </a:xfrm>
        </p:grpSpPr>
        <p:sp>
          <p:nvSpPr>
            <p:cNvPr id="6" name="TextBox 6"/>
            <p:cNvSpPr txBox="1"/>
            <p:nvPr/>
          </p:nvSpPr>
          <p:spPr>
            <a:xfrm>
              <a:off x="517398" y="1241108"/>
              <a:ext cx="9361170" cy="616077"/>
            </a:xfrm>
            <a:prstGeom prst="rect">
              <a:avLst/>
            </a:prstGeom>
            <a:noFill/>
            <a:ln>
              <a:noFill/>
            </a:ln>
          </p:spPr>
          <p:txBody>
            <a:bodyPr wrap="none" lIns="0" tIns="0" rIns="0" bIns="0" anchor="t" anchorCtr="0">
              <a:spAutoFit/>
            </a:bodyPr>
            <a:lstStyle/>
            <a:p>
              <a:pPr algn="l"/>
              <a:r>
                <a:rPr lang="ja-JP" sz="3150" b="1" dirty="0">
                  <a:solidFill>
                    <a:schemeClr val="accent1"/>
                  </a:solidFill>
                  <a:latin typeface="+mn-lt"/>
                  <a:ea typeface="+mn-ea"/>
                  <a:cs typeface="+mn-cs"/>
                </a:rPr>
                <a:t>つくったのは、起動時刻を動かすためのものさし</a:t>
              </a:r>
            </a:p>
          </p:txBody>
        </p:sp>
        <p:sp>
          <p:nvSpPr>
            <p:cNvPr id="7" name="TextBox 7"/>
            <p:cNvSpPr txBox="1"/>
            <p:nvPr/>
          </p:nvSpPr>
          <p:spPr>
            <a:xfrm>
              <a:off x="521970" y="1795462"/>
              <a:ext cx="9496044" cy="440055"/>
            </a:xfrm>
            <a:prstGeom prst="rect">
              <a:avLst/>
            </a:prstGeom>
            <a:noFill/>
            <a:ln>
              <a:noFill/>
            </a:ln>
          </p:spPr>
          <p:txBody>
            <a:bodyPr wrap="none" lIns="0" tIns="0" rIns="0" bIns="0" anchor="t" anchorCtr="0">
              <a:spAutoFit/>
            </a:bodyPr>
            <a:lstStyle/>
            <a:p>
              <a:pPr algn="l"/>
              <a:r>
                <a:rPr lang="ja-JP" sz="2250" dirty="0">
                  <a:solidFill>
                    <a:schemeClr val="dk1"/>
                  </a:solidFill>
                  <a:latin typeface="+mn-lt"/>
                  <a:ea typeface="+mn-ea"/>
                  <a:cs typeface="+mn-cs"/>
                </a:rPr>
                <a:t>残したのは削減量ではなく、BM が自分で時刻を決められる基準。</a:t>
              </a:r>
            </a:p>
          </p:txBody>
        </p:sp>
      </p:grpSp>
      <p:grpSp>
        <p:nvGrpSpPr>
          <p:cNvPr id="18" name="Group 18"/>
          <p:cNvGrpSpPr/>
          <p:nvPr/>
        </p:nvGrpSpPr>
        <p:grpSpPr>
          <a:xfrm>
            <a:off x="524256" y="2495550"/>
            <a:ext cx="11134344" cy="1053084"/>
            <a:chOff x="524256" y="2495550"/>
            <a:chExt cx="11134344" cy="1053084"/>
          </a:xfrm>
        </p:grpSpPr>
        <p:sp>
          <p:nvSpPr>
            <p:cNvPr id="9" name="Line 9"/>
            <p:cNvSpPr/>
            <p:nvPr/>
          </p:nvSpPr>
          <p:spPr>
            <a:xfrm>
              <a:off x="533400" y="2495550"/>
              <a:ext cx="3543300" cy="9525"/>
            </a:xfrm>
            <a:custGeom>
              <a:avLst/>
              <a:gdLst/>
              <a:ahLst/>
              <a:cxnLst/>
              <a:rect l="l" t="t" r="r" b="b"/>
              <a:pathLst>
                <a:path w="3543300" h="9525">
                  <a:moveTo>
                    <a:pt x="0" y="0"/>
                  </a:moveTo>
                  <a:lnTo>
                    <a:pt x="3543300" y="0"/>
                  </a:lnTo>
                </a:path>
              </a:pathLst>
            </a:custGeom>
            <a:noFill/>
            <a:ln w="38100">
              <a:solidFill>
                <a:schemeClr val="accent2"/>
              </a:solidFill>
            </a:ln>
          </p:spPr>
        </p:sp>
        <p:sp>
          <p:nvSpPr>
            <p:cNvPr id="10" name="TextBox 10"/>
            <p:cNvSpPr txBox="1"/>
            <p:nvPr/>
          </p:nvSpPr>
          <p:spPr>
            <a:xfrm>
              <a:off x="526542" y="2635568"/>
              <a:ext cx="377190"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課題</a:t>
              </a:r>
            </a:p>
          </p:txBody>
        </p:sp>
        <p:sp>
          <p:nvSpPr>
            <p:cNvPr id="11" name="TextBox 11"/>
            <p:cNvSpPr txBox="1"/>
            <p:nvPr/>
          </p:nvSpPr>
          <p:spPr>
            <a:xfrm>
              <a:off x="524256" y="2948940"/>
              <a:ext cx="2532888" cy="599694"/>
            </a:xfrm>
            <a:prstGeom prst="rect">
              <a:avLst/>
            </a:prstGeom>
            <a:noFill/>
            <a:ln>
              <a:noFill/>
            </a:ln>
          </p:spPr>
          <p:txBody>
            <a:bodyPr wrap="none" lIns="0" tIns="0" rIns="0" bIns="0" anchor="t" anchorCtr="0">
              <a:spAutoFit/>
            </a:bodyPr>
            <a:lstStyle/>
            <a:p>
              <a:pPr algn="l">
                <a:lnSpc>
                  <a:spcPts val="1950"/>
                </a:lnSpc>
              </a:pPr>
              <a:r>
                <a:rPr lang="ja-JP" sz="1800" dirty="0">
                  <a:solidFill>
                    <a:schemeClr val="dk1"/>
                  </a:solidFill>
                  <a:latin typeface="+mn-lt"/>
                  <a:ea typeface="+mn-ea"/>
                  <a:cs typeface="+mn-cs"/>
                </a:rPr>
                <a:t>判断基準がないまま、</a:t>
              </a:r>
              <a:br/>
              <a:r>
                <a:rPr lang="ja-JP" sz="1800" dirty="0">
                  <a:solidFill>
                    <a:schemeClr val="dk1"/>
                  </a:solidFill>
                  <a:latin typeface="+mn-lt"/>
                  <a:ea typeface="+mn-ea"/>
                  <a:cs typeface="+mn-cs"/>
                </a:rPr>
                <a:t>固定起動が続いていた。</a:t>
              </a:r>
            </a:p>
          </p:txBody>
        </p:sp>
        <p:sp>
          <p:nvSpPr>
            <p:cNvPr id="12" name="Line 12"/>
            <p:cNvSpPr/>
            <p:nvPr/>
          </p:nvSpPr>
          <p:spPr>
            <a:xfrm>
              <a:off x="4324350" y="2495550"/>
              <a:ext cx="3543300" cy="9525"/>
            </a:xfrm>
            <a:custGeom>
              <a:avLst/>
              <a:gdLst/>
              <a:ahLst/>
              <a:cxnLst/>
              <a:rect l="l" t="t" r="r" b="b"/>
              <a:pathLst>
                <a:path w="3543300" h="9525">
                  <a:moveTo>
                    <a:pt x="0" y="0"/>
                  </a:moveTo>
                  <a:lnTo>
                    <a:pt x="3543300" y="0"/>
                  </a:lnTo>
                </a:path>
              </a:pathLst>
            </a:custGeom>
            <a:noFill/>
            <a:ln w="38100">
              <a:solidFill>
                <a:schemeClr val="accent1"/>
              </a:solidFill>
            </a:ln>
          </p:spPr>
        </p:sp>
        <p:sp>
          <p:nvSpPr>
            <p:cNvPr id="13" name="TextBox 13"/>
            <p:cNvSpPr txBox="1"/>
            <p:nvPr/>
          </p:nvSpPr>
          <p:spPr>
            <a:xfrm>
              <a:off x="4317492" y="2635568"/>
              <a:ext cx="377190"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方式</a:t>
              </a:r>
            </a:p>
          </p:txBody>
        </p:sp>
        <p:sp>
          <p:nvSpPr>
            <p:cNvPr id="14" name="TextBox 14"/>
            <p:cNvSpPr txBox="1"/>
            <p:nvPr/>
          </p:nvSpPr>
          <p:spPr>
            <a:xfrm>
              <a:off x="4315206" y="2948940"/>
              <a:ext cx="2532888" cy="599694"/>
            </a:xfrm>
            <a:prstGeom prst="rect">
              <a:avLst/>
            </a:prstGeom>
            <a:noFill/>
            <a:ln>
              <a:noFill/>
            </a:ln>
          </p:spPr>
          <p:txBody>
            <a:bodyPr wrap="none" lIns="0" tIns="0" rIns="0" bIns="0" anchor="t" anchorCtr="0">
              <a:spAutoFit/>
            </a:bodyPr>
            <a:lstStyle/>
            <a:p>
              <a:pPr algn="l">
                <a:lnSpc>
                  <a:spcPts val="1950"/>
                </a:lnSpc>
              </a:pPr>
              <a:r>
                <a:rPr lang="ja-JP" sz="1800" dirty="0">
                  <a:solidFill>
                    <a:schemeClr val="dk1"/>
                  </a:solidFill>
                  <a:latin typeface="+mn-lt"/>
                  <a:ea typeface="+mn-ea"/>
                  <a:cs typeface="+mn-cs"/>
                </a:rPr>
                <a:t>室温を経由せず、翌日の</a:t>
              </a:r>
              <a:br/>
              <a:r>
                <a:rPr lang="ja-JP" sz="1800" dirty="0">
                  <a:solidFill>
                    <a:schemeClr val="dk1"/>
                  </a:solidFill>
                  <a:latin typeface="+mn-lt"/>
                  <a:ea typeface="+mn-ea"/>
                  <a:cs typeface="+mn-cs"/>
                </a:rPr>
                <a:t>気温予報から見積もる。</a:t>
              </a:r>
            </a:p>
          </p:txBody>
        </p:sp>
        <p:sp>
          <p:nvSpPr>
            <p:cNvPr id="15" name="Line 15"/>
            <p:cNvSpPr/>
            <p:nvPr/>
          </p:nvSpPr>
          <p:spPr>
            <a:xfrm>
              <a:off x="8115300" y="2495550"/>
              <a:ext cx="3543300" cy="9525"/>
            </a:xfrm>
            <a:custGeom>
              <a:avLst/>
              <a:gdLst/>
              <a:ahLst/>
              <a:cxnLst/>
              <a:rect l="l" t="t" r="r" b="b"/>
              <a:pathLst>
                <a:path w="3543300" h="9525">
                  <a:moveTo>
                    <a:pt x="0" y="0"/>
                  </a:moveTo>
                  <a:lnTo>
                    <a:pt x="3543300" y="0"/>
                  </a:lnTo>
                </a:path>
              </a:pathLst>
            </a:custGeom>
            <a:noFill/>
            <a:ln w="38100">
              <a:solidFill>
                <a:schemeClr val="accent3"/>
              </a:solidFill>
            </a:ln>
          </p:spPr>
        </p:sp>
        <p:sp>
          <p:nvSpPr>
            <p:cNvPr id="16" name="TextBox 16"/>
            <p:cNvSpPr txBox="1"/>
            <p:nvPr/>
          </p:nvSpPr>
          <p:spPr>
            <a:xfrm>
              <a:off x="8108442" y="2635568"/>
              <a:ext cx="922401"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残したもの</a:t>
              </a:r>
            </a:p>
          </p:txBody>
        </p:sp>
        <p:sp>
          <p:nvSpPr>
            <p:cNvPr id="17" name="TextBox 17"/>
            <p:cNvSpPr txBox="1"/>
            <p:nvPr/>
          </p:nvSpPr>
          <p:spPr>
            <a:xfrm>
              <a:off x="8106156" y="2948940"/>
              <a:ext cx="2795778" cy="599694"/>
            </a:xfrm>
            <a:prstGeom prst="rect">
              <a:avLst/>
            </a:prstGeom>
            <a:noFill/>
            <a:ln>
              <a:noFill/>
            </a:ln>
          </p:spPr>
          <p:txBody>
            <a:bodyPr wrap="none" lIns="0" tIns="0" rIns="0" bIns="0" anchor="t" anchorCtr="0">
              <a:spAutoFit/>
            </a:bodyPr>
            <a:lstStyle/>
            <a:p>
              <a:pPr algn="l">
                <a:lnSpc>
                  <a:spcPts val="1950"/>
                </a:lnSpc>
              </a:pPr>
              <a:r>
                <a:rPr lang="ja-JP" sz="1800" dirty="0">
                  <a:solidFill>
                    <a:schemeClr val="dk1"/>
                  </a:solidFill>
                  <a:latin typeface="+mn-lt"/>
                  <a:ea typeface="+mn-ea"/>
                  <a:cs typeface="+mn-cs"/>
                </a:rPr>
                <a:t>内訳を開示して推奨時刻を</a:t>
              </a:r>
              <a:br/>
              <a:r>
                <a:rPr lang="ja-JP" sz="1800" dirty="0">
                  <a:solidFill>
                    <a:schemeClr val="dk1"/>
                  </a:solidFill>
                  <a:latin typeface="+mn-lt"/>
                  <a:ea typeface="+mn-ea"/>
                  <a:cs typeface="+mn-cs"/>
                </a:rPr>
                <a:t>出す 1 画面と、その手順。</a:t>
              </a:r>
            </a:p>
          </p:txBody>
        </p:sp>
      </p:grpSp>
      <p:grpSp>
        <p:nvGrpSpPr>
          <p:cNvPr id="30" name="Group 30"/>
          <p:cNvGrpSpPr/>
          <p:nvPr/>
        </p:nvGrpSpPr>
        <p:grpSpPr>
          <a:xfrm>
            <a:off x="952500" y="4159568"/>
            <a:ext cx="10287000" cy="740283"/>
            <a:chOff x="952500" y="4159568"/>
            <a:chExt cx="10287000" cy="740283"/>
          </a:xfrm>
        </p:grpSpPr>
        <p:sp>
          <p:nvSpPr>
            <p:cNvPr id="19" name="TextBox 19"/>
            <p:cNvSpPr txBox="1"/>
            <p:nvPr/>
          </p:nvSpPr>
          <p:spPr>
            <a:xfrm>
              <a:off x="1612392" y="4159568"/>
              <a:ext cx="931488" cy="264033"/>
            </a:xfrm>
            <a:prstGeom prst="rect">
              <a:avLst/>
            </a:prstGeom>
            <a:noFill/>
            <a:ln>
              <a:noFill/>
            </a:ln>
          </p:spPr>
          <p:txBody>
            <a:bodyPr wrap="none" lIns="0" tIns="0" rIns="0" bIns="0" anchor="t" anchorCtr="0">
              <a:spAutoFit/>
            </a:bodyPr>
            <a:lstStyle/>
            <a:p>
              <a:pPr algn="l"/>
              <a:r>
                <a:rPr lang="ja-JP" sz="1350" dirty="0">
                  <a:solidFill>
                    <a:schemeClr val="accent5"/>
                  </a:solidFill>
                  <a:latin typeface="+mn-lt"/>
                  <a:ea typeface="+mn-ea"/>
                  <a:cs typeface="+mn-cs"/>
                </a:rPr>
                <a:t>現行 05:05</a:t>
              </a:r>
            </a:p>
          </p:txBody>
        </p:sp>
        <p:sp>
          <p:nvSpPr>
            <p:cNvPr id="20" name="TextBox 20"/>
            <p:cNvSpPr txBox="1"/>
            <p:nvPr/>
          </p:nvSpPr>
          <p:spPr>
            <a:xfrm>
              <a:off x="7344234" y="4159568"/>
              <a:ext cx="959203" cy="264033"/>
            </a:xfrm>
            <a:prstGeom prst="rect">
              <a:avLst/>
            </a:prstGeom>
            <a:noFill/>
            <a:ln>
              <a:noFill/>
            </a:ln>
          </p:spPr>
          <p:txBody>
            <a:bodyPr wrap="none" lIns="0" tIns="0" rIns="0" bIns="0" anchor="t" anchorCtr="0">
              <a:spAutoFit/>
            </a:bodyPr>
            <a:lstStyle/>
            <a:p>
              <a:pPr algn="ctr"/>
              <a:r>
                <a:rPr lang="ja-JP" sz="1350" b="1" dirty="0">
                  <a:solidFill>
                    <a:schemeClr val="accent2"/>
                  </a:solidFill>
                  <a:latin typeface="+mn-lt"/>
                  <a:ea typeface="+mn-ea"/>
                  <a:cs typeface="+mn-cs"/>
                </a:rPr>
                <a:t>推奨 07:05</a:t>
              </a:r>
            </a:p>
          </p:txBody>
        </p:sp>
        <p:sp>
          <p:nvSpPr>
            <p:cNvPr id="21" name="TextBox 21"/>
            <p:cNvSpPr txBox="1"/>
            <p:nvPr/>
          </p:nvSpPr>
          <p:spPr>
            <a:xfrm>
              <a:off x="9743370" y="4159568"/>
              <a:ext cx="931488"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始業 08:00</a:t>
              </a:r>
            </a:p>
          </p:txBody>
        </p:sp>
        <p:sp>
          <p:nvSpPr>
            <p:cNvPr id="22" name="Line 22"/>
            <p:cNvSpPr/>
            <p:nvPr/>
          </p:nvSpPr>
          <p:spPr>
            <a:xfrm>
              <a:off x="952500" y="4476750"/>
              <a:ext cx="10287000" cy="9525"/>
            </a:xfrm>
            <a:custGeom>
              <a:avLst/>
              <a:gdLst/>
              <a:ahLst/>
              <a:cxnLst/>
              <a:rect l="l" t="t" r="r" b="b"/>
              <a:pathLst>
                <a:path w="10287000" h="9525">
                  <a:moveTo>
                    <a:pt x="0" y="0"/>
                  </a:moveTo>
                  <a:lnTo>
                    <a:pt x="10287000" y="0"/>
                  </a:lnTo>
                </a:path>
              </a:pathLst>
            </a:custGeom>
            <a:noFill/>
            <a:ln w="14288">
              <a:solidFill>
                <a:schemeClr val="accent6"/>
              </a:solidFill>
            </a:ln>
          </p:spPr>
        </p:sp>
        <p:sp>
          <p:nvSpPr>
            <p:cNvPr id="23" name="Rectangle 23"/>
            <p:cNvSpPr/>
            <p:nvPr/>
          </p:nvSpPr>
          <p:spPr>
            <a:xfrm>
              <a:off x="1619250" y="4419600"/>
              <a:ext cx="6204585" cy="114300"/>
            </a:xfrm>
            <a:prstGeom prst="rect">
              <a:avLst/>
            </a:prstGeom>
            <a:solidFill>
              <a:schemeClr val="accent2">
                <a:alpha val="14000"/>
              </a:schemeClr>
            </a:solidFill>
            <a:ln>
              <a:noFill/>
            </a:ln>
          </p:spPr>
        </p:sp>
        <p:sp>
          <p:nvSpPr>
            <p:cNvPr id="24" name="Rectangle 24"/>
            <p:cNvSpPr/>
            <p:nvPr/>
          </p:nvSpPr>
          <p:spPr>
            <a:xfrm>
              <a:off x="7823835" y="4419600"/>
              <a:ext cx="2844165" cy="114300"/>
            </a:xfrm>
            <a:prstGeom prst="rect">
              <a:avLst/>
            </a:prstGeom>
            <a:solidFill>
              <a:schemeClr val="accent3">
                <a:alpha val="18000"/>
              </a:schemeClr>
            </a:solidFill>
            <a:ln>
              <a:noFill/>
            </a:ln>
          </p:spPr>
        </p:sp>
        <p:sp>
          <p:nvSpPr>
            <p:cNvPr id="25" name="Line 25"/>
            <p:cNvSpPr/>
            <p:nvPr/>
          </p:nvSpPr>
          <p:spPr>
            <a:xfrm>
              <a:off x="1619250" y="4343400"/>
              <a:ext cx="9525" cy="266700"/>
            </a:xfrm>
            <a:custGeom>
              <a:avLst/>
              <a:gdLst/>
              <a:ahLst/>
              <a:cxnLst/>
              <a:rect l="l" t="t" r="r" b="b"/>
              <a:pathLst>
                <a:path w="9525" h="266700">
                  <a:moveTo>
                    <a:pt x="0" y="0"/>
                  </a:moveTo>
                  <a:lnTo>
                    <a:pt x="0" y="266700"/>
                  </a:lnTo>
                </a:path>
              </a:pathLst>
            </a:custGeom>
            <a:noFill/>
            <a:ln w="23812">
              <a:solidFill>
                <a:schemeClr val="accent1"/>
              </a:solidFill>
            </a:ln>
          </p:spPr>
        </p:sp>
        <p:sp>
          <p:nvSpPr>
            <p:cNvPr id="26" name="Line 26"/>
            <p:cNvSpPr/>
            <p:nvPr/>
          </p:nvSpPr>
          <p:spPr>
            <a:xfrm>
              <a:off x="7823835" y="4343400"/>
              <a:ext cx="9525" cy="266700"/>
            </a:xfrm>
            <a:custGeom>
              <a:avLst/>
              <a:gdLst/>
              <a:ahLst/>
              <a:cxnLst/>
              <a:rect l="l" t="t" r="r" b="b"/>
              <a:pathLst>
                <a:path w="9525" h="266700">
                  <a:moveTo>
                    <a:pt x="0" y="0"/>
                  </a:moveTo>
                  <a:lnTo>
                    <a:pt x="0" y="266700"/>
                  </a:lnTo>
                </a:path>
              </a:pathLst>
            </a:custGeom>
            <a:noFill/>
            <a:ln w="23812">
              <a:solidFill>
                <a:schemeClr val="accent2"/>
              </a:solidFill>
            </a:ln>
          </p:spPr>
        </p:sp>
        <p:sp>
          <p:nvSpPr>
            <p:cNvPr id="27" name="Line 27"/>
            <p:cNvSpPr/>
            <p:nvPr/>
          </p:nvSpPr>
          <p:spPr>
            <a:xfrm>
              <a:off x="10668000" y="4343400"/>
              <a:ext cx="9525" cy="266700"/>
            </a:xfrm>
            <a:custGeom>
              <a:avLst/>
              <a:gdLst/>
              <a:ahLst/>
              <a:cxnLst/>
              <a:rect l="l" t="t" r="r" b="b"/>
              <a:pathLst>
                <a:path w="9525" h="266700">
                  <a:moveTo>
                    <a:pt x="0" y="0"/>
                  </a:moveTo>
                  <a:lnTo>
                    <a:pt x="0" y="266700"/>
                  </a:lnTo>
                </a:path>
              </a:pathLst>
            </a:custGeom>
            <a:noFill/>
            <a:ln w="23812">
              <a:solidFill>
                <a:schemeClr val="accent1"/>
              </a:solidFill>
            </a:ln>
          </p:spPr>
        </p:sp>
        <p:sp>
          <p:nvSpPr>
            <p:cNvPr id="28" name="TextBox 28"/>
            <p:cNvSpPr txBox="1"/>
            <p:nvPr/>
          </p:nvSpPr>
          <p:spPr>
            <a:xfrm>
              <a:off x="3169920" y="4635818"/>
              <a:ext cx="3103245" cy="264033"/>
            </a:xfrm>
            <a:prstGeom prst="rect">
              <a:avLst/>
            </a:prstGeom>
            <a:noFill/>
            <a:ln>
              <a:noFill/>
            </a:ln>
          </p:spPr>
          <p:txBody>
            <a:bodyPr wrap="none" lIns="0" tIns="0" rIns="0" bIns="0" anchor="t" anchorCtr="0">
              <a:spAutoFit/>
            </a:bodyPr>
            <a:lstStyle/>
            <a:p>
              <a:pPr algn="ctr"/>
              <a:r>
                <a:rPr lang="ja-JP" sz="1350" dirty="0">
                  <a:solidFill>
                    <a:schemeClr val="accent5"/>
                  </a:solidFill>
                  <a:latin typeface="+mn-lt"/>
                  <a:ea typeface="+mn-ea"/>
                  <a:cs typeface="+mn-cs"/>
                </a:rPr>
                <a:t>根拠を持って動かせるようになった幅</a:t>
              </a:r>
            </a:p>
          </p:txBody>
        </p:sp>
        <p:sp>
          <p:nvSpPr>
            <p:cNvPr id="29" name="TextBox 29"/>
            <p:cNvSpPr txBox="1"/>
            <p:nvPr/>
          </p:nvSpPr>
          <p:spPr>
            <a:xfrm>
              <a:off x="8784717" y="4635818"/>
              <a:ext cx="922401" cy="264033"/>
            </a:xfrm>
            <a:prstGeom prst="rect">
              <a:avLst/>
            </a:prstGeom>
            <a:noFill/>
            <a:ln>
              <a:noFill/>
            </a:ln>
          </p:spPr>
          <p:txBody>
            <a:bodyPr wrap="none" lIns="0" tIns="0" rIns="0" bIns="0" anchor="t" anchorCtr="0">
              <a:spAutoFit/>
            </a:bodyPr>
            <a:lstStyle/>
            <a:p>
              <a:pPr algn="ctr"/>
              <a:r>
                <a:rPr lang="ja-JP" sz="1350" dirty="0">
                  <a:solidFill>
                    <a:schemeClr val="accent5"/>
                  </a:solidFill>
                  <a:latin typeface="+mn-lt"/>
                  <a:ea typeface="+mn-ea"/>
                  <a:cs typeface="+mn-cs"/>
                </a:rPr>
                <a:t>必要な運転</a:t>
              </a:r>
            </a:p>
          </p:txBody>
        </p:sp>
      </p:grpSp>
      <p:grpSp>
        <p:nvGrpSpPr>
          <p:cNvPr id="34" name="Group 34"/>
          <p:cNvGrpSpPr/>
          <p:nvPr/>
        </p:nvGrpSpPr>
        <p:grpSpPr>
          <a:xfrm>
            <a:off x="521970" y="5295900"/>
            <a:ext cx="11143488" cy="727901"/>
            <a:chOff x="521970" y="5295900"/>
            <a:chExt cx="11143488" cy="727901"/>
          </a:xfrm>
        </p:grpSpPr>
        <p:sp>
          <p:nvSpPr>
            <p:cNvPr id="31" name="Line 31"/>
            <p:cNvSpPr/>
            <p:nvPr/>
          </p:nvSpPr>
          <p:spPr>
            <a:xfrm>
              <a:off x="533400" y="529590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32" name="TextBox 32"/>
            <p:cNvSpPr txBox="1"/>
            <p:nvPr/>
          </p:nvSpPr>
          <p:spPr>
            <a:xfrm>
              <a:off x="521970" y="5357812"/>
              <a:ext cx="10018395" cy="440055"/>
            </a:xfrm>
            <a:prstGeom prst="rect">
              <a:avLst/>
            </a:prstGeom>
            <a:noFill/>
            <a:ln>
              <a:noFill/>
            </a:ln>
          </p:spPr>
          <p:txBody>
            <a:bodyPr wrap="none" lIns="0" tIns="0" rIns="0" bIns="0" anchor="t" anchorCtr="0">
              <a:spAutoFit/>
            </a:bodyPr>
            <a:lstStyle/>
            <a:p>
              <a:pPr algn="l"/>
              <a:r>
                <a:rPr lang="ja-JP" sz="2250" dirty="0">
                  <a:solidFill>
                    <a:schemeClr val="accent1"/>
                  </a:solidFill>
                  <a:latin typeface="+mn-lt"/>
                  <a:ea typeface="+mn-ea"/>
                  <a:cs typeface="+mn-cs"/>
                </a:rPr>
                <a:t>次の一歩：実データでモデルを再学習し、現場の運用値として確認する。</a:t>
              </a:r>
            </a:p>
          </p:txBody>
        </p:sp>
        <p:sp>
          <p:nvSpPr>
            <p:cNvPr id="33" name="TextBox 33"/>
            <p:cNvSpPr txBox="1"/>
            <p:nvPr/>
          </p:nvSpPr>
          <p:spPr>
            <a:xfrm>
              <a:off x="6744843" y="5759768"/>
              <a:ext cx="4920615" cy="264033"/>
            </a:xfrm>
            <a:prstGeom prst="rect">
              <a:avLst/>
            </a:prstGeom>
            <a:noFill/>
            <a:ln>
              <a:noFill/>
            </a:ln>
          </p:spPr>
          <p:txBody>
            <a:bodyPr wrap="none" lIns="0" tIns="0" rIns="0" bIns="0" anchor="t" anchorCtr="0">
              <a:spAutoFit/>
            </a:bodyPr>
            <a:lstStyle/>
            <a:p>
              <a:pPr algn="r"/>
              <a:r>
                <a:rPr lang="ja-JP" sz="1350" dirty="0">
                  <a:solidFill>
                    <a:schemeClr val="accent5"/>
                  </a:solidFill>
                  <a:latin typeface="+mn-lt"/>
                  <a:ea typeface="+mn-ea"/>
                  <a:cs typeface="+mn-cs"/>
                </a:rPr>
                <a:t>ご清聴ありがとうございました。質疑応答をお願いします。</a:t>
              </a:r>
            </a:p>
          </p:txBody>
        </p:sp>
      </p:grpSp>
      <p:grpSp>
        <p:nvGrpSpPr>
          <p:cNvPr id="38" name="Group 38"/>
          <p:cNvGrpSpPr/>
          <p:nvPr/>
        </p:nvGrpSpPr>
        <p:grpSpPr>
          <a:xfrm>
            <a:off x="527304" y="6153150"/>
            <a:ext cx="11137392" cy="314706"/>
            <a:chOff x="527304" y="6153150"/>
            <a:chExt cx="11137392" cy="314706"/>
          </a:xfrm>
        </p:grpSpPr>
        <p:sp>
          <p:nvSpPr>
            <p:cNvPr id="35" name="Line 35"/>
            <p:cNvSpPr/>
            <p:nvPr/>
          </p:nvSpPr>
          <p:spPr>
            <a:xfrm>
              <a:off x="533400" y="6153150"/>
              <a:ext cx="11125200" cy="9525"/>
            </a:xfrm>
            <a:custGeom>
              <a:avLst/>
              <a:gdLst/>
              <a:ahLst/>
              <a:cxnLst/>
              <a:rect l="l" t="t" r="r" b="b"/>
              <a:pathLst>
                <a:path w="11125200" h="9525">
                  <a:moveTo>
                    <a:pt x="0" y="0"/>
                  </a:moveTo>
                  <a:lnTo>
                    <a:pt x="11125200" y="0"/>
                  </a:lnTo>
                </a:path>
              </a:pathLst>
            </a:custGeom>
            <a:noFill/>
            <a:ln w="9525">
              <a:solidFill>
                <a:schemeClr val="accent6"/>
              </a:solidFill>
            </a:ln>
          </p:spPr>
        </p:sp>
        <p:sp>
          <p:nvSpPr>
            <p:cNvPr id="36" name="TextBox 36"/>
            <p:cNvSpPr txBox="1"/>
            <p:nvPr/>
          </p:nvSpPr>
          <p:spPr>
            <a:xfrm>
              <a:off x="527304" y="6233160"/>
              <a:ext cx="2919984" cy="234696"/>
            </a:xfrm>
            <a:prstGeom prst="rect">
              <a:avLst/>
            </a:prstGeom>
            <a:noFill/>
            <a:ln>
              <a:noFill/>
            </a:ln>
          </p:spPr>
          <p:txBody>
            <a:bodyPr wrap="none" lIns="0" tIns="0" rIns="0" bIns="0" anchor="t" anchorCtr="0">
              <a:spAutoFit/>
            </a:bodyPr>
            <a:lstStyle/>
            <a:p>
              <a:pPr algn="l"/>
              <a:r>
                <a:rPr lang="ja-JP" sz="1200" dirty="0">
                  <a:solidFill>
                    <a:schemeClr val="accent5"/>
                  </a:solidFill>
                  <a:latin typeface="+mn-lt"/>
                  <a:ea typeface="+mn-ea"/>
                  <a:cs typeface="+mn-cs"/>
                </a:rPr>
                <a:t>熱源の起動を、どこまで遅らせてよいか</a:t>
              </a:r>
            </a:p>
          </p:txBody>
        </p:sp>
        <p:sp>
          <p:nvSpPr>
            <p:cNvPr id="37" name="TextBox 37"/>
            <p:cNvSpPr txBox="1"/>
            <p:nvPr/>
          </p:nvSpPr>
          <p:spPr>
            <a:xfrm>
              <a:off x="7452360" y="6233160"/>
              <a:ext cx="4212336" cy="234696"/>
            </a:xfrm>
            <a:prstGeom prst="rect">
              <a:avLst/>
            </a:prstGeom>
            <a:noFill/>
            <a:ln>
              <a:noFill/>
            </a:ln>
          </p:spPr>
          <p:txBody>
            <a:bodyPr wrap="none" lIns="0" tIns="0" rIns="0" bIns="0" anchor="t" anchorCtr="0">
              <a:spAutoFit/>
            </a:bodyPr>
            <a:lstStyle/>
            <a:p>
              <a:pPr algn="r"/>
              <a:r>
                <a:rPr lang="ja-JP" sz="1200" dirty="0">
                  <a:solidFill>
                    <a:schemeClr val="accent5"/>
                  </a:solidFill>
                  <a:latin typeface="+mn-lt"/>
                  <a:ea typeface="+mn-ea"/>
                  <a:cs typeface="+mn-cs"/>
                </a:rPr>
                <a:t>起動時刻と稼働日は実測、電力量は合成データによる試算</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anasonic_ew_presentation_v2">
  <a:themeElements>
    <a:clrScheme name="panasonic_ew_presentation_v2">
      <a:dk1>
        <a:srgbClr val="1F2933"/>
      </a:dk1>
      <a:lt1>
        <a:srgbClr val="FFFFFF"/>
      </a:lt1>
      <a:dk2>
        <a:srgbClr val="1F497D"/>
      </a:dk2>
      <a:lt2>
        <a:srgbClr val="F1F3F5"/>
      </a:lt2>
      <a:accent1>
        <a:srgbClr val="16324F"/>
      </a:accent1>
      <a:accent2>
        <a:srgbClr val="C2410C"/>
      </a:accent2>
      <a:accent3>
        <a:srgbClr val="17706A"/>
      </a:accent3>
      <a:accent4>
        <a:srgbClr val="16324F"/>
      </a:accent4>
      <a:accent5>
        <a:srgbClr val="667685"/>
      </a:accent5>
      <a:accent6>
        <a:srgbClr val="DDE2E7"/>
      </a:accent6>
      <a:hlink>
        <a:srgbClr val="C2410C"/>
      </a:hlink>
      <a:folHlink>
        <a:srgbClr val="17706A"/>
      </a:folHlink>
    </a:clrScheme>
    <a:fontScheme name="panasonic_ew_presentation_v2">
      <a:majorFont>
        <a:latin typeface="BIZ UDPGothic"/>
        <a:ea typeface="Yu Gothic UI"/>
        <a:cs typeface="BIZ UDPGothic"/>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IZ UDPGothic"/>
        <a:ea typeface="Yu Gothic UI"/>
        <a:cs typeface="BIZ UDPGothic"/>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nasonic_ew_presentation_v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anasonic_ew_presentation_v2">
  <a:themeElements>
    <a:clrScheme name="panasonic_ew_presentation_v2">
      <a:dk1>
        <a:srgbClr val="1F2933"/>
      </a:dk1>
      <a:lt1>
        <a:srgbClr val="FFFFFF"/>
      </a:lt1>
      <a:dk2>
        <a:srgbClr val="1F497D"/>
      </a:dk2>
      <a:lt2>
        <a:srgbClr val="F1F3F5"/>
      </a:lt2>
      <a:accent1>
        <a:srgbClr val="16324F"/>
      </a:accent1>
      <a:accent2>
        <a:srgbClr val="C2410C"/>
      </a:accent2>
      <a:accent3>
        <a:srgbClr val="17706A"/>
      </a:accent3>
      <a:accent4>
        <a:srgbClr val="16324F"/>
      </a:accent4>
      <a:accent5>
        <a:srgbClr val="667685"/>
      </a:accent5>
      <a:accent6>
        <a:srgbClr val="DDE2E7"/>
      </a:accent6>
      <a:hlink>
        <a:srgbClr val="C2410C"/>
      </a:hlink>
      <a:folHlink>
        <a:srgbClr val="17706A"/>
      </a:folHlink>
    </a:clrScheme>
    <a:fontScheme name="panasonic_ew_presentation_v2">
      <a:majorFont>
        <a:latin typeface="BIZ UDPGothic"/>
        <a:ea typeface="Yu Gothic UI"/>
        <a:cs typeface="BIZ UDPGothic"/>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IZ UDPGothic"/>
        <a:ea typeface="Yu Gothic UI"/>
        <a:cs typeface="BIZ UDPGothic"/>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nasonic_ew_presentation_v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ja-JP</dc:language>
  <cp:lastModifiedBy/>
  <cp:revision>1</cp:revision>
  <dcterms:created xsi:type="dcterms:W3CDTF">2026-08-30T22:14:03Z</dcterms:created>
  <dcterms:modified xsi:type="dcterms:W3CDTF">2026-08-30T22:14:03Z</dcterms:modified>
  <cp:category/>
  <cp:contentStatus/>
</cp:coreProperties>
</file>