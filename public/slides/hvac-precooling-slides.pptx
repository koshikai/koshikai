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現場の実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景と目的です。近年、脱炭素社会の実現やESG投資の拡大に伴い、ビル設備の省エネは企業価値に直結する重要課題となっています。当社ではシミュレーション技術を通じた脱炭素化と企業価値向上に取り組んでおり、その具体策の一つとしてオフィスビルの熱源起動時刻の最適化に着目しました。しかし現場の実態としては、始業時の室温未達を恐れるあまり、早朝一律の過剰な予冷運転が行われ、電力が浪費されている現状があります。そこで本実習では、早朝予冷の無駄を削りつつ始業時の快適性を確実に守るため、データに基づく最適起動モデルを構築しました。さらに、気象予報から求めた予冷時間と削減効果を分かりやすく可視化し、現場のBM担当者が納得と安心感を持って翌朝の起動時刻を決められる意思決定支援システムを構築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そこで、過去データから予冷時間を推計するモデルを構築しました。式の基本構造は、外気温と設定温度から求めるベース予冷時間に、安全マージンを加える形です。外気温には前日夕方に取得できる天気予報を用い、設定温度は任意に変更可能としています。また、朝は起動をやり直せ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実データに適用した、バックテスト検証結果です。過去データの実測気温推移からモデルで起動時刻を決定し直したところ、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現場のビルメンテナンス担当者が実際に使用する可視化アプリです。担当者が夕方に翌日の日付を選ぶだけで、天気予報を自動取得し、推奨起動時刻（例えば07:10など）を算出して提示します。単に推奨時刻を出すだけで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として、本実習のまとめと、今回明らかになった課題および今後の展望です。まずまとめとして、翌朝の気象予報から予冷時間を推計し、推奨起動時刻と削減電力量を提示するBM向けの運用支援アプリを構築いたしました。単に推奨時刻を押し付けるのではなく、安全余裕の内訳やトレードオフ曲線を透明に提示することで、現場の担当者が納得と安心感を持って起動を遅らせられるUI設計を確立できました。一方で、本アプリを現場で本格運用していく上での課題と、それに対応する今後の展望が3点あります。1点目は、実績振り返り機能の不足です。前日に決めた後、翌朝実際に何時に到達しどれだけ電力を削減できたかを検証する画面がありません。今後は省エネ実績ダッシュボードを実装し、翌朝の実績を自動可視化することで、運用の安心感と信頼性を高めていきます。2点目は、モデルの陳腐化リスクです。運用データが溜まっても自動再学習する仕組みがなく、季節の推移や設備変化に追従できません。今後は日々のBEMSデータを取り込んで定期的に自動再学習するサイクルを組み込み、アプリが自律的に精度を維持できるようにします。3点目は、対象系統の限定です。現在は7階冷房のみに特化しており、ビル全体を管理できません。今後は他フロアや暖房期を含めたマルチ系統の統合UIへと拡張し、ビル全体の省エネを一括管理できる基盤へと発展させ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今回、現場の担当者がどう判断するかという「お客様目線」での開発に取り組み、単にアルゴリズムを作るだけでなく、相手のニーズを汲み取って安全側マージンや可視化画面を設計することの難しさと重要性を深く学びました。また、実際の設備現場や実験住宅の見学など、机上のプログラミングにとどまらない貴重な体験をさせていただき、自分の技術が脱炭素や社会貢献につながるという強い実感を得ることができました。ご指導いただいたメンターの皆様、関係者の皆様に心より感謝申し上げま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825500"/>
            <a:ext cx="7619809" cy="3810000"/>
          </a:xfrm>
          <a:prstGeom prst="rect">
            <a:avLst/>
          </a:prstGeom>
          <a:noFill/>
        </p:spPr>
        <p:txBody>
          <a:bodyPr wrap="square">
            <a:spAutoFit/>
          </a:bodyPr>
          <a:lstStyle/>
          <a:p>
            <a:pPr>
              <a:spcAft>
                <a:spcPts val="400"/>
              </a:spcAft>
              <a:defRPr sz="1600" b="1">
                <a:solidFill>
                  <a:srgbClr val="0B3968"/>
                </a:solidFill>
                <a:latin typeface="BIZ UDPGothic"/>
              </a:defRPr>
            </a:pPr>
            <a:r>
              <a:t>■ 背景</a:t>
            </a:r>
          </a:p>
          <a:p>
            <a:pPr>
              <a:spcAft>
                <a:spcPts val="300"/>
              </a:spcAft>
              <a:defRPr sz="1200">
                <a:solidFill>
                  <a:srgbClr val="222222"/>
                </a:solidFill>
                <a:latin typeface="BIZ UDPGothic"/>
              </a:defRPr>
            </a:pPr>
            <a:r>
              <a:t>  ・近年、気候変動への対応や脱炭素に向け、ESG※1投資が世界的に拡大している</a:t>
            </a:r>
          </a:p>
          <a:p>
            <a:pPr>
              <a:spcAft>
                <a:spcPts val="300"/>
              </a:spcAft>
              <a:defRPr sz="1200">
                <a:solidFill>
                  <a:srgbClr val="222222"/>
                </a:solidFill>
                <a:latin typeface="BIZ UDPGothic"/>
              </a:defRPr>
            </a:pPr>
            <a:r>
              <a:t>  ・快適性とエネルギーに関してシミュレーション技術で脱炭素化と企業価値向上に貢献する</a:t>
            </a:r>
          </a:p>
          <a:p>
            <a:pPr>
              <a:spcAft>
                <a:spcPts val="300"/>
              </a:spcAft>
              <a:defRPr sz="1200">
                <a:solidFill>
                  <a:srgbClr val="222222"/>
                </a:solidFill>
                <a:latin typeface="BIZ UDPGothic"/>
              </a:defRPr>
            </a:pPr>
            <a:r>
              <a:t>  ・オフィスビルの熱源起動最適化に着目（※現場では未達を恐れ早朝一律の過剰予冷が発生）</a:t>
            </a:r>
          </a:p>
          <a:p>
            <a:pPr>
              <a:spcBef>
                <a:spcPts val="1200"/>
              </a:spcBef>
              <a:spcAft>
                <a:spcPts val="400"/>
              </a:spcAft>
              <a:defRPr sz="1600" b="1">
                <a:solidFill>
                  <a:srgbClr val="0B3968"/>
                </a:solidFill>
                <a:latin typeface="BIZ UDPGothic"/>
              </a:defRPr>
            </a:pPr>
            <a:r>
              <a:t>■ 目的</a:t>
            </a:r>
          </a:p>
          <a:p>
            <a:pPr>
              <a:spcAft>
                <a:spcPts val="300"/>
              </a:spcAft>
              <a:defRPr sz="1200">
                <a:solidFill>
                  <a:srgbClr val="222222"/>
                </a:solidFill>
                <a:latin typeface="BIZ UDPGothic"/>
              </a:defRPr>
            </a:pPr>
            <a:r>
              <a:t>  ・空調熱源起動時刻をデータに基づいて最適化し、早朝予冷の無駄削減を目指す</a:t>
            </a:r>
          </a:p>
          <a:p>
            <a:pPr>
              <a:spcAft>
                <a:spcPts val="300"/>
              </a:spcAft>
              <a:defRPr sz="1200">
                <a:solidFill>
                  <a:srgbClr val="222222"/>
                </a:solidFill>
                <a:latin typeface="BIZ UDPGothic"/>
              </a:defRPr>
            </a:pPr>
            <a:r>
              <a:t>  ・それらの情報をわかりやすく可視化することで、ビルメンテナンス(BM)が根拠を持って</a:t>
            </a:r>
          </a:p>
          <a:p>
            <a:pPr>
              <a:spcAft>
                <a:spcPts val="300"/>
              </a:spcAft>
              <a:defRPr sz="1200">
                <a:solidFill>
                  <a:srgbClr val="222222"/>
                </a:solidFill>
                <a:latin typeface="BIZ UDPGothic"/>
              </a:defRPr>
            </a:pPr>
            <a:r>
              <a:t>     安全に起動時刻を判断できる意思決定支援システムを構築する</a:t>
            </a:r>
          </a:p>
        </p:txBody>
      </p:sp>
      <p:sp>
        <p:nvSpPr>
          <p:cNvPr id="8" name="Rounded Rectangle 7"/>
          <p:cNvSpPr/>
          <p:nvPr/>
        </p:nvSpPr>
        <p:spPr>
          <a:xfrm>
            <a:off x="8508787" y="1143000"/>
            <a:ext cx="3174920" cy="10795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475569"/>
                </a:solidFill>
                <a:latin typeface="BIZ UDPGothic"/>
              </a:defRPr>
            </a:pPr>
            <a:r>
              <a:t>※1 ESG投資とは</a:t>
            </a:r>
          </a:p>
          <a:p>
            <a:pPr>
              <a:defRPr sz="900">
                <a:solidFill>
                  <a:srgbClr val="64748B"/>
                </a:solidFill>
                <a:latin typeface="BIZ UDPGothic"/>
              </a:defRPr>
            </a:pPr>
            <a:r>
              <a:t>E(環境)：気候変動・省エネなど</a:t>
            </a:r>
          </a:p>
          <a:p>
            <a:pPr>
              <a:defRPr sz="900">
                <a:solidFill>
                  <a:srgbClr val="64748B"/>
                </a:solidFill>
                <a:latin typeface="BIZ UDPGothic"/>
              </a:defRPr>
            </a:pPr>
            <a:r>
              <a:t>S(社会)：快適性・働き方改善など</a:t>
            </a:r>
          </a:p>
          <a:p>
            <a:pPr>
              <a:defRPr sz="900">
                <a:solidFill>
                  <a:srgbClr val="64748B"/>
                </a:solidFill>
                <a:latin typeface="BIZ UDPGothic"/>
              </a:defRPr>
            </a:pPr>
            <a:r>
              <a:t>G(ガバナンス)：法令遵守・管理規則など</a:t>
            </a:r>
          </a:p>
        </p:txBody>
      </p:sp>
      <p:sp>
        <p:nvSpPr>
          <p:cNvPr id="9" name="Rounded Rectangle 8"/>
          <p:cNvSpPr/>
          <p:nvPr/>
        </p:nvSpPr>
        <p:spPr>
          <a:xfrm>
            <a:off x="1206469"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必要な予冷時間の予測</a:t>
            </a:r>
          </a:p>
          <a:p>
            <a:pPr algn="ctr">
              <a:defRPr sz="1000">
                <a:solidFill>
                  <a:srgbClr val="555555"/>
                </a:solidFill>
                <a:latin typeface="BIZ UDPGothic"/>
              </a:defRPr>
            </a:pPr>
            <a:r>
              <a:t>気象予報 × 回帰モデル</a:t>
            </a:r>
          </a:p>
        </p:txBody>
      </p:sp>
      <p:sp>
        <p:nvSpPr>
          <p:cNvPr id="10" name="Rounded Rectangle 9"/>
          <p:cNvSpPr/>
          <p:nvPr/>
        </p:nvSpPr>
        <p:spPr>
          <a:xfrm>
            <a:off x="4889377"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削減効果の可視化</a:t>
            </a:r>
          </a:p>
          <a:p>
            <a:pPr algn="ctr">
              <a:defRPr sz="1000">
                <a:solidFill>
                  <a:srgbClr val="555555"/>
                </a:solidFill>
                <a:latin typeface="BIZ UDPGothic"/>
              </a:defRPr>
            </a:pPr>
            <a:r>
              <a:t>トレードオフ曲線・UI</a:t>
            </a:r>
          </a:p>
        </p:txBody>
      </p:sp>
      <p:sp>
        <p:nvSpPr>
          <p:cNvPr id="11" name="Rounded Rectangle 10"/>
          <p:cNvSpPr/>
          <p:nvPr/>
        </p:nvSpPr>
        <p:spPr>
          <a:xfrm>
            <a:off x="8572285"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BM 意思決定</a:t>
            </a:r>
          </a:p>
          <a:p>
            <a:pPr algn="ctr">
              <a:defRPr sz="1000">
                <a:solidFill>
                  <a:srgbClr val="555555"/>
                </a:solidFill>
                <a:latin typeface="BIZ UDPGothic"/>
              </a:defRPr>
            </a:pPr>
            <a:r>
              <a:t>安心・納得の起動判断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8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762000"/>
            <a:ext cx="11302717" cy="762000"/>
          </a:xfrm>
          <a:prstGeom prst="rect">
            <a:avLst/>
          </a:prstGeom>
          <a:noFill/>
        </p:spPr>
        <p:txBody>
          <a:bodyPr wrap="none">
            <a:spAutoFit/>
          </a:bodyPr>
          <a:lstStyle/>
          <a:p>
            <a:pPr>
              <a:defRPr sz="1500" b="1">
                <a:solidFill>
                  <a:srgbClr val="0B3968"/>
                </a:solidFill>
                <a:latin typeface="BIZ UDPGothic"/>
              </a:defRPr>
            </a:pPr>
            <a:r>
              <a:t>■ 実データでの検証</a:t>
            </a:r>
          </a:p>
          <a:p>
            <a:pPr>
              <a:defRPr sz="1300">
                <a:solidFill>
                  <a:srgbClr val="222222"/>
                </a:solidFill>
                <a:latin typeface="BIZ UDPGothic"/>
              </a:defRPr>
            </a:pPr>
            <a:r>
              <a:t>  ・作成した予測モデルを用い、実際の過去データの気温推移から必要な予冷時間を推測、起動時間を決定した</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25500"/>
            <a:ext cx="11175720" cy="5461000"/>
          </a:xfrm>
          <a:prstGeom prst="rect">
            <a:avLst/>
          </a:prstGeom>
          <a:noFill/>
        </p:spPr>
        <p:txBody>
          <a:bodyPr wrap="square">
            <a:spAutoFit/>
          </a:bodyPr>
          <a:lstStyle/>
          <a:p>
            <a:pPr>
              <a:defRPr sz="1500" b="1">
                <a:solidFill>
                  <a:srgbClr val="0B3968"/>
                </a:solidFill>
                <a:latin typeface="BIZ UDPGothic"/>
              </a:defRPr>
            </a:pPr>
            <a:r>
              <a:t>■ まとめ（本実習での成果）</a:t>
            </a:r>
          </a:p>
          <a:p>
            <a:pPr>
              <a:spcAft>
                <a:spcPts val="300"/>
              </a:spcAft>
              <a:defRPr sz="1200">
                <a:solidFill>
                  <a:srgbClr val="222222"/>
                </a:solidFill>
                <a:latin typeface="BIZ UDPGothic"/>
              </a:defRPr>
            </a:pPr>
            <a:r>
              <a:t>  ・気象予報から予冷時間を推計し、推奨起動時刻と削減電力量を提示するBM向け運用支援アプリを構築</a:t>
            </a:r>
          </a:p>
          <a:p>
            <a:pPr>
              <a:spcAft>
                <a:spcPts val="300"/>
              </a:spcAft>
              <a:defRPr sz="1200">
                <a:solidFill>
                  <a:srgbClr val="222222"/>
                </a:solidFill>
                <a:latin typeface="BIZ UDPGothic"/>
              </a:defRPr>
            </a:pPr>
            <a:r>
              <a:t>  ・単に推奨値を出すだけでなく、安全マージン内訳やトレードオフ曲線を可視化し、BMが納得と安心感を持って判断できるUIを実現</a:t>
            </a:r>
          </a:p>
          <a:p>
            <a:pPr>
              <a:spcBef>
                <a:spcPts val="1000"/>
              </a:spcBef>
              <a:defRPr sz="1500" b="1">
                <a:solidFill>
                  <a:srgbClr val="0B3968"/>
                </a:solidFill>
                <a:latin typeface="BIZ UDPGothic"/>
              </a:defRPr>
            </a:pPr>
            <a:r>
              <a:t>■ 課題（実運用に向けたアプリ側の課題）</a:t>
            </a:r>
          </a:p>
          <a:p>
            <a:pPr>
              <a:spcAft>
                <a:spcPts val="300"/>
              </a:spcAft>
              <a:defRPr sz="1200">
                <a:solidFill>
                  <a:srgbClr val="222222"/>
                </a:solidFill>
                <a:latin typeface="BIZ UDPGothic"/>
              </a:defRPr>
            </a:pPr>
            <a:r>
              <a:t>    1. 実績振り返り機能の不足：翌朝「実際に何時に到達し、何kWh削減できたか」を画面上で確認・検証できない</a:t>
            </a:r>
          </a:p>
          <a:p>
            <a:pPr>
              <a:spcAft>
                <a:spcPts val="300"/>
              </a:spcAft>
              <a:defRPr sz="1200">
                <a:solidFill>
                  <a:srgbClr val="222222"/>
                </a:solidFill>
                <a:latin typeface="BIZ UDPGothic"/>
              </a:defRPr>
            </a:pPr>
            <a:r>
              <a:t>    2. モデルの陳腐化リスク：運用データが蓄積されてもモデルが自動更新されず、季節遷移や経年変化に追従できない</a:t>
            </a:r>
          </a:p>
          <a:p>
            <a:pPr>
              <a:spcAft>
                <a:spcPts val="300"/>
              </a:spcAft>
              <a:defRPr sz="1200">
                <a:solidFill>
                  <a:srgbClr val="222222"/>
                </a:solidFill>
                <a:latin typeface="BIZ UDPGothic"/>
              </a:defRPr>
            </a:pPr>
            <a:r>
              <a:t>    3. 対象系統の限定（7階冷房のみ）：ビル全体の複数系統や他フロア、暖房期をまとめて1画面で俯瞰・操作できない</a:t>
            </a:r>
          </a:p>
          <a:p>
            <a:pPr>
              <a:spcBef>
                <a:spcPts val="1000"/>
              </a:spcBef>
              <a:defRPr sz="1500" b="1">
                <a:solidFill>
                  <a:srgbClr val="0B3968"/>
                </a:solidFill>
                <a:latin typeface="BIZ UDPGothic"/>
              </a:defRPr>
            </a:pPr>
            <a:r>
              <a:t>■ 今後の展望（課題1〜3に対応）</a:t>
            </a:r>
          </a:p>
          <a:p>
            <a:pPr>
              <a:spcAft>
                <a:spcPts val="300"/>
              </a:spcAft>
              <a:defRPr sz="1200">
                <a:solidFill>
                  <a:srgbClr val="222222"/>
                </a:solidFill>
                <a:latin typeface="BIZ UDPGothic"/>
              </a:defRPr>
            </a:pPr>
            <a:r>
              <a:t>    1. 省エネ実績ダッシュボードの実装：翌朝の実績を取り込んで予報とのズレや削減成果を自動表示し、運用の安心感を向上</a:t>
            </a:r>
          </a:p>
          <a:p>
            <a:pPr>
              <a:spcAft>
                <a:spcPts val="300"/>
              </a:spcAft>
              <a:defRPr sz="1200">
                <a:solidFill>
                  <a:srgbClr val="222222"/>
                </a:solidFill>
                <a:latin typeface="BIZ UDPGothic"/>
              </a:defRPr>
            </a:pPr>
            <a:r>
              <a:t>    2. 自動データ蓄積・定期再学習サイクルの構築：日々のBEMSデータから定期的にモデルを自動再学習し、精度を自律維持</a:t>
            </a:r>
          </a:p>
          <a:p>
            <a:pPr>
              <a:spcAft>
                <a:spcPts val="300"/>
              </a:spcAft>
              <a:defRPr sz="1200">
                <a:solidFill>
                  <a:srgbClr val="222222"/>
                </a:solidFill>
                <a:latin typeface="BIZ UDPGothic"/>
              </a:defRPr>
            </a:pPr>
            <a:r>
              <a:t>    3. ビル全体のマルチ系統統合UIへの拡張：フロア切替や暖房期対応など、ビル全体の空調を一括管理できる統合基盤へ発展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89000"/>
            <a:ext cx="5333866" cy="5334000"/>
          </a:xfrm>
          <a:prstGeom prst="rect">
            <a:avLst/>
          </a:prstGeom>
          <a:noFill/>
        </p:spPr>
        <p:txBody>
          <a:bodyPr wrap="square">
            <a:spAutoFit/>
          </a:bodyPr>
          <a:lstStyle/>
          <a:p>
            <a:pPr>
              <a:defRPr sz="1600" b="1">
                <a:solidFill>
                  <a:srgbClr val="0B3968"/>
                </a:solidFill>
                <a:latin typeface="BIZ UDPGothic"/>
              </a:defRPr>
            </a:pPr>
            <a:r>
              <a:t>■ 実習を通して</a:t>
            </a:r>
          </a:p>
          <a:p>
            <a:pPr>
              <a:spcAft>
                <a:spcPts val="400"/>
              </a:spcAft>
              <a:defRPr sz="1200">
                <a:solidFill>
                  <a:srgbClr val="222222"/>
                </a:solidFill>
                <a:latin typeface="BIZ UDPGothic"/>
              </a:defRPr>
            </a:pPr>
            <a:r>
              <a:t>  ・お客様目線でのアプリケーション開発では、相手のニーズを想定しながら進める必要があり、難しさを感じた</a:t>
            </a:r>
          </a:p>
          <a:p>
            <a:pPr>
              <a:spcAft>
                <a:spcPts val="400"/>
              </a:spcAft>
              <a:defRPr sz="1200">
                <a:solidFill>
                  <a:srgbClr val="222222"/>
                </a:solidFill>
                <a:latin typeface="BIZ UDPGothic"/>
              </a:defRPr>
            </a:pPr>
            <a:r>
              <a:t>  ・実際のデータやその現場を見に行くことで、社会貢献ができるという意識を感じることができた</a:t>
            </a:r>
          </a:p>
          <a:p>
            <a:pPr>
              <a:spcBef>
                <a:spcPts val="1400"/>
              </a:spcBef>
              <a:defRPr sz="1600" b="1">
                <a:solidFill>
                  <a:srgbClr val="0B3968"/>
                </a:solidFill>
                <a:latin typeface="BIZ UDPGothic"/>
              </a:defRPr>
            </a:pPr>
            <a:r>
              <a:t>■ インターンシップを通して</a:t>
            </a:r>
          </a:p>
          <a:p>
            <a:pPr>
              <a:spcAft>
                <a:spcPts val="400"/>
              </a:spcAft>
              <a:defRPr sz="1200">
                <a:solidFill>
                  <a:srgbClr val="222222"/>
                </a:solidFill>
                <a:latin typeface="BIZ UDPGothic"/>
              </a:defRPr>
            </a:pPr>
            <a:r>
              <a:t>  ・実際の会社の肌で感じることができた。</a:t>
            </a:r>
          </a:p>
          <a:p>
            <a:pPr>
              <a:spcAft>
                <a:spcPts val="400"/>
              </a:spcAft>
              <a:defRPr sz="1200">
                <a:solidFill>
                  <a:srgbClr val="222222"/>
                </a:solidFill>
                <a:latin typeface="BIZ UDPGothic"/>
              </a:defRPr>
            </a:pPr>
            <a:r>
              <a:t>  ・デスクワークにとどまらず、実験住宅の見学やセキュリティ関連のご紹介など、幅広い体験ができ、大変充実した2週間を過ごすことができました</a:t>
            </a:r>
          </a:p>
        </p:txBody>
      </p:sp>
      <p:pic>
        <p:nvPicPr>
          <p:cNvPr id="8" name="Picture 7" descr="onsite_photo_panasonic.png"/>
          <p:cNvPicPr>
            <a:picLocks noChangeAspect="1"/>
          </p:cNvPicPr>
          <p:nvPr/>
        </p:nvPicPr>
        <p:blipFill>
          <a:blip r:embed="rId3"/>
          <a:stretch>
            <a:fillRect/>
          </a:stretch>
        </p:blipFill>
        <p:spPr>
          <a:xfrm>
            <a:off x="6730831" y="889000"/>
            <a:ext cx="2730431" cy="2540000"/>
          </a:xfrm>
          <a:prstGeom prst="rect">
            <a:avLst/>
          </a:prstGeom>
        </p:spPr>
      </p:pic>
      <p:pic>
        <p:nvPicPr>
          <p:cNvPr id="9" name="Picture 8" descr="onsite_photo_building.png"/>
          <p:cNvPicPr>
            <a:picLocks noChangeAspect="1"/>
          </p:cNvPicPr>
          <p:nvPr/>
        </p:nvPicPr>
        <p:blipFill>
          <a:blip r:embed="rId4"/>
          <a:stretch>
            <a:fillRect/>
          </a:stretch>
        </p:blipFill>
        <p:spPr>
          <a:xfrm>
            <a:off x="5460863" y="3048000"/>
            <a:ext cx="2285942" cy="2730500"/>
          </a:xfrm>
          <a:prstGeom prst="rect">
            <a:avLst/>
          </a:prstGeom>
        </p:spPr>
      </p:pic>
      <p:pic>
        <p:nvPicPr>
          <p:cNvPr id="10" name="Picture 9" descr="onsite_photo_living.png"/>
          <p:cNvPicPr>
            <a:picLocks noChangeAspect="1"/>
          </p:cNvPicPr>
          <p:nvPr/>
        </p:nvPicPr>
        <p:blipFill>
          <a:blip r:embed="rId5"/>
          <a:stretch>
            <a:fillRect/>
          </a:stretch>
        </p:blipFill>
        <p:spPr>
          <a:xfrm>
            <a:off x="7429314" y="3746500"/>
            <a:ext cx="2984425" cy="2095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