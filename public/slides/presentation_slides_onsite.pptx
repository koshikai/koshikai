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09728"/>
            <a:ext cx="2377440" cy="329184"/>
          </a:xfrm>
          <a:prstGeom prst="round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BIZ UDPGothic"/>
              </a:defRPr>
            </a:pPr>
            <a:r>
              <a:t>研究開発実習 成果報告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BIZ UDPGothic"/>
              </a:defRPr>
            </a:pPr>
            <a:r>
              <a:t>自己紹介 ＆ 本日の発表アジェンダ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EBF2F8"/>
                </a:solidFill>
                <a:latin typeface="BIZ UDPGothic"/>
              </a:defRPr>
            </a:pPr>
            <a:r>
              <a:t>01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5120640"/>
          </a:xfrm>
          <a:prstGeom prst="roundRect">
            <a:avLst/>
          </a:prstGeom>
          <a:solidFill>
            <a:srgbClr val="EBF2F8"/>
          </a:solidFill>
          <a:ln w="19050"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377440" cy="411480"/>
          </a:xfrm>
          <a:prstGeom prst="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実習生プロフィール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■ 氏名・所属: 【大学名・専攻】 / 【氏名】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■ 実習先: システムソリューション開発センター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■ 参加理由: 実建物のBEMSデータを用いたAI省エネ開発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■ 研究テーマ: 【大学での専攻・研究内容をご記入ください】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■ 趣味・特技: 【ご自身の趣味・特技をご記入ください】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■ 将来の目標: 【目指すエンジニア像をご記入ください】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2194560" cy="41148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本日のアジェンダ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BIZ UDPGothic"/>
              </a:defRPr>
            </a:pPr>
            <a:r>
              <a:t>01. 自己紹介・実習の背景と目的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BIZ UDPGothic"/>
              </a:defRPr>
            </a:pPr>
            <a:r>
              <a:t>02. 実証対象と使用データ（BEMSログ）</a:t>
            </a:r>
          </a:p>
          <a:p>
            <a:pPr>
              <a:spcAft>
                <a:spcPts val="700"/>
              </a:spcAft>
              <a:defRPr sz="1800" b="1">
                <a:solidFill>
                  <a:srgbClr val="0B5AA6"/>
                </a:solidFill>
                <a:latin typeface="BIZ UDPGothic"/>
              </a:defRPr>
            </a:pPr>
            <a:r>
              <a:t>03. 現場の課題（早朝固定起動と過剰予冷）</a:t>
            </a:r>
          </a:p>
          <a:p>
            <a:pPr>
              <a:spcAft>
                <a:spcPts val="700"/>
              </a:spcAft>
              <a:defRPr sz="1800" b="1">
                <a:solidFill>
                  <a:srgbClr val="0B5AA6"/>
                </a:solidFill>
                <a:latin typeface="BIZ UDPGothic"/>
              </a:defRPr>
            </a:pPr>
            <a:r>
              <a:t>04. システム設計の制約とアプローチ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BIZ UDPGothic"/>
              </a:defRPr>
            </a:pPr>
            <a:r>
              <a:t>05. 予冷時間推計モデルと技術的工夫</a:t>
            </a:r>
          </a:p>
          <a:p>
            <a:pPr>
              <a:spcAft>
                <a:spcPts val="700"/>
              </a:spcAft>
              <a:defRPr sz="1800" b="1">
                <a:solidFill>
                  <a:srgbClr val="0B5AA6"/>
                </a:solidFill>
                <a:latin typeface="BIZ UDPGothic"/>
              </a:defRPr>
            </a:pPr>
            <a:r>
              <a:t>06. 最適起動による削減効果の検証</a:t>
            </a:r>
          </a:p>
          <a:p>
            <a:pPr>
              <a:spcAft>
                <a:spcPts val="700"/>
              </a:spcAft>
              <a:defRPr sz="1800" b="1">
                <a:solidFill>
                  <a:srgbClr val="0B5AA6"/>
                </a:solidFill>
                <a:latin typeface="BIZ UDPGothic"/>
              </a:defRPr>
            </a:pPr>
            <a:r>
              <a:t>07. 運用支援アプリの開発と現場価値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BIZ UDPGothic"/>
              </a:defRPr>
            </a:pPr>
            <a:r>
              <a:t>08. まとめ・実習の所感と学び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BIZ UDPGothic"/>
              </a:defRPr>
            </a:pPr>
            <a:r>
              <a:t>※ 出所・注記: パナソニック オペレーショナルエクセレンス / 研究開発実習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09728"/>
            <a:ext cx="2377440" cy="329184"/>
          </a:xfrm>
          <a:prstGeom prst="round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BIZ UDPGothic"/>
              </a:defRPr>
            </a:pPr>
            <a:r>
              <a:t>研究開発実習 成果報告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BIZ UDPGothic"/>
              </a:defRPr>
            </a:pPr>
            <a:r>
              <a:t>背景と目的：省エネ（ESG・脱炭素）と快適性の両立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EBF2F8"/>
                </a:solidFill>
                <a:latin typeface="BIZ UDPGothic"/>
              </a:defRPr>
            </a:pPr>
            <a:r>
              <a:t>02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5661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6160" cy="5486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現状の課題（無人運転）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空調がビル電力の約半数を消費</a:t>
            </a:r>
          </a:p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電気代高騰と脱炭素から削減急務</a:t>
            </a:r>
          </a:p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未達クレームを恐れ早朝5:05固定</a:t>
            </a:r>
          </a:p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誰もいない早朝に過剰予冷が発生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188720"/>
            <a:ext cx="35661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188720"/>
            <a:ext cx="3566160" cy="548640"/>
          </a:xfrm>
          <a:prstGeom prst="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変革（データ推計）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82880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気温予報から予冷時間を直接予測</a:t>
            </a:r>
          </a:p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前日夕方の設定業務制約に適合</a:t>
            </a:r>
          </a:p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未達を防ぐ安全余裕（95%信頼限界）</a:t>
            </a:r>
          </a:p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休日明け蓄熱負荷を温度上乗せ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188720"/>
            <a:ext cx="35661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B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188720"/>
            <a:ext cx="3566160" cy="548640"/>
          </a:xfrm>
          <a:prstGeom prst="rect">
            <a:avLst/>
          </a:prstGeom>
          <a:solidFill>
            <a:srgbClr val="75B843"/>
          </a:solidFill>
          <a:ln>
            <a:solidFill>
              <a:srgbClr val="75B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目指す姿（意思決定支援）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82880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8:00始業時の適温到達率100%</a:t>
            </a:r>
          </a:p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過剰な無人運転を削り省エネ実現</a:t>
            </a:r>
          </a:p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勘や前任者設定の流用から脱却</a:t>
            </a:r>
          </a:p>
          <a:p>
            <a:pPr>
              <a:spcAft>
                <a:spcPts val="16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BM担当者が迷わず運用できるUI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BIZ UDPGothic"/>
              </a:defRPr>
            </a:pPr>
            <a:r>
              <a:t>※ 出所・注記: オフィスビルのエネルギー消費構造および現場BMヒアリング結果に基づく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09728"/>
            <a:ext cx="2377440" cy="329184"/>
          </a:xfrm>
          <a:prstGeom prst="round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BIZ UDPGothic"/>
              </a:defRPr>
            </a:pPr>
            <a:r>
              <a:t>研究開発実習 成果報告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BIZ UDPGothic"/>
              </a:defRPr>
            </a:pPr>
            <a:r>
              <a:t>実証対象と使用データ：第二別館7階 BEMSデータ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EBF2F8"/>
                </a:solidFill>
                <a:latin typeface="BIZ UDPGothic"/>
              </a:defRPr>
            </a:pPr>
            <a:r>
              <a:t>03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1672" cy="914400"/>
          </a:xfrm>
          <a:prstGeom prst="roundRect">
            <a:avLst/>
          </a:prstGeom>
          <a:solidFill>
            <a:srgbClr val="EBF2F8"/>
          </a:solidFill>
          <a:ln w="19050"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92B4C"/>
                </a:solidFill>
                <a:latin typeface="BIZ UDPGothic"/>
              </a:defRPr>
            </a:pPr>
            <a:r>
              <a:t>【実証対象】第二別館 7階オフィスフロア（冷房期・BEMS 1分値ログ）</a:t>
            </a:r>
          </a:p>
          <a:p>
            <a:pPr>
              <a:defRPr sz="1800">
                <a:solidFill>
                  <a:srgbClr val="141414"/>
                </a:solidFill>
                <a:latin typeface="BIZ UDPGothic"/>
              </a:defRPr>
            </a:pPr>
            <a:r>
              <a:t>2025年8月中旬〜下旬の実動データ（通常平日、土日、お盆休み明けを含む全日）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109167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2926080" cy="457200"/>
          </a:xfrm>
          <a:prstGeom prst="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① 熱源消費電力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42316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41414"/>
                </a:solidFill>
                <a:latin typeface="BIZ UDPGothic"/>
              </a:defRPr>
            </a:pPr>
            <a:r>
              <a:t>対象: 冷温水チラー（R-2-2A / 2B）電力ログ</a:t>
            </a:r>
          </a:p>
          <a:p>
            <a:pPr>
              <a:defRPr sz="1800">
                <a:solidFill>
                  <a:srgbClr val="505050"/>
                </a:solidFill>
                <a:latin typeface="BIZ UDPGothic"/>
              </a:defRPr>
            </a:pPr>
            <a:r>
              <a:t>• 立ち上がり電力から熱源起動時刻・2台追従を同定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1109167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2926080" cy="457200"/>
          </a:xfrm>
          <a:prstGeom prst="rect">
            <a:avLst/>
          </a:prstGeom>
          <a:solidFill>
            <a:srgbClr val="2474B5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② 室内温度・設定温度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9476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41414"/>
                </a:solidFill>
                <a:latin typeface="BIZ UDPGothic"/>
              </a:defRPr>
            </a:pPr>
            <a:r>
              <a:t>対象: 7階 FCU室内温度・設定温度（0.5℃刻み）</a:t>
            </a:r>
          </a:p>
          <a:p>
            <a:pPr>
              <a:defRPr sz="1800">
                <a:solidFill>
                  <a:srgbClr val="505050"/>
                </a:solidFill>
                <a:latin typeface="BIZ UDPGothic"/>
              </a:defRPr>
            </a:pPr>
            <a:r>
              <a:t>• 起動から目標設定温度までの降温時間を正確に追跡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09167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212080"/>
            <a:ext cx="2926080" cy="45720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③ 外気温度・湿度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16636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41414"/>
                </a:solidFill>
                <a:latin typeface="BIZ UDPGothic"/>
              </a:defRPr>
            </a:pPr>
            <a:r>
              <a:t>対象: 屋外空調機（AC-4機）気象計測値</a:t>
            </a:r>
          </a:p>
          <a:p>
            <a:pPr>
              <a:defRPr sz="1800">
                <a:solidFill>
                  <a:srgbClr val="505050"/>
                </a:solidFill>
                <a:latin typeface="BIZ UDPGothic"/>
              </a:defRPr>
            </a:pPr>
            <a:r>
              <a:t>• 起動時点の外気負荷および気象予報値と突き合わせ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BIZ UDPGothic"/>
              </a:defRPr>
            </a:pPr>
            <a:r>
              <a:t>※ 出所・注記: 第二別館 BEMS中央監視装置ログ（2025年8月17日〜8月30日）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09728"/>
            <a:ext cx="2377440" cy="329184"/>
          </a:xfrm>
          <a:prstGeom prst="round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BIZ UDPGothic"/>
              </a:defRPr>
            </a:pPr>
            <a:r>
              <a:t>研究開発実習 成果報告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BIZ UDPGothic"/>
              </a:defRPr>
            </a:pPr>
            <a:r>
              <a:t>現場の課題と現状運用：早朝一律起動による『過剰予冷』の実態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EBF2F8"/>
                </a:solidFill>
                <a:latin typeface="BIZ UDPGothic"/>
              </a:defRPr>
            </a:pPr>
            <a:r>
              <a:t>04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03_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577840" cy="26231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0" y="1188720"/>
            <a:ext cx="4937760" cy="5120640"/>
          </a:xfrm>
          <a:prstGeom prst="roundRect">
            <a:avLst/>
          </a:prstGeom>
          <a:solidFill>
            <a:srgbClr val="EBF2F8"/>
          </a:solidFill>
          <a:ln w="19050"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92B4C"/>
                </a:solidFill>
                <a:latin typeface="BIZ UDPGothic"/>
              </a:defRPr>
            </a:pPr>
            <a:r>
              <a:t>■ データから見えた運用の実態</a:t>
            </a:r>
          </a:p>
          <a:p>
            <a:pPr>
              <a:spcAft>
                <a:spcPts val="12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平日は一律 05:05 に熱源を固定起動。</a:t>
            </a:r>
          </a:p>
          <a:p>
            <a:pPr>
              <a:spcAft>
                <a:spcPts val="12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通常平日は 6:30〜7:00 前に設定温度へ到達。</a:t>
            </a:r>
          </a:p>
          <a:p>
            <a:pPr>
              <a:spcAft>
                <a:spcPts val="12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始業8:00までの約1時間、無人オフィスを冷やし続ける『過剰予冷』が発生。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97680"/>
            <a:ext cx="45720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800" b="1">
                <a:solidFill>
                  <a:srgbClr val="C00000"/>
                </a:solidFill>
                <a:latin typeface="BIZ UDPGothic"/>
              </a:defRPr>
            </a:pPr>
            <a:r>
              <a:t>【核心の課題】</a:t>
            </a:r>
          </a:p>
          <a:p>
            <a:pPr>
              <a:defRPr sz="1800" b="1">
                <a:solidFill>
                  <a:srgbClr val="141414"/>
                </a:solidFill>
                <a:latin typeface="BIZ UDPGothic"/>
              </a:defRPr>
            </a:pPr>
            <a:r>
              <a:t>「起動を遅らせる余地はあるが、</a:t>
            </a:r>
            <a:br/>
            <a:r>
              <a:t>どこまで遅らせてよいか判断根拠がない」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BIZ UDPGothic"/>
              </a:defRPr>
            </a:pPr>
            <a:r>
              <a:t>※ 出所・注記: 第二別館7階実機ログに基づく室温降温プロファイル分析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09728"/>
            <a:ext cx="2377440" cy="329184"/>
          </a:xfrm>
          <a:prstGeom prst="round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BIZ UDPGothic"/>
              </a:defRPr>
            </a:pPr>
            <a:r>
              <a:t>研究開発実習 成果報告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BIZ UDPGothic"/>
              </a:defRPr>
            </a:pPr>
            <a:r>
              <a:t>システム設計における2つの現場制約とアプローチ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EBF2F8"/>
                </a:solidFill>
                <a:latin typeface="BIZ UDPGothic"/>
              </a:defRPr>
            </a:pPr>
            <a:r>
              <a:t>05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B5AA6"/>
                </a:solidFill>
                <a:latin typeface="BIZ UDPGothic"/>
              </a:defRPr>
            </a:pPr>
            <a:r>
              <a:t>制約①: 決定のタイミング（前日夕方）</a:t>
            </a:r>
          </a:p>
          <a:p>
            <a:pPr>
              <a:spcAft>
                <a:spcPts val="4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翌朝の室温は前日夕方には分からない。</a:t>
            </a:r>
          </a:p>
          <a:p>
            <a:pPr>
              <a:spcAft>
                <a:spcPts val="4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【解決策】気温予報から直接予冷時間を推計。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5486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00000"/>
                </a:solidFill>
                <a:latin typeface="BIZ UDPGothic"/>
              </a:defRPr>
            </a:pPr>
            <a:r>
              <a:t>制約②: 未達クレームの絶対回避</a:t>
            </a:r>
          </a:p>
          <a:p>
            <a:pPr>
              <a:spcAft>
                <a:spcPts val="4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始業時未達は許されず、多少の早めは許容。</a:t>
            </a:r>
          </a:p>
          <a:p>
            <a:pPr>
              <a:spcAft>
                <a:spcPts val="4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【解決策】残差95%信頼限界＋予報誤差を安全マージンとして加算。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20440"/>
            <a:ext cx="5303520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04_precool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11880"/>
            <a:ext cx="4937760" cy="232096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26480" y="3520440"/>
            <a:ext cx="5486400" cy="2880360"/>
          </a:xfrm>
          <a:prstGeom prst="roundRect">
            <a:avLst/>
          </a:prstGeom>
          <a:solidFill>
            <a:srgbClr val="EBF2F8"/>
          </a:solidFill>
          <a:ln w="19050"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61188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92B4C"/>
                </a:solidFill>
                <a:latin typeface="BIZ UDPGothic"/>
              </a:defRPr>
            </a:pPr>
            <a:r>
              <a:t>■ 予冷時間の4要素 ＆ 起動式</a:t>
            </a:r>
          </a:p>
          <a:p>
            <a:pPr>
              <a:spcAft>
                <a:spcPts val="2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① 基本推計: 予報気温と設定温度差から算出</a:t>
            </a:r>
          </a:p>
          <a:p>
            <a:pPr>
              <a:spcAft>
                <a:spcPts val="2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② 安全余裕: 残差の上側95%分位（未達防止）</a:t>
            </a:r>
          </a:p>
          <a:p>
            <a:pPr>
              <a:spcAft>
                <a:spcPts val="2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③ 予報外れ: 気象庁予報誤差（1.7℃）を上乗せ</a:t>
            </a:r>
          </a:p>
          <a:p>
            <a:pPr>
              <a:spcAft>
                <a:spcPts val="2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④ 休日上乗せ: 週末蓄熱負荷（+2.0℃ 換算）</a:t>
            </a:r>
          </a:p>
          <a:p>
            <a:pPr>
              <a:defRPr sz="1800" b="1">
                <a:solidFill>
                  <a:srgbClr val="0B5AA6"/>
                </a:solidFill>
                <a:latin typeface="BIZ UDPGothic"/>
              </a:defRPr>
            </a:pPr>
            <a:r>
              <a:t>起動時刻 ＝ 08:00 − 予冷時間（①＋②＋③＋④）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BIZ UDPGothic"/>
              </a:defRPr>
            </a:pPr>
            <a:r>
              <a:t>※ 出所・注記: BM業務制約（前日夕方決定）およびクレームリスク回避の設計思想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09728"/>
            <a:ext cx="2377440" cy="329184"/>
          </a:xfrm>
          <a:prstGeom prst="round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BIZ UDPGothic"/>
              </a:defRPr>
            </a:pPr>
            <a:r>
              <a:t>研究開発実習 成果報告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BIZ UDPGothic"/>
              </a:defRPr>
            </a:pPr>
            <a:r>
              <a:t>予冷時間推計モデルの構築と技術的工夫（休日蓄熱）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EBF2F8"/>
                </a:solidFill>
                <a:latin typeface="BIZ UDPGothic"/>
              </a:defRPr>
            </a:pPr>
            <a:r>
              <a:t>06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05_mode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40586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188720"/>
            <a:ext cx="5394960" cy="5120640"/>
          </a:xfrm>
          <a:prstGeom prst="roundRect">
            <a:avLst/>
          </a:prstGeom>
          <a:solidFill>
            <a:srgbClr val="EBF2F8"/>
          </a:solidFill>
          <a:ln w="19050"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92B4C"/>
                </a:solidFill>
                <a:latin typeface="BIZ UDPGothic"/>
              </a:defRPr>
            </a:pPr>
            <a:r>
              <a:t>■ 技術的工夫: 休日蓄熱への対処</a:t>
            </a:r>
          </a:p>
          <a:p>
            <a:pPr>
              <a:spcAft>
                <a:spcPts val="14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【躯体蓄熱の課題】 週末停止で躯体に熱がこもり月曜朝の予冷が長期化。</a:t>
            </a:r>
          </a:p>
          <a:p>
            <a:pPr>
              <a:spcAft>
                <a:spcPts val="14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【分離学習の徹底】 平日データのみで学習し通常時の過大見積もりを防止。</a:t>
            </a:r>
          </a:p>
          <a:p>
            <a:pPr>
              <a:spcAft>
                <a:spcPts val="14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【温度上乗せ処理】 休日明けは予報気温に+2.0℃上乗せして同一モデルへ。</a:t>
            </a:r>
          </a:p>
          <a:p>
            <a:pPr>
              <a:spcAft>
                <a:spcPts val="14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【汎化性能評価】 1件抜き交差検証（LOO-MAE）で過学習を防止。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BIZ UDPGothic"/>
              </a:defRPr>
            </a:pPr>
            <a:r>
              <a:t>※ 出所・注記: モデル学習評価（LOO-MAE交差検証）および蓄熱補正ロジック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09728"/>
            <a:ext cx="2377440" cy="329184"/>
          </a:xfrm>
          <a:prstGeom prst="round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BIZ UDPGothic"/>
              </a:defRPr>
            </a:pPr>
            <a:r>
              <a:t>研究開発実習 成果報告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BIZ UDPGothic"/>
              </a:defRPr>
            </a:pPr>
            <a:r>
              <a:t>最適起動シミュレーションによる削減効果の検証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EBF2F8"/>
                </a:solidFill>
                <a:latin typeface="BIZ UDPGothic"/>
              </a:defRPr>
            </a:pPr>
            <a:r>
              <a:t>07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2179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slide6_bar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27585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49440" y="1188720"/>
            <a:ext cx="46634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B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280160"/>
            <a:ext cx="4297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41414"/>
                </a:solidFill>
                <a:latin typeface="BIZ UDPGothic"/>
              </a:defRPr>
            </a:pPr>
            <a:r>
              <a:t>8:00 目標温度到達率</a:t>
            </a:r>
          </a:p>
          <a:p>
            <a:pPr>
              <a:spcAft>
                <a:spcPts val="200"/>
              </a:spcAft>
              <a:defRPr sz="2600" b="1">
                <a:solidFill>
                  <a:srgbClr val="75B843"/>
                </a:solidFill>
                <a:latin typeface="BIZ UDPGothic"/>
              </a:defRPr>
            </a:pPr>
            <a:r>
              <a:t>100 %</a:t>
            </a:r>
          </a:p>
          <a:p>
            <a:pPr>
              <a:defRPr sz="1400">
                <a:solidFill>
                  <a:srgbClr val="505050"/>
                </a:solidFill>
                <a:latin typeface="BIZ UDPGothic"/>
              </a:defRPr>
            </a:pPr>
            <a:r>
              <a:t>全平日（実動9日）で未達0件。クレームゼロ達成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926080"/>
            <a:ext cx="46634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017520"/>
            <a:ext cx="4297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41414"/>
                </a:solidFill>
                <a:latin typeface="BIZ UDPGothic"/>
              </a:defRPr>
            </a:pPr>
            <a:r>
              <a:t>始業前消費電力量 削減率</a:t>
            </a:r>
          </a:p>
          <a:p>
            <a:pPr>
              <a:spcAft>
                <a:spcPts val="200"/>
              </a:spcAft>
              <a:defRPr sz="2600" b="1">
                <a:solidFill>
                  <a:srgbClr val="0B5AA6"/>
                </a:solidFill>
                <a:latin typeface="BIZ UDPGothic"/>
              </a:defRPr>
            </a:pPr>
            <a:r>
              <a:t>約 【TBD】 %</a:t>
            </a:r>
          </a:p>
          <a:p>
            <a:pPr>
              <a:defRPr sz="1400">
                <a:solidFill>
                  <a:srgbClr val="505050"/>
                </a:solidFill>
                <a:latin typeface="BIZ UDPGothic"/>
              </a:defRPr>
            </a:pPr>
            <a:r>
              <a:t>起動を最大1時間以上遅延させ無駄を抑制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663440"/>
            <a:ext cx="46634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4754880"/>
            <a:ext cx="4297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41414"/>
                </a:solidFill>
                <a:latin typeface="BIZ UDPGothic"/>
              </a:defRPr>
            </a:pPr>
            <a:r>
              <a:t>電気代削減見込み（月換算）</a:t>
            </a:r>
          </a:p>
          <a:p>
            <a:pPr>
              <a:spcAft>
                <a:spcPts val="200"/>
              </a:spcAft>
              <a:defRPr sz="2600" b="1">
                <a:solidFill>
                  <a:srgbClr val="2474B5"/>
                </a:solidFill>
                <a:latin typeface="BIZ UDPGothic"/>
              </a:defRPr>
            </a:pPr>
            <a:r>
              <a:t>約 【TBD】 円</a:t>
            </a:r>
          </a:p>
          <a:p>
            <a:pPr>
              <a:defRPr sz="1400">
                <a:solidFill>
                  <a:srgbClr val="505050"/>
                </a:solidFill>
                <a:latin typeface="BIZ UDPGothic"/>
              </a:defRPr>
            </a:pPr>
            <a:r>
              <a:t>オフィス1フロアあたり。全館でさらなる効果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BIZ UDPGothic"/>
              </a:defRPr>
            </a:pPr>
            <a:r>
              <a:t>※ 出所・注記: 平日実働9日間のデータによる最適起動バックテスト検証結果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09728"/>
            <a:ext cx="2377440" cy="329184"/>
          </a:xfrm>
          <a:prstGeom prst="round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BIZ UDPGothic"/>
              </a:defRPr>
            </a:pPr>
            <a:r>
              <a:t>研究開発実習 成果報告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BIZ UDPGothic"/>
              </a:defRPr>
            </a:pPr>
            <a:r>
              <a:t>運用支援アプリ：BM担当者の意思決定を1画面で完結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EBF2F8"/>
                </a:solidFill>
                <a:latin typeface="BIZ UDPGothic"/>
              </a:defRPr>
            </a:pPr>
            <a:r>
              <a:t>08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92B4C"/>
                </a:solidFill>
                <a:latin typeface="BIZ UDPGothic"/>
              </a:defRPr>
            </a:pPr>
            <a:r>
              <a:t>■ 開発したアプリの機能構成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【① 運用日選択】 気象API連携で翌朝気温を自動取得・休日自動判定。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【② 推奨起動時刻】 『推奨: 06:40』『到達予想: 07:59』を一目で提示。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【③ 根拠内訳】 モデル値＋安全余裕＋休日上乗せの内訳を表示。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【④ 降温波形描画】 室温低下と削減電力をリアルタイム描画。</a:t>
            </a:r>
          </a:p>
        </p:txBody>
      </p:sp>
      <p:pic>
        <p:nvPicPr>
          <p:cNvPr id="9" name="Picture 8" descr="slide09_timelin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89120"/>
            <a:ext cx="5120640" cy="12937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188720"/>
            <a:ext cx="5394960" cy="5120640"/>
          </a:xfrm>
          <a:prstGeom prst="roundRect">
            <a:avLst/>
          </a:prstGeom>
          <a:solidFill>
            <a:srgbClr val="EBF2F8"/>
          </a:solidFill>
          <a:ln w="19050"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92B4C"/>
                </a:solidFill>
                <a:latin typeface="BIZ UDPGothic"/>
              </a:defRPr>
            </a:pPr>
            <a:r>
              <a:t>■ 現場導入による提供価値</a:t>
            </a:r>
          </a:p>
          <a:p>
            <a:pPr>
              <a:spcAft>
                <a:spcPts val="18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【属人化の解消】前任者設定の流用からデータ根拠へ移行。</a:t>
            </a:r>
          </a:p>
          <a:p>
            <a:pPr>
              <a:spcAft>
                <a:spcPts val="18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【心理的安全確保】安全マージン明示でクレーム不安を解消。</a:t>
            </a:r>
          </a:p>
          <a:p>
            <a:pPr>
              <a:spcAft>
                <a:spcPts val="18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【簡単操作】1画面完結で毎夕の設定を迷わず完了。</a:t>
            </a:r>
          </a:p>
          <a:p>
            <a:pPr>
              <a:spcAft>
                <a:spcPts val="18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【今後の展開】他フロア・他拠点やBEMS直接連動へ発展可能。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BIZ UDPGothic"/>
              </a:defRPr>
            </a:pPr>
            <a:r>
              <a:t>※ 出所・注記: Streamlit製 BM意思決定支援アプリケーション（app.py）の実装仕様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09728"/>
            <a:ext cx="2377440" cy="329184"/>
          </a:xfrm>
          <a:prstGeom prst="round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BIZ UDPGothic"/>
              </a:defRPr>
            </a:pPr>
            <a:r>
              <a:t>付録 /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BIZ UDPGothic"/>
              </a:defRPr>
            </a:pPr>
            <a:r>
              <a:t>【付録】実習の所感・苦労と工夫・個人目標の振り返り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EBF2F8"/>
                </a:solidFill>
                <a:latin typeface="BIZ UDPGothic"/>
              </a:defRPr>
            </a:pPr>
            <a: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5661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6160" cy="548640"/>
          </a:xfrm>
          <a:prstGeom prst="rect">
            <a:avLst/>
          </a:prstGeom>
          <a:solidFill>
            <a:srgbClr val="092B4C"/>
          </a:solidFill>
          <a:ln>
            <a:solidFill>
              <a:srgbClr val="09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実習の所感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実建物のBEMSデータと設備制御という社会課題解決の難しさと面白さを実感。</a:t>
            </a:r>
          </a:p>
          <a:p>
            <a:pPr>
              <a:spcAft>
                <a:spcPts val="2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『前日夕方に人が決める』『未達厳禁』という現場制約に適合した設計を学んだ。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188720"/>
            <a:ext cx="35661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188720"/>
            <a:ext cx="3566160" cy="548640"/>
          </a:xfrm>
          <a:prstGeom prst="rect">
            <a:avLst/>
          </a:prstGeom>
          <a:solidFill>
            <a:srgbClr val="0B5AA6"/>
          </a:solidFill>
          <a:ln>
            <a:solidFill>
              <a:srgbClr val="0B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苦労と技術的工夫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9202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【苦労】センサーの粗さ（0.5℃刻み）やノイズ、休日明けの蓄熱負荷への対応。</a:t>
            </a:r>
          </a:p>
          <a:p>
            <a:pPr>
              <a:spcAft>
                <a:spcPts val="2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【工夫】蓄熱影響を通常日と分離し温度オフセット（+2.0℃）で統一処理。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188720"/>
            <a:ext cx="35661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B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188720"/>
            <a:ext cx="3566160" cy="548640"/>
          </a:xfrm>
          <a:prstGeom prst="rect">
            <a:avLst/>
          </a:prstGeom>
          <a:solidFill>
            <a:srgbClr val="75B843"/>
          </a:solidFill>
          <a:ln>
            <a:solidFill>
              <a:srgbClr val="75B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BIZ UDPGothic"/>
              </a:defRPr>
            </a:pPr>
            <a:r>
              <a:t>個人目標の学び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9202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【初日目標】データ分析からシステム実装・現場UIまで一気通貫でやり切る。</a:t>
            </a:r>
          </a:p>
          <a:p>
            <a:pPr>
              <a:spcAft>
                <a:spcPts val="2000"/>
              </a:spcAft>
              <a:defRPr sz="1800">
                <a:solidFill>
                  <a:srgbClr val="141414"/>
                </a:solidFill>
                <a:latin typeface="BIZ UDPGothic"/>
              </a:defRPr>
            </a:pPr>
            <a:r>
              <a:t>• 【達成状況】現状分析 → 推計モデル → 効果検証 → アプリ開発まで完遂。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BIZ UDPGothic"/>
              </a:defRPr>
            </a:pPr>
            <a:r>
              <a:t>※ 出所・注記: 研究開発実習 総合振り返り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